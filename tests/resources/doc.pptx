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8" r:id="rId4"/>
  </p:sldMasterIdLst>
  <p:notesMasterIdLst>
    <p:notesMasterId r:id="rId61"/>
  </p:notesMasterIdLst>
  <p:sldIdLst>
    <p:sldId id="267" r:id="rId5"/>
    <p:sldId id="269" r:id="rId6"/>
    <p:sldId id="268" r:id="rId7"/>
    <p:sldId id="378" r:id="rId8"/>
    <p:sldId id="273" r:id="rId9"/>
    <p:sldId id="261" r:id="rId10"/>
    <p:sldId id="257" r:id="rId11"/>
    <p:sldId id="258" r:id="rId12"/>
    <p:sldId id="262" r:id="rId13"/>
    <p:sldId id="272" r:id="rId14"/>
    <p:sldId id="263" r:id="rId15"/>
    <p:sldId id="264" r:id="rId16"/>
    <p:sldId id="265" r:id="rId17"/>
    <p:sldId id="266" r:id="rId18"/>
    <p:sldId id="274" r:id="rId19"/>
    <p:sldId id="275" r:id="rId20"/>
    <p:sldId id="276" r:id="rId21"/>
    <p:sldId id="279" r:id="rId22"/>
    <p:sldId id="280" r:id="rId23"/>
    <p:sldId id="287" r:id="rId24"/>
    <p:sldId id="281" r:id="rId25"/>
    <p:sldId id="282" r:id="rId26"/>
    <p:sldId id="283" r:id="rId27"/>
    <p:sldId id="284" r:id="rId28"/>
    <p:sldId id="285" r:id="rId29"/>
    <p:sldId id="295" r:id="rId30"/>
    <p:sldId id="296" r:id="rId31"/>
    <p:sldId id="297" r:id="rId32"/>
    <p:sldId id="305" r:id="rId33"/>
    <p:sldId id="316" r:id="rId34"/>
    <p:sldId id="315" r:id="rId35"/>
    <p:sldId id="318" r:id="rId36"/>
    <p:sldId id="322" r:id="rId37"/>
    <p:sldId id="323" r:id="rId38"/>
    <p:sldId id="325" r:id="rId39"/>
    <p:sldId id="350" r:id="rId40"/>
    <p:sldId id="326" r:id="rId41"/>
    <p:sldId id="327" r:id="rId42"/>
    <p:sldId id="328" r:id="rId43"/>
    <p:sldId id="379" r:id="rId44"/>
    <p:sldId id="329" r:id="rId45"/>
    <p:sldId id="330" r:id="rId46"/>
    <p:sldId id="331" r:id="rId47"/>
    <p:sldId id="332" r:id="rId48"/>
    <p:sldId id="333" r:id="rId49"/>
    <p:sldId id="334" r:id="rId50"/>
    <p:sldId id="351" r:id="rId51"/>
    <p:sldId id="353" r:id="rId52"/>
    <p:sldId id="354" r:id="rId53"/>
    <p:sldId id="355" r:id="rId54"/>
    <p:sldId id="356" r:id="rId55"/>
    <p:sldId id="375" r:id="rId56"/>
    <p:sldId id="376" r:id="rId57"/>
    <p:sldId id="377" r:id="rId58"/>
    <p:sldId id="343" r:id="rId59"/>
    <p:sldId id="34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72" d="100"/>
          <a:sy n="72" d="100"/>
        </p:scale>
        <p:origin x="6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35.wmf"/><Relationship Id="rId4" Type="http://schemas.openxmlformats.org/officeDocument/2006/relationships/image" Target="../media/image3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4" Type="http://schemas.openxmlformats.org/officeDocument/2006/relationships/image" Target="../media/image6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0"/>
          <p:cNvSpPr>
            <a:spLocks noGrp="1" noChangeArrowheads="1"/>
          </p:cNvSpPr>
          <p:nvPr>
            <p:ph type="sldNum"/>
          </p:nvPr>
        </p:nvSpPr>
        <p:spPr/>
        <p:txBody>
          <a:bodyPr/>
          <a:lstStyle/>
          <a:p>
            <a:fld id="{115B0004-EB73-4F4D-847E-91420B12EEB4}" type="slidenum">
              <a:rPr lang="en-US" altLang="en-US"/>
              <a:t>20</a:t>
            </a:fld>
            <a:endParaRPr lang="en-US" altLang="en-US"/>
          </a:p>
        </p:txBody>
      </p:sp>
      <p:sp>
        <p:nvSpPr>
          <p:cNvPr id="15769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7698" name="Rectangle 2"/>
          <p:cNvSpPr txBox="1">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6" name="PlaceHolder 2"/>
          <p:cNvSpPr>
            <a:spLocks noGrp="1"/>
          </p:cNvSpPr>
          <p:nvPr>
            <p:ph type="subTitle"/>
          </p:nvPr>
        </p:nvSpPr>
        <p:spPr>
          <a:xfrm>
            <a:off x="609600" y="1604520"/>
            <a:ext cx="10972320" cy="3977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8" name="PlaceHolder 2"/>
          <p:cNvSpPr>
            <a:spLocks noGrp="1"/>
          </p:cNvSpPr>
          <p:nvPr>
            <p:ph type="body"/>
          </p:nvPr>
        </p:nvSpPr>
        <p:spPr>
          <a:xfrm>
            <a:off x="609600" y="1604520"/>
            <a:ext cx="10972320" cy="397728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10"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
        <p:nvSpPr>
          <p:cNvPr id="11"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600" y="273600"/>
            <a:ext cx="10972320" cy="530784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15"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16"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
        <p:nvSpPr>
          <p:cNvPr id="17"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19"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
        <p:nvSpPr>
          <p:cNvPr id="20"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21" name="PlaceHolder 4"/>
          <p:cNvSpPr>
            <a:spLocks noGrp="1"/>
          </p:cNvSpPr>
          <p:nvPr>
            <p:ph type="body"/>
          </p:nvPr>
        </p:nvSpPr>
        <p:spPr>
          <a:xfrm>
            <a:off x="623232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23"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24"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25" name="PlaceHolder 4"/>
          <p:cNvSpPr>
            <a:spLocks noGrp="1"/>
          </p:cNvSpPr>
          <p:nvPr>
            <p:ph type="body"/>
          </p:nvPr>
        </p:nvSpPr>
        <p:spPr>
          <a:xfrm>
            <a:off x="609600" y="3682080"/>
            <a:ext cx="1097232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27" name="PlaceHolder 2"/>
          <p:cNvSpPr>
            <a:spLocks noGrp="1"/>
          </p:cNvSpPr>
          <p:nvPr>
            <p:ph type="body"/>
          </p:nvPr>
        </p:nvSpPr>
        <p:spPr>
          <a:xfrm>
            <a:off x="609600" y="1604520"/>
            <a:ext cx="1097232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28" name="PlaceHolder 3"/>
          <p:cNvSpPr>
            <a:spLocks noGrp="1"/>
          </p:cNvSpPr>
          <p:nvPr>
            <p:ph type="body"/>
          </p:nvPr>
        </p:nvSpPr>
        <p:spPr>
          <a:xfrm>
            <a:off x="609600" y="3682080"/>
            <a:ext cx="1097232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30"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31"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32"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33" name="PlaceHolder 5"/>
          <p:cNvSpPr>
            <a:spLocks noGrp="1"/>
          </p:cNvSpPr>
          <p:nvPr>
            <p:ph type="body"/>
          </p:nvPr>
        </p:nvSpPr>
        <p:spPr>
          <a:xfrm>
            <a:off x="623232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35" name="PlaceHolder 2"/>
          <p:cNvSpPr>
            <a:spLocks noGrp="1"/>
          </p:cNvSpPr>
          <p:nvPr>
            <p:ph type="body"/>
          </p:nvPr>
        </p:nvSpPr>
        <p:spPr>
          <a:xfrm>
            <a:off x="609600" y="160452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36" name="PlaceHolder 3"/>
          <p:cNvSpPr>
            <a:spLocks noGrp="1"/>
          </p:cNvSpPr>
          <p:nvPr>
            <p:ph type="body"/>
          </p:nvPr>
        </p:nvSpPr>
        <p:spPr>
          <a:xfrm>
            <a:off x="4319520" y="160452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37" name="PlaceHolder 4"/>
          <p:cNvSpPr>
            <a:spLocks noGrp="1"/>
          </p:cNvSpPr>
          <p:nvPr>
            <p:ph type="body"/>
          </p:nvPr>
        </p:nvSpPr>
        <p:spPr>
          <a:xfrm>
            <a:off x="8029440" y="160452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38" name="PlaceHolder 5"/>
          <p:cNvSpPr>
            <a:spLocks noGrp="1"/>
          </p:cNvSpPr>
          <p:nvPr>
            <p:ph type="body"/>
          </p:nvPr>
        </p:nvSpPr>
        <p:spPr>
          <a:xfrm>
            <a:off x="609600" y="368208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39" name="PlaceHolder 6"/>
          <p:cNvSpPr>
            <a:spLocks noGrp="1"/>
          </p:cNvSpPr>
          <p:nvPr>
            <p:ph type="body"/>
          </p:nvPr>
        </p:nvSpPr>
        <p:spPr>
          <a:xfrm>
            <a:off x="4319520" y="368208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40" name="PlaceHolder 7"/>
          <p:cNvSpPr>
            <a:spLocks noGrp="1"/>
          </p:cNvSpPr>
          <p:nvPr>
            <p:ph type="body"/>
          </p:nvPr>
        </p:nvSpPr>
        <p:spPr>
          <a:xfrm>
            <a:off x="8029440" y="3682080"/>
            <a:ext cx="35328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48" name="PlaceHolder 2"/>
          <p:cNvSpPr>
            <a:spLocks noGrp="1"/>
          </p:cNvSpPr>
          <p:nvPr>
            <p:ph type="subTitle"/>
          </p:nvPr>
        </p:nvSpPr>
        <p:spPr>
          <a:xfrm>
            <a:off x="609600" y="1604520"/>
            <a:ext cx="10972320" cy="3977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50" name="PlaceHolder 2"/>
          <p:cNvSpPr>
            <a:spLocks noGrp="1"/>
          </p:cNvSpPr>
          <p:nvPr>
            <p:ph type="body"/>
          </p:nvPr>
        </p:nvSpPr>
        <p:spPr>
          <a:xfrm>
            <a:off x="609600" y="1604520"/>
            <a:ext cx="10972320" cy="397728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52"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
        <p:nvSpPr>
          <p:cNvPr id="53"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600" y="273600"/>
            <a:ext cx="10972320" cy="530784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57"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58" name="PlaceHolder 3"/>
          <p:cNvSpPr>
            <a:spLocks noGrp="1"/>
          </p:cNvSpPr>
          <p:nvPr>
            <p:ph type="body"/>
          </p:nvPr>
        </p:nvSpPr>
        <p:spPr>
          <a:xfrm>
            <a:off x="623232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
        <p:nvSpPr>
          <p:cNvPr id="59"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61" name="PlaceHolder 2"/>
          <p:cNvSpPr>
            <a:spLocks noGrp="1"/>
          </p:cNvSpPr>
          <p:nvPr>
            <p:ph type="body"/>
          </p:nvPr>
        </p:nvSpPr>
        <p:spPr>
          <a:xfrm>
            <a:off x="609600" y="1604520"/>
            <a:ext cx="5354400" cy="3977280"/>
          </a:xfrm>
          <a:prstGeom prst="rect">
            <a:avLst/>
          </a:prstGeom>
        </p:spPr>
        <p:txBody>
          <a:bodyPr lIns="0" tIns="0" rIns="0" bIns="0">
            <a:normAutofit/>
          </a:bodyPr>
          <a:lstStyle/>
          <a:p>
            <a:endParaRPr lang="en-GB" sz="3200" b="0" strike="noStrike" spc="-1">
              <a:latin typeface="Arial" panose="020B0604020202020204"/>
            </a:endParaRPr>
          </a:p>
        </p:txBody>
      </p:sp>
      <p:sp>
        <p:nvSpPr>
          <p:cNvPr id="62"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63" name="PlaceHolder 4"/>
          <p:cNvSpPr>
            <a:spLocks noGrp="1"/>
          </p:cNvSpPr>
          <p:nvPr>
            <p:ph type="body"/>
          </p:nvPr>
        </p:nvSpPr>
        <p:spPr>
          <a:xfrm>
            <a:off x="623232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65"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66"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67" name="PlaceHolder 4"/>
          <p:cNvSpPr>
            <a:spLocks noGrp="1"/>
          </p:cNvSpPr>
          <p:nvPr>
            <p:ph type="body"/>
          </p:nvPr>
        </p:nvSpPr>
        <p:spPr>
          <a:xfrm>
            <a:off x="609600" y="3682080"/>
            <a:ext cx="1097232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69" name="PlaceHolder 2"/>
          <p:cNvSpPr>
            <a:spLocks noGrp="1"/>
          </p:cNvSpPr>
          <p:nvPr>
            <p:ph type="body"/>
          </p:nvPr>
        </p:nvSpPr>
        <p:spPr>
          <a:xfrm>
            <a:off x="609600" y="1604520"/>
            <a:ext cx="1097232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70" name="PlaceHolder 3"/>
          <p:cNvSpPr>
            <a:spLocks noGrp="1"/>
          </p:cNvSpPr>
          <p:nvPr>
            <p:ph type="body"/>
          </p:nvPr>
        </p:nvSpPr>
        <p:spPr>
          <a:xfrm>
            <a:off x="609600" y="3682080"/>
            <a:ext cx="1097232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72" name="PlaceHolder 2"/>
          <p:cNvSpPr>
            <a:spLocks noGrp="1"/>
          </p:cNvSpPr>
          <p:nvPr>
            <p:ph type="body"/>
          </p:nvPr>
        </p:nvSpPr>
        <p:spPr>
          <a:xfrm>
            <a:off x="60960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73" name="PlaceHolder 3"/>
          <p:cNvSpPr>
            <a:spLocks noGrp="1"/>
          </p:cNvSpPr>
          <p:nvPr>
            <p:ph type="body"/>
          </p:nvPr>
        </p:nvSpPr>
        <p:spPr>
          <a:xfrm>
            <a:off x="6232320" y="160452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74" name="PlaceHolder 4"/>
          <p:cNvSpPr>
            <a:spLocks noGrp="1"/>
          </p:cNvSpPr>
          <p:nvPr>
            <p:ph type="body"/>
          </p:nvPr>
        </p:nvSpPr>
        <p:spPr>
          <a:xfrm>
            <a:off x="60960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75" name="PlaceHolder 5"/>
          <p:cNvSpPr>
            <a:spLocks noGrp="1"/>
          </p:cNvSpPr>
          <p:nvPr>
            <p:ph type="body"/>
          </p:nvPr>
        </p:nvSpPr>
        <p:spPr>
          <a:xfrm>
            <a:off x="6232320" y="3682080"/>
            <a:ext cx="53544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600" y="273600"/>
            <a:ext cx="10972320" cy="1144800"/>
          </a:xfrm>
          <a:prstGeom prst="rect">
            <a:avLst/>
          </a:prstGeom>
        </p:spPr>
        <p:txBody>
          <a:bodyPr lIns="0" tIns="0" rIns="0" bIns="0" anchor="ctr">
            <a:noAutofit/>
          </a:bodyPr>
          <a:lstStyle/>
          <a:p>
            <a:pPr algn="ctr"/>
            <a:endParaRPr lang="en-GB" sz="4400" b="0" strike="noStrike" spc="-1">
              <a:latin typeface="Arial" panose="020B0604020202020204"/>
            </a:endParaRPr>
          </a:p>
        </p:txBody>
      </p:sp>
      <p:sp>
        <p:nvSpPr>
          <p:cNvPr id="77" name="PlaceHolder 2"/>
          <p:cNvSpPr>
            <a:spLocks noGrp="1"/>
          </p:cNvSpPr>
          <p:nvPr>
            <p:ph type="body"/>
          </p:nvPr>
        </p:nvSpPr>
        <p:spPr>
          <a:xfrm>
            <a:off x="609600" y="160452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78" name="PlaceHolder 3"/>
          <p:cNvSpPr>
            <a:spLocks noGrp="1"/>
          </p:cNvSpPr>
          <p:nvPr>
            <p:ph type="body"/>
          </p:nvPr>
        </p:nvSpPr>
        <p:spPr>
          <a:xfrm>
            <a:off x="4319520" y="160452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79" name="PlaceHolder 4"/>
          <p:cNvSpPr>
            <a:spLocks noGrp="1"/>
          </p:cNvSpPr>
          <p:nvPr>
            <p:ph type="body"/>
          </p:nvPr>
        </p:nvSpPr>
        <p:spPr>
          <a:xfrm>
            <a:off x="8029440" y="160452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80" name="PlaceHolder 5"/>
          <p:cNvSpPr>
            <a:spLocks noGrp="1"/>
          </p:cNvSpPr>
          <p:nvPr>
            <p:ph type="body"/>
          </p:nvPr>
        </p:nvSpPr>
        <p:spPr>
          <a:xfrm>
            <a:off x="609600" y="368208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81" name="PlaceHolder 6"/>
          <p:cNvSpPr>
            <a:spLocks noGrp="1"/>
          </p:cNvSpPr>
          <p:nvPr>
            <p:ph type="body"/>
          </p:nvPr>
        </p:nvSpPr>
        <p:spPr>
          <a:xfrm>
            <a:off x="4319520" y="3682080"/>
            <a:ext cx="3532800" cy="1896840"/>
          </a:xfrm>
          <a:prstGeom prst="rect">
            <a:avLst/>
          </a:prstGeom>
        </p:spPr>
        <p:txBody>
          <a:bodyPr lIns="0" tIns="0" rIns="0" bIns="0">
            <a:normAutofit/>
          </a:bodyPr>
          <a:lstStyle/>
          <a:p>
            <a:endParaRPr lang="en-GB" sz="3200" b="0" strike="noStrike" spc="-1">
              <a:latin typeface="Arial" panose="020B0604020202020204"/>
            </a:endParaRPr>
          </a:p>
        </p:txBody>
      </p:sp>
      <p:sp>
        <p:nvSpPr>
          <p:cNvPr id="82" name="PlaceHolder 7"/>
          <p:cNvSpPr>
            <a:spLocks noGrp="1"/>
          </p:cNvSpPr>
          <p:nvPr>
            <p:ph type="body"/>
          </p:nvPr>
        </p:nvSpPr>
        <p:spPr>
          <a:xfrm>
            <a:off x="8029440" y="3682080"/>
            <a:ext cx="3532800" cy="1896840"/>
          </a:xfrm>
          <a:prstGeom prst="rect">
            <a:avLst/>
          </a:prstGeom>
        </p:spPr>
        <p:txBody>
          <a:bodyPr lIns="0" tIns="0" rIns="0" bIns="0">
            <a:normAutofit/>
          </a:bodyPr>
          <a:lstStyle/>
          <a:p>
            <a:endParaRPr lang="en-GB" sz="3200" b="0" strike="noStrike" spc="-1">
              <a:latin typeface="Arial" panose="020B0604020202020204"/>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B9D68A-A430-443C-9A28-5E9DB7A11F82}"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B9D68A-A430-443C-9A28-5E9DB7A11F82}"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B9D68A-A430-443C-9A28-5E9DB7A11F82}"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B9D68A-A430-443C-9A28-5E9DB7A11F82}"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B9D68A-A430-443C-9A28-5E9DB7A11F82}"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B9D68A-A430-443C-9A28-5E9DB7A11F82}" type="datetimeFigureOut">
              <a:rPr lang="en-US" smtClean="0"/>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9D68A-A430-443C-9A28-5E9DB7A11F82}" type="datetimeFigureOut">
              <a:rPr lang="en-US" smtClean="0"/>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B9D68A-A430-443C-9A28-5E9DB7A11F82}"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B9D68A-A430-443C-9A28-5E9DB7A11F82}"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B9D68A-A430-443C-9A28-5E9DB7A11F82}"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B9D68A-A430-443C-9A28-5E9DB7A11F82}"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A89BC-FB93-455E-A042-CE96B61A857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3.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p:cNvSpPr/>
          <p:nvPr/>
        </p:nvSpPr>
        <p:spPr>
          <a:xfrm>
            <a:off x="0" y="5257800"/>
            <a:ext cx="12191040" cy="1599480"/>
          </a:xfrm>
          <a:prstGeom prst="rect">
            <a:avLst/>
          </a:prstGeom>
          <a:solidFill>
            <a:schemeClr val="accent4">
              <a:lumMod val="10000"/>
            </a:schemeClr>
          </a:solidFill>
          <a:ln>
            <a:noFill/>
          </a:ln>
          <a:effectLst>
            <a:outerShdw blurRad="50800" dist="38160" dir="16200000"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pic>
        <p:nvPicPr>
          <p:cNvPr id="6" name="Picture 7"/>
          <p:cNvPicPr/>
          <p:nvPr/>
        </p:nvPicPr>
        <p:blipFill>
          <a:blip r:embed="rId14"/>
          <a:stretch>
            <a:fillRect/>
          </a:stretch>
        </p:blipFill>
        <p:spPr>
          <a:xfrm>
            <a:off x="4420800" y="5566320"/>
            <a:ext cx="3349920" cy="997560"/>
          </a:xfrm>
          <a:prstGeom prst="rect">
            <a:avLst/>
          </a:prstGeom>
          <a:ln>
            <a:noFill/>
          </a:ln>
          <a:effectLst>
            <a:outerShdw blurRad="50800" dist="37674" dir="2700000" algn="tl" rotWithShape="0">
              <a:srgbClr val="000000">
                <a:alpha val="40000"/>
              </a:srgbClr>
            </a:outerShdw>
          </a:effectLst>
        </p:spPr>
      </p:pic>
      <p:sp>
        <p:nvSpPr>
          <p:cNvPr id="2" name="CustomShape 2"/>
          <p:cNvSpPr/>
          <p:nvPr/>
        </p:nvSpPr>
        <p:spPr>
          <a:xfrm>
            <a:off x="0" y="0"/>
            <a:ext cx="12191040" cy="456480"/>
          </a:xfrm>
          <a:prstGeom prst="rect">
            <a:avLst/>
          </a:prstGeom>
          <a:solidFill>
            <a:schemeClr val="accent4">
              <a:lumMod val="10000"/>
            </a:schemeClr>
          </a:solidFill>
          <a:ln>
            <a:noFill/>
          </a:ln>
          <a:effectLst>
            <a:outerShdw blurRad="50800" dist="37674"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3" name="PlaceHolder 3"/>
          <p:cNvSpPr>
            <a:spLocks noGrp="1"/>
          </p:cNvSpPr>
          <p:nvPr>
            <p:ph type="title"/>
          </p:nvPr>
        </p:nvSpPr>
        <p:spPr>
          <a:xfrm>
            <a:off x="609600" y="152280"/>
            <a:ext cx="10971840" cy="1142280"/>
          </a:xfrm>
          <a:prstGeom prst="rect">
            <a:avLst/>
          </a:prstGeom>
        </p:spPr>
        <p:txBody>
          <a:bodyPr lIns="0" tIns="0" rIns="0" bIns="0" anchor="ctr">
            <a:noAutofit/>
          </a:bodyPr>
          <a:lstStyle/>
          <a:p>
            <a:r>
              <a:rPr lang="en-GB" sz="1800" b="0" strike="noStrike" spc="-1">
                <a:latin typeface="Arial" panose="020B0604020202020204"/>
              </a:rPr>
              <a:t>Click to edit the title text format</a:t>
            </a:r>
          </a:p>
        </p:txBody>
      </p:sp>
      <p:sp>
        <p:nvSpPr>
          <p:cNvPr id="4" name="PlaceHolder 4"/>
          <p:cNvSpPr>
            <a:spLocks noGrp="1"/>
          </p:cNvSpPr>
          <p:nvPr>
            <p:ph type="body"/>
          </p:nvPr>
        </p:nvSpPr>
        <p:spPr>
          <a:xfrm>
            <a:off x="609600" y="1604520"/>
            <a:ext cx="1097232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en-GB" sz="3200" b="0" strike="noStrike" spc="-1">
                <a:latin typeface="Arial" panose="020B0604020202020204"/>
              </a:rPr>
              <a:t>Click to edit the outline text format</a:t>
            </a:r>
          </a:p>
          <a:p>
            <a:pPr marL="864235" lvl="1" indent="-323850">
              <a:spcBef>
                <a:spcPts val="1135"/>
              </a:spcBef>
              <a:buClr>
                <a:srgbClr val="000000"/>
              </a:buClr>
              <a:buSzPct val="75000"/>
              <a:buFont typeface="Symbol" panose="05050102010706020507" charset="2"/>
              <a:buChar char=""/>
            </a:pPr>
            <a:r>
              <a:rPr lang="en-GB" sz="2800" b="0" strike="noStrike" spc="-1">
                <a:latin typeface="Arial" panose="020B0604020202020204"/>
              </a:rPr>
              <a:t>Second Outline Level</a:t>
            </a:r>
          </a:p>
          <a:p>
            <a:pPr marL="1296035" lvl="2" indent="-288290">
              <a:spcBef>
                <a:spcPts val="850"/>
              </a:spcBef>
              <a:buClr>
                <a:srgbClr val="000000"/>
              </a:buClr>
              <a:buSzPct val="45000"/>
              <a:buFont typeface="Wingdings" panose="05000000000000000000" pitchFamily="2" charset="2"/>
              <a:buChar char=""/>
            </a:pPr>
            <a:r>
              <a:rPr lang="en-GB" sz="2400" b="0" strike="noStrike" spc="-1">
                <a:latin typeface="Arial" panose="020B0604020202020204"/>
              </a:rPr>
              <a:t>Third Outline Level</a:t>
            </a:r>
          </a:p>
          <a:p>
            <a:pPr marL="1727835" lvl="3" indent="-215900">
              <a:spcBef>
                <a:spcPts val="565"/>
              </a:spcBef>
              <a:buClr>
                <a:srgbClr val="000000"/>
              </a:buClr>
              <a:buSzPct val="75000"/>
              <a:buFont typeface="Symbol" panose="05050102010706020507" charset="2"/>
              <a:buChar char=""/>
            </a:pPr>
            <a:r>
              <a:rPr lang="en-GB" sz="2000" b="0" strike="noStrike" spc="-1">
                <a:latin typeface="Arial" panose="020B0604020202020204"/>
              </a:rPr>
              <a:t>Fourth Outline Level</a:t>
            </a:r>
          </a:p>
          <a:p>
            <a:pPr marL="2160270" lvl="4" indent="-215900">
              <a:spcBef>
                <a:spcPts val="285"/>
              </a:spcBef>
              <a:buClr>
                <a:srgbClr val="000000"/>
              </a:buClr>
              <a:buSzPct val="45000"/>
              <a:buFont typeface="Wingdings" panose="05000000000000000000" pitchFamily="2" charset="2"/>
              <a:buChar char=""/>
            </a:pPr>
            <a:r>
              <a:rPr lang="en-GB" sz="2000" b="0" strike="noStrike" spc="-1">
                <a:latin typeface="Arial" panose="020B0604020202020204"/>
              </a:rPr>
              <a:t>Fifth Outline Level</a:t>
            </a:r>
          </a:p>
          <a:p>
            <a:pPr marL="2592070" lvl="5" indent="-215900">
              <a:spcBef>
                <a:spcPts val="285"/>
              </a:spcBef>
              <a:buClr>
                <a:srgbClr val="000000"/>
              </a:buClr>
              <a:buSzPct val="45000"/>
              <a:buFont typeface="Wingdings" panose="05000000000000000000" pitchFamily="2" charset="2"/>
              <a:buChar char=""/>
            </a:pPr>
            <a:r>
              <a:rPr lang="en-GB" sz="2000" b="0" strike="noStrike" spc="-1">
                <a:latin typeface="Arial" panose="020B0604020202020204"/>
              </a:rPr>
              <a:t>Sixth Outline Level</a:t>
            </a:r>
          </a:p>
          <a:p>
            <a:pPr marL="3023870" lvl="6" indent="-215900">
              <a:spcBef>
                <a:spcPts val="285"/>
              </a:spcBef>
              <a:buClr>
                <a:srgbClr val="000000"/>
              </a:buClr>
              <a:buSzPct val="45000"/>
              <a:buFont typeface="Wingdings" panose="05000000000000000000" pitchFamily="2" charset="2"/>
              <a:buChar char=""/>
            </a:pPr>
            <a:r>
              <a:rPr lang="en-GB" sz="2000" b="0" strike="noStrike" spc="-1">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0" y="6629400"/>
            <a:ext cx="12191040" cy="227880"/>
          </a:xfrm>
          <a:prstGeom prst="rect">
            <a:avLst/>
          </a:prstGeom>
          <a:solidFill>
            <a:schemeClr val="accent4">
              <a:lumMod val="10000"/>
            </a:schemeClr>
          </a:solidFill>
          <a:ln>
            <a:noFill/>
          </a:ln>
          <a:effectLst>
            <a:outerShdw blurRad="50800" dist="37674"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42" name="CustomShape 2"/>
          <p:cNvSpPr/>
          <p:nvPr/>
        </p:nvSpPr>
        <p:spPr>
          <a:xfrm>
            <a:off x="-3360" y="0"/>
            <a:ext cx="12191040" cy="1370880"/>
          </a:xfrm>
          <a:prstGeom prst="rect">
            <a:avLst/>
          </a:prstGeom>
          <a:solidFill>
            <a:schemeClr val="accent4">
              <a:lumMod val="10000"/>
            </a:schemeClr>
          </a:solidFill>
          <a:ln>
            <a:noFill/>
          </a:ln>
          <a:effectLst>
            <a:outerShdw blurRad="50800" dist="37674"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pic>
        <p:nvPicPr>
          <p:cNvPr id="43" name="Picture 7"/>
          <p:cNvPicPr/>
          <p:nvPr/>
        </p:nvPicPr>
        <p:blipFill>
          <a:blip r:embed="rId15"/>
          <a:stretch>
            <a:fillRect/>
          </a:stretch>
        </p:blipFill>
        <p:spPr>
          <a:xfrm>
            <a:off x="5738880" y="6400800"/>
            <a:ext cx="486720" cy="404280"/>
          </a:xfrm>
          <a:prstGeom prst="rect">
            <a:avLst/>
          </a:prstGeom>
          <a:ln>
            <a:noFill/>
          </a:ln>
        </p:spPr>
      </p:pic>
      <p:pic>
        <p:nvPicPr>
          <p:cNvPr id="44" name="Picture 8"/>
          <p:cNvPicPr/>
          <p:nvPr/>
        </p:nvPicPr>
        <p:blipFill>
          <a:blip r:embed="rId16"/>
          <a:stretch>
            <a:fillRect/>
          </a:stretch>
        </p:blipFill>
        <p:spPr>
          <a:xfrm>
            <a:off x="5819040" y="6466320"/>
            <a:ext cx="326400" cy="273600"/>
          </a:xfrm>
          <a:prstGeom prst="rect">
            <a:avLst/>
          </a:prstGeom>
          <a:ln>
            <a:noFill/>
          </a:ln>
        </p:spPr>
      </p:pic>
      <p:sp>
        <p:nvSpPr>
          <p:cNvPr id="45" name="PlaceHolder 3"/>
          <p:cNvSpPr>
            <a:spLocks noGrp="1"/>
          </p:cNvSpPr>
          <p:nvPr>
            <p:ph type="title"/>
          </p:nvPr>
        </p:nvSpPr>
        <p:spPr>
          <a:xfrm>
            <a:off x="609600" y="273600"/>
            <a:ext cx="10972320" cy="1144800"/>
          </a:xfrm>
          <a:prstGeom prst="rect">
            <a:avLst/>
          </a:prstGeom>
        </p:spPr>
        <p:txBody>
          <a:bodyPr lIns="0" tIns="0" rIns="0" bIns="0" anchor="ctr">
            <a:noAutofit/>
          </a:bodyPr>
          <a:lstStyle/>
          <a:p>
            <a:pPr algn="ctr"/>
            <a:r>
              <a:rPr lang="en-GB" sz="4400" b="0" strike="noStrike" spc="-1">
                <a:latin typeface="Arial" panose="020B0604020202020204"/>
              </a:rPr>
              <a:t>Click to edit the title text format</a:t>
            </a:r>
          </a:p>
        </p:txBody>
      </p:sp>
      <p:sp>
        <p:nvSpPr>
          <p:cNvPr id="46" name="PlaceHolder 4"/>
          <p:cNvSpPr>
            <a:spLocks noGrp="1"/>
          </p:cNvSpPr>
          <p:nvPr>
            <p:ph type="body"/>
          </p:nvPr>
        </p:nvSpPr>
        <p:spPr>
          <a:xfrm>
            <a:off x="609600" y="1604520"/>
            <a:ext cx="1097232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en-GB" sz="3200" b="0" strike="noStrike" spc="-1">
                <a:latin typeface="Arial" panose="020B0604020202020204"/>
              </a:rPr>
              <a:t>Click to edit the outline text format</a:t>
            </a:r>
          </a:p>
          <a:p>
            <a:pPr marL="864235" lvl="1" indent="-323850">
              <a:spcBef>
                <a:spcPts val="1135"/>
              </a:spcBef>
              <a:buClr>
                <a:srgbClr val="000000"/>
              </a:buClr>
              <a:buSzPct val="75000"/>
              <a:buFont typeface="Symbol" panose="05050102010706020507" charset="2"/>
              <a:buChar char=""/>
            </a:pPr>
            <a:r>
              <a:rPr lang="en-GB" sz="2800" b="0" strike="noStrike" spc="-1">
                <a:latin typeface="Arial" panose="020B0604020202020204"/>
              </a:rPr>
              <a:t>Second Outline Level</a:t>
            </a:r>
          </a:p>
          <a:p>
            <a:pPr marL="1296035" lvl="2" indent="-288290">
              <a:spcBef>
                <a:spcPts val="850"/>
              </a:spcBef>
              <a:buClr>
                <a:srgbClr val="000000"/>
              </a:buClr>
              <a:buSzPct val="45000"/>
              <a:buFont typeface="Wingdings" panose="05000000000000000000" pitchFamily="2" charset="2"/>
              <a:buChar char=""/>
            </a:pPr>
            <a:r>
              <a:rPr lang="en-GB" sz="2400" b="0" strike="noStrike" spc="-1">
                <a:latin typeface="Arial" panose="020B0604020202020204"/>
              </a:rPr>
              <a:t>Third Outline Level</a:t>
            </a:r>
          </a:p>
          <a:p>
            <a:pPr marL="1727835" lvl="3" indent="-215900">
              <a:spcBef>
                <a:spcPts val="565"/>
              </a:spcBef>
              <a:buClr>
                <a:srgbClr val="000000"/>
              </a:buClr>
              <a:buSzPct val="75000"/>
              <a:buFont typeface="Symbol" panose="05050102010706020507" charset="2"/>
              <a:buChar char=""/>
            </a:pPr>
            <a:r>
              <a:rPr lang="en-GB" sz="2000" b="0" strike="noStrike" spc="-1">
                <a:latin typeface="Arial" panose="020B0604020202020204"/>
              </a:rPr>
              <a:t>Fourth Outline Level</a:t>
            </a:r>
          </a:p>
          <a:p>
            <a:pPr marL="2160270" lvl="4" indent="-215900">
              <a:spcBef>
                <a:spcPts val="285"/>
              </a:spcBef>
              <a:buClr>
                <a:srgbClr val="000000"/>
              </a:buClr>
              <a:buSzPct val="45000"/>
              <a:buFont typeface="Wingdings" panose="05000000000000000000" pitchFamily="2" charset="2"/>
              <a:buChar char=""/>
            </a:pPr>
            <a:r>
              <a:rPr lang="en-GB" sz="2000" b="0" strike="noStrike" spc="-1">
                <a:latin typeface="Arial" panose="020B0604020202020204"/>
              </a:rPr>
              <a:t>Fifth Outline Level</a:t>
            </a:r>
          </a:p>
          <a:p>
            <a:pPr marL="2592070" lvl="5" indent="-215900">
              <a:spcBef>
                <a:spcPts val="285"/>
              </a:spcBef>
              <a:buClr>
                <a:srgbClr val="000000"/>
              </a:buClr>
              <a:buSzPct val="45000"/>
              <a:buFont typeface="Wingdings" panose="05000000000000000000" pitchFamily="2" charset="2"/>
              <a:buChar char=""/>
            </a:pPr>
            <a:r>
              <a:rPr lang="en-GB" sz="2000" b="0" strike="noStrike" spc="-1">
                <a:latin typeface="Arial" panose="020B0604020202020204"/>
              </a:rPr>
              <a:t>Sixth Outline Level</a:t>
            </a:r>
          </a:p>
          <a:p>
            <a:pPr marL="3023870" lvl="6" indent="-215900">
              <a:spcBef>
                <a:spcPts val="285"/>
              </a:spcBef>
              <a:buClr>
                <a:srgbClr val="000000"/>
              </a:buClr>
              <a:buSzPct val="45000"/>
              <a:buFont typeface="Wingdings" panose="05000000000000000000" pitchFamily="2" charset="2"/>
              <a:buChar char=""/>
            </a:pPr>
            <a:r>
              <a:rPr lang="en-GB" sz="2000" b="0" strike="noStrike" spc="-1">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B9D68A-A430-443C-9A28-5E9DB7A11F82}" type="datetimeFigureOut">
              <a:rPr lang="en-US" smtClean="0"/>
              <a:t>3/11/2025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9A89BC-FB93-455E-A042-CE96B61A857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35.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2.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4.png"/><Relationship Id="rId11" Type="http://schemas.openxmlformats.org/officeDocument/2006/relationships/image" Target="../media/image40.wmf"/><Relationship Id="rId5" Type="http://schemas.openxmlformats.org/officeDocument/2006/relationships/image" Target="../media/image43.png"/><Relationship Id="rId10" Type="http://schemas.openxmlformats.org/officeDocument/2006/relationships/oleObject" Target="../embeddings/oleObject7.bin"/><Relationship Id="rId4" Type="http://schemas.openxmlformats.org/officeDocument/2006/relationships/image" Target="../media/image42.png"/><Relationship Id="rId9" Type="http://schemas.openxmlformats.org/officeDocument/2006/relationships/image" Target="../media/image39.wmf"/></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56.wmf"/></Relationships>
</file>

<file path=ppt/slides/_rels/slide44.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58.wmf"/><Relationship Id="rId5" Type="http://schemas.openxmlformats.org/officeDocument/2006/relationships/oleObject" Target="../embeddings/oleObject11.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13.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62.wmf"/><Relationship Id="rId5" Type="http://schemas.openxmlformats.org/officeDocument/2006/relationships/oleObject" Target="../embeddings/oleObject15.bin"/><Relationship Id="rId4" Type="http://schemas.openxmlformats.org/officeDocument/2006/relationships/image" Target="../media/image61.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CustomShape 1"/>
          <p:cNvSpPr/>
          <p:nvPr/>
        </p:nvSpPr>
        <p:spPr>
          <a:xfrm>
            <a:off x="2209800" y="1828800"/>
            <a:ext cx="7771680" cy="146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 pos="447040" algn="l"/>
                <a:tab pos="896620" algn="l"/>
                <a:tab pos="1345565" algn="l"/>
                <a:tab pos="1795145" algn="l"/>
                <a:tab pos="2244090" algn="l"/>
                <a:tab pos="2693670" algn="l"/>
                <a:tab pos="3142615" algn="l"/>
                <a:tab pos="3592195" algn="l"/>
                <a:tab pos="4041140" algn="l"/>
                <a:tab pos="4490720" algn="l"/>
                <a:tab pos="4939665" algn="l"/>
                <a:tab pos="5389245" algn="l"/>
                <a:tab pos="5838190" algn="l"/>
                <a:tab pos="6287135" algn="l"/>
                <a:tab pos="6736715" algn="l"/>
                <a:tab pos="7186295" algn="l"/>
                <a:tab pos="7635240" algn="l"/>
                <a:tab pos="8084820" algn="l"/>
                <a:tab pos="8533765" algn="l"/>
                <a:tab pos="8983345" algn="l"/>
                <a:tab pos="8984615" algn="l"/>
                <a:tab pos="9433560" algn="l"/>
                <a:tab pos="9883140" algn="l"/>
                <a:tab pos="10332720" algn="l"/>
                <a:tab pos="10781665" algn="l"/>
              </a:tabLst>
            </a:pPr>
            <a:endParaRPr lang="en-GB" sz="5400" b="0" strike="noStrike" spc="-1" dirty="0">
              <a:latin typeface="Arial" panose="020B0604020202020204"/>
            </a:endParaRPr>
          </a:p>
        </p:txBody>
      </p:sp>
      <p:pic>
        <p:nvPicPr>
          <p:cNvPr id="4" name="Picture 3">
            <a:extLst>
              <a:ext uri="{FF2B5EF4-FFF2-40B4-BE49-F238E27FC236}">
                <a16:creationId xmlns:a16="http://schemas.microsoft.com/office/drawing/2014/main" id="{A364864C-E578-8903-191D-BC2E91E95191}"/>
              </a:ext>
            </a:extLst>
          </p:cNvPr>
          <p:cNvPicPr>
            <a:picLocks noChangeAspect="1"/>
          </p:cNvPicPr>
          <p:nvPr/>
        </p:nvPicPr>
        <p:blipFill>
          <a:blip r:embed="rId2"/>
          <a:stretch>
            <a:fillRect/>
          </a:stretch>
        </p:blipFill>
        <p:spPr>
          <a:xfrm>
            <a:off x="0" y="487679"/>
            <a:ext cx="7200000" cy="4784423"/>
          </a:xfrm>
          <a:prstGeom prst="rect">
            <a:avLst/>
          </a:prstGeom>
        </p:spPr>
      </p:pic>
      <p:pic>
        <p:nvPicPr>
          <p:cNvPr id="5" name="Picture 4"/>
          <p:cNvPicPr>
            <a:picLocks noChangeAspect="1"/>
          </p:cNvPicPr>
          <p:nvPr/>
        </p:nvPicPr>
        <p:blipFill>
          <a:blip r:embed="rId3"/>
          <a:stretch>
            <a:fillRect/>
          </a:stretch>
        </p:blipFill>
        <p:spPr>
          <a:xfrm>
            <a:off x="7200000" y="487678"/>
            <a:ext cx="4991280" cy="4705321"/>
          </a:xfrm>
          <a:prstGeom prst="rect">
            <a:avLst/>
          </a:prstGeom>
        </p:spPr>
      </p:pic>
      <p:sp>
        <p:nvSpPr>
          <p:cNvPr id="84" name="CustomShape 2"/>
          <p:cNvSpPr/>
          <p:nvPr/>
        </p:nvSpPr>
        <p:spPr>
          <a:xfrm>
            <a:off x="1" y="487676"/>
            <a:ext cx="7200000" cy="109822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r>
              <a:rPr lang="en-US" sz="3600" b="1" i="0" u="none" strike="noStrike" baseline="0" dirty="0">
                <a:solidFill>
                  <a:srgbClr val="528DBF"/>
                </a:solidFill>
                <a:latin typeface="Times New Roman" panose="02020603050405020304" pitchFamily="18" charset="0"/>
                <a:cs typeface="Times New Roman" panose="02020603050405020304" pitchFamily="18" charset="0"/>
              </a:rPr>
              <a:t>ELECTRIC CHARGES</a:t>
            </a:r>
          </a:p>
          <a:p>
            <a:pPr algn="ctr"/>
            <a:r>
              <a:rPr lang="en-US" sz="3600" b="1" i="0" u="none" strike="noStrike" baseline="0" dirty="0">
                <a:solidFill>
                  <a:srgbClr val="528DBF"/>
                </a:solidFill>
                <a:latin typeface="Times New Roman" panose="02020603050405020304" pitchFamily="18" charset="0"/>
                <a:cs typeface="Times New Roman" panose="02020603050405020304" pitchFamily="18" charset="0"/>
              </a:rPr>
              <a:t>AND FIELDS</a:t>
            </a:r>
            <a:endParaRPr lang="en-GB" sz="3600" b="0" strike="noStrike" spc="-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84"/>
                                        </p:tgtEl>
                                        <p:attrNameLst>
                                          <p:attrName>style.visibility</p:attrName>
                                        </p:attrNameLst>
                                      </p:cBhvr>
                                      <p:to>
                                        <p:strVal val="visible"/>
                                      </p:to>
                                    </p:set>
                                    <p:animEffect transition="in" filter="wipe(down)">
                                      <p:cBhvr>
                                        <p:cTn id="1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92100"/>
            <a:ext cx="8229600" cy="715962"/>
          </a:xfrm>
        </p:spPr>
        <p:txBody>
          <a:bodyPr>
            <a:noAutofit/>
          </a:bodyPr>
          <a:lstStyle/>
          <a:p>
            <a:pPr algn="ctr"/>
            <a:r>
              <a:rPr lang="en-US" sz="4800" dirty="0">
                <a:solidFill>
                  <a:srgbClr val="FF0000"/>
                </a:solidFill>
                <a:latin typeface="Algerian" panose="04020705040A02060702" pitchFamily="82" charset="0"/>
                <a:cs typeface="Algerian" panose="04020705040A02060702" pitchFamily="82" charset="0"/>
              </a:rPr>
              <a:t>Lecture Overview</a:t>
            </a:r>
          </a:p>
        </p:txBody>
      </p:sp>
      <p:sp>
        <p:nvSpPr>
          <p:cNvPr id="3" name="Content Placeholder 2"/>
          <p:cNvSpPr>
            <a:spLocks noGrp="1"/>
          </p:cNvSpPr>
          <p:nvPr>
            <p:ph idx="1"/>
          </p:nvPr>
        </p:nvSpPr>
        <p:spPr>
          <a:xfrm>
            <a:off x="376555" y="1371600"/>
            <a:ext cx="11424285" cy="4876800"/>
          </a:xfrm>
        </p:spPr>
        <p:txBody>
          <a:bodyPr>
            <a:noAutofit/>
          </a:bodyPr>
          <a:lstStyle/>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Electrostatics; conductors  and insulators, Electric charge, methods of charging, Properties of electric charge.</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Coulomb’s law; Electric force and Electric field</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Capacitance and Dielectrics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Magnetism and magnetic fields </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Electromagnetic induction  and Maxwell's equations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Current electricity; and currents, Ohm’s law and analysis of DC circuits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AC voltages applied to inductors, capacitors and resistance.</a:t>
            </a:r>
          </a:p>
          <a:p>
            <a:pPr marL="514350" indent="-514350" algn="just">
              <a:buFont typeface="+mj-lt"/>
              <a:buAutoNum type="arabicPeriod"/>
            </a:pPr>
            <a:endParaRPr lang="en-US" sz="29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1492"/>
    </mc:Choice>
    <mc:Fallback xmlns="">
      <p:transition spd="slow" advTm="5149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410355"/>
            <a:ext cx="6292215" cy="5447645"/>
          </a:xfrm>
          <a:prstGeom prst="rect">
            <a:avLst/>
          </a:prstGeom>
          <a:noFill/>
        </p:spPr>
        <p:txBody>
          <a:bodyPr wrap="square">
            <a:spAutoFit/>
          </a:bodyPr>
          <a:lstStyle/>
          <a:p>
            <a:pPr indent="0" algn="l">
              <a:buFont typeface="Wingdings" panose="05000000000000000000" pitchFamily="2" charset="2"/>
              <a:buNone/>
            </a:pPr>
            <a:endParaRPr lang="en-US" sz="2800" b="0" i="0" u="none" strike="noStrike" baseline="0" dirty="0">
              <a:solidFill>
                <a:srgbClr val="000000"/>
              </a:solidFill>
              <a:latin typeface="Algerian" panose="04020705040A02060702" pitchFamily="82" charset="0"/>
              <a:cs typeface="Times New Roman" panose="02020603050405020304" pitchFamily="18" charset="0"/>
            </a:endParaRPr>
          </a:p>
          <a:p>
            <a:pPr marL="342900" indent="-342900" algn="l">
              <a:buFont typeface="Wingdings" panose="05000000000000000000" pitchFamily="2" charset="2"/>
              <a:buChar char="Ø"/>
            </a:pPr>
            <a:r>
              <a:rPr lang="en-US" sz="4000" dirty="0">
                <a:latin typeface="Algerian" panose="04020705040A02060702" pitchFamily="82" charset="0"/>
                <a:cs typeface="Times New Roman" panose="02020603050405020304" pitchFamily="18" charset="0"/>
                <a:sym typeface="+mn-ea"/>
              </a:rPr>
              <a:t>Electrostatics; </a:t>
            </a:r>
          </a:p>
          <a:p>
            <a:pPr marL="342900" indent="-342900" algn="l">
              <a:buFont typeface="Wingdings" panose="05000000000000000000" pitchFamily="2" charset="2"/>
              <a:buChar char="Ø"/>
            </a:pPr>
            <a:r>
              <a:rPr lang="en-US" sz="4000" dirty="0">
                <a:latin typeface="Algerian" panose="04020705040A02060702" pitchFamily="82" charset="0"/>
                <a:cs typeface="Times New Roman" panose="02020603050405020304" pitchFamily="18" charset="0"/>
                <a:sym typeface="+mn-ea"/>
              </a:rPr>
              <a:t>Conductors  and insulators, </a:t>
            </a:r>
          </a:p>
          <a:p>
            <a:pPr marL="342900" indent="-342900" algn="l">
              <a:buFont typeface="Wingdings" panose="05000000000000000000" pitchFamily="2" charset="2"/>
              <a:buChar char="Ø"/>
            </a:pPr>
            <a:r>
              <a:rPr lang="en-US" sz="4000" dirty="0">
                <a:latin typeface="Algerian" panose="04020705040A02060702" pitchFamily="82" charset="0"/>
                <a:cs typeface="Times New Roman" panose="02020603050405020304" pitchFamily="18" charset="0"/>
                <a:sym typeface="+mn-ea"/>
              </a:rPr>
              <a:t>Electric charge, </a:t>
            </a:r>
          </a:p>
          <a:p>
            <a:pPr marL="342900" indent="-342900" algn="l">
              <a:buFont typeface="Wingdings" panose="05000000000000000000" pitchFamily="2" charset="2"/>
              <a:buChar char="Ø"/>
            </a:pPr>
            <a:r>
              <a:rPr lang="en-US" sz="4000" dirty="0">
                <a:latin typeface="Algerian" panose="04020705040A02060702" pitchFamily="82" charset="0"/>
                <a:cs typeface="Times New Roman" panose="02020603050405020304" pitchFamily="18" charset="0"/>
                <a:sym typeface="+mn-ea"/>
              </a:rPr>
              <a:t>Methods of charging, </a:t>
            </a:r>
          </a:p>
          <a:p>
            <a:pPr marL="342900" indent="-342900" algn="l">
              <a:buFont typeface="Wingdings" panose="05000000000000000000" pitchFamily="2" charset="2"/>
              <a:buChar char="Ø"/>
            </a:pPr>
            <a:r>
              <a:rPr lang="en-US" sz="4000" dirty="0">
                <a:latin typeface="Algerian" panose="04020705040A02060702" pitchFamily="82" charset="0"/>
                <a:cs typeface="Times New Roman" panose="02020603050405020304" pitchFamily="18" charset="0"/>
                <a:sym typeface="+mn-ea"/>
              </a:rPr>
              <a:t>Properties of electric charge.</a:t>
            </a:r>
            <a:endParaRPr lang="en-US" sz="4000" b="0" i="0" u="none" strike="noStrike" baseline="0" dirty="0">
              <a:solidFill>
                <a:srgbClr val="000000"/>
              </a:solidFill>
              <a:latin typeface="Algerian" panose="04020705040A02060702" pitchFamily="82" charset="0"/>
              <a:cs typeface="Times New Roman" panose="02020603050405020304" pitchFamily="18" charset="0"/>
            </a:endParaRPr>
          </a:p>
          <a:p>
            <a:pPr marL="342900" indent="-342900" algn="l">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483417" y="329327"/>
            <a:ext cx="6292215" cy="829945"/>
          </a:xfrm>
          <a:prstGeom prst="rect">
            <a:avLst/>
          </a:prstGeom>
          <a:noFill/>
        </p:spPr>
        <p:txBody>
          <a:bodyPr wrap="square">
            <a:spAutoFit/>
          </a:bodyPr>
          <a:lstStyle/>
          <a:p>
            <a:pPr algn="l"/>
            <a:r>
              <a:rPr lang="en-US" sz="4800" dirty="0">
                <a:solidFill>
                  <a:srgbClr val="92D050"/>
                </a:solidFill>
                <a:latin typeface="Algerian" panose="04020705040A02060702" pitchFamily="82" charset="0"/>
              </a:rPr>
              <a:t>outlines</a:t>
            </a:r>
          </a:p>
        </p:txBody>
      </p:sp>
      <p:pic>
        <p:nvPicPr>
          <p:cNvPr id="4" name="Picture 3">
            <a:extLst>
              <a:ext uri="{FF2B5EF4-FFF2-40B4-BE49-F238E27FC236}">
                <a16:creationId xmlns:a16="http://schemas.microsoft.com/office/drawing/2014/main" id="{878C3603-1C13-52DF-168D-691E0BE1F795}"/>
              </a:ext>
            </a:extLst>
          </p:cNvPr>
          <p:cNvPicPr>
            <a:picLocks noChangeAspect="1"/>
          </p:cNvPicPr>
          <p:nvPr/>
        </p:nvPicPr>
        <p:blipFill>
          <a:blip r:embed="rId2"/>
          <a:stretch>
            <a:fillRect/>
          </a:stretch>
        </p:blipFill>
        <p:spPr>
          <a:xfrm>
            <a:off x="6292215" y="1410355"/>
            <a:ext cx="5754643" cy="51183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F2C616-41BB-DFC4-99F9-FAEB9D5AC73B}"/>
              </a:ext>
            </a:extLst>
          </p:cNvPr>
          <p:cNvSpPr txBox="1"/>
          <p:nvPr/>
        </p:nvSpPr>
        <p:spPr>
          <a:xfrm>
            <a:off x="0" y="877842"/>
            <a:ext cx="10988448" cy="3385542"/>
          </a:xfrm>
          <a:prstGeom prst="rect">
            <a:avLst/>
          </a:prstGeom>
          <a:noFill/>
        </p:spPr>
        <p:txBody>
          <a:bodyPr wrap="square">
            <a:spAutoFit/>
          </a:bodyPr>
          <a:lstStyle/>
          <a:p>
            <a:pPr>
              <a:buNone/>
            </a:pPr>
            <a:endParaRPr lang="en-US" dirty="0"/>
          </a:p>
          <a:p>
            <a:pPr marL="342900" indent="-342900">
              <a:buFont typeface="Wingdings" panose="05000000000000000000" pitchFamily="2" charset="2"/>
              <a:buChar char="q"/>
            </a:pPr>
            <a:r>
              <a:rPr lang="en-US" sz="2800" dirty="0">
                <a:solidFill>
                  <a:srgbClr val="231F20"/>
                </a:solidFill>
                <a:effectLst/>
                <a:latin typeface="Times New Roman" panose="02020603050405020304" pitchFamily="18" charset="0"/>
                <a:cs typeface="Times New Roman" panose="02020603050405020304" pitchFamily="18" charset="0"/>
              </a:rPr>
              <a:t>What holds your body together? </a:t>
            </a:r>
          </a:p>
          <a:p>
            <a:pPr marL="342900" indent="-342900">
              <a:buFont typeface="Wingdings" panose="05000000000000000000" pitchFamily="2" charset="2"/>
              <a:buChar char="q"/>
            </a:pPr>
            <a:r>
              <a:rPr lang="en-US" sz="2800" dirty="0">
                <a:solidFill>
                  <a:srgbClr val="231F20"/>
                </a:solidFill>
                <a:effectLst/>
                <a:latin typeface="Times New Roman" panose="02020603050405020304" pitchFamily="18" charset="0"/>
                <a:cs typeface="Times New Roman" panose="02020603050405020304" pitchFamily="18" charset="0"/>
              </a:rPr>
              <a:t>What keeps a skyscraper standing? </a:t>
            </a:r>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800" dirty="0">
                <a:solidFill>
                  <a:srgbClr val="231F20"/>
                </a:solidFill>
                <a:effectLst/>
                <a:latin typeface="Times New Roman" panose="02020603050405020304" pitchFamily="18" charset="0"/>
                <a:cs typeface="Times New Roman" panose="02020603050405020304" pitchFamily="18" charset="0"/>
              </a:rPr>
              <a:t>What holds your car on the road as you round a turn? </a:t>
            </a:r>
          </a:p>
          <a:p>
            <a:pPr marL="342900" indent="-342900">
              <a:buFont typeface="Wingdings" panose="05000000000000000000" pitchFamily="2" charset="2"/>
              <a:buChar char="q"/>
            </a:pPr>
            <a:r>
              <a:rPr lang="en-US" sz="2800" dirty="0">
                <a:solidFill>
                  <a:srgbClr val="231F20"/>
                </a:solidFill>
                <a:effectLst/>
                <a:latin typeface="Times New Roman" panose="02020603050405020304" pitchFamily="18" charset="0"/>
                <a:cs typeface="Times New Roman" panose="02020603050405020304" pitchFamily="18" charset="0"/>
              </a:rPr>
              <a:t>What governs the electronic circuitry in your computer or smartphone, or provides the tension in your climbing rope?</a:t>
            </a:r>
          </a:p>
          <a:p>
            <a:pPr marL="342900" indent="-342900">
              <a:buFont typeface="Wingdings" panose="05000000000000000000" pitchFamily="2" charset="2"/>
              <a:buChar char="q"/>
            </a:pPr>
            <a:r>
              <a:rPr lang="en-US" sz="2800" dirty="0">
                <a:solidFill>
                  <a:srgbClr val="231F20"/>
                </a:solidFill>
                <a:effectLst/>
                <a:latin typeface="Times New Roman" panose="02020603050405020304" pitchFamily="18" charset="0"/>
                <a:cs typeface="Times New Roman" panose="02020603050405020304" pitchFamily="18" charset="0"/>
              </a:rPr>
              <a:t>What enables a plant to make sugar from sunlight and simple chemicals? </a:t>
            </a:r>
          </a:p>
          <a:p>
            <a:pPr marL="342900" indent="-342900">
              <a:buFont typeface="Wingdings" panose="05000000000000000000" pitchFamily="2" charset="2"/>
              <a:buChar char="q"/>
            </a:pPr>
            <a:r>
              <a:rPr lang="en-US" sz="2800" dirty="0">
                <a:solidFill>
                  <a:srgbClr val="231F20"/>
                </a:solidFill>
                <a:effectLst/>
                <a:latin typeface="Times New Roman" panose="02020603050405020304" pitchFamily="18" charset="0"/>
                <a:cs typeface="Times New Roman" panose="02020603050405020304" pitchFamily="18" charset="0"/>
              </a:rPr>
              <a:t>What underlies the awesome beauty of lightning? </a:t>
            </a:r>
            <a:endParaRPr lang="en-NG"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5AF85B0-9D96-8E7D-10FD-EF1BC006318B}"/>
              </a:ext>
            </a:extLst>
          </p:cNvPr>
          <p:cNvSpPr txBox="1"/>
          <p:nvPr/>
        </p:nvSpPr>
        <p:spPr>
          <a:xfrm>
            <a:off x="105229" y="4263384"/>
            <a:ext cx="6672942" cy="523220"/>
          </a:xfrm>
          <a:prstGeom prst="rect">
            <a:avLst/>
          </a:prstGeom>
          <a:noFill/>
        </p:spPr>
        <p:txBody>
          <a:bodyPr wrap="square">
            <a:spAutoFit/>
          </a:bodyPr>
          <a:lstStyle/>
          <a:p>
            <a:r>
              <a:rPr lang="en-US" sz="2800" dirty="0">
                <a:solidFill>
                  <a:srgbClr val="231F20"/>
                </a:solidFill>
                <a:effectLst/>
                <a:latin typeface="Times New Roman" panose="02020603050405020304" pitchFamily="18" charset="0"/>
                <a:cs typeface="Times New Roman" panose="02020603050405020304" pitchFamily="18" charset="0"/>
              </a:rPr>
              <a:t>The answer, in all cases, is the </a:t>
            </a:r>
            <a:r>
              <a:rPr lang="en-US" sz="2800" b="1" dirty="0">
                <a:solidFill>
                  <a:srgbClr val="231F20"/>
                </a:solidFill>
                <a:effectLst/>
                <a:latin typeface="Times New Roman" panose="02020603050405020304" pitchFamily="18" charset="0"/>
                <a:cs typeface="Times New Roman" panose="02020603050405020304" pitchFamily="18" charset="0"/>
              </a:rPr>
              <a:t>electric force</a:t>
            </a:r>
            <a:endParaRPr lang="en-NG" sz="2800" dirty="0"/>
          </a:p>
        </p:txBody>
      </p:sp>
      <p:sp>
        <p:nvSpPr>
          <p:cNvPr id="7" name="Text Box 3">
            <a:extLst>
              <a:ext uri="{FF2B5EF4-FFF2-40B4-BE49-F238E27FC236}">
                <a16:creationId xmlns:a16="http://schemas.microsoft.com/office/drawing/2014/main" id="{6C9BC04C-366B-2930-ECC0-0395E3417591}"/>
              </a:ext>
            </a:extLst>
          </p:cNvPr>
          <p:cNvSpPr txBox="1"/>
          <p:nvPr/>
        </p:nvSpPr>
        <p:spPr>
          <a:xfrm>
            <a:off x="2581275" y="130175"/>
            <a:ext cx="6823982" cy="892810"/>
          </a:xfrm>
          <a:prstGeom prst="rect">
            <a:avLst/>
          </a:prstGeom>
          <a:noFill/>
        </p:spPr>
        <p:txBody>
          <a:bodyPr wrap="square" rtlCol="0" anchor="t">
            <a:noAutofit/>
          </a:bodyPr>
          <a:lstStyle/>
          <a:p>
            <a:r>
              <a:rPr lang="en-US" sz="5400" dirty="0">
                <a:latin typeface="Algerian" panose="04020705040A02060702" pitchFamily="82" charset="0"/>
                <a:cs typeface="Algerian" panose="04020705040A02060702" pitchFamily="82" charset="0"/>
              </a:rPr>
              <a:t>ELECTRIC CHARGE</a:t>
            </a:r>
          </a:p>
          <a:p>
            <a:endParaRPr lang="en-US" sz="5400" dirty="0">
              <a:latin typeface="Algerian" panose="04020705040A02060702" pitchFamily="82" charset="0"/>
              <a:cs typeface="Algerian" panose="04020705040A02060702" pitchFamily="82" charset="0"/>
            </a:endParaRPr>
          </a:p>
        </p:txBody>
      </p:sp>
      <p:sp>
        <p:nvSpPr>
          <p:cNvPr id="9" name="TextBox 8">
            <a:extLst>
              <a:ext uri="{FF2B5EF4-FFF2-40B4-BE49-F238E27FC236}">
                <a16:creationId xmlns:a16="http://schemas.microsoft.com/office/drawing/2014/main" id="{5ACEFE1B-B2CE-2934-81E5-CD8F79589AE2}"/>
              </a:ext>
            </a:extLst>
          </p:cNvPr>
          <p:cNvSpPr txBox="1"/>
          <p:nvPr/>
        </p:nvSpPr>
        <p:spPr>
          <a:xfrm>
            <a:off x="105229" y="4786604"/>
            <a:ext cx="11981542" cy="1200329"/>
          </a:xfrm>
          <a:prstGeom prst="rect">
            <a:avLst/>
          </a:prstGeom>
          <a:noFill/>
        </p:spPr>
        <p:txBody>
          <a:bodyPr wrap="square">
            <a:spAutoFit/>
          </a:bodyPr>
          <a:lstStyle/>
          <a:p>
            <a:pPr algn="just">
              <a:buNone/>
            </a:pPr>
            <a:r>
              <a:rPr lang="en-US" sz="2400" dirty="0">
                <a:solidFill>
                  <a:srgbClr val="231F20"/>
                </a:solidFill>
                <a:effectLst/>
                <a:latin typeface="Times New Roman" panose="02020603050405020304" pitchFamily="18" charset="0"/>
                <a:cs typeface="Times New Roman" panose="02020603050405020304" pitchFamily="18" charset="0"/>
              </a:rPr>
              <a:t>With the exception of gravity, all the forces we’ve encountered in mechanics—including tension forces, normal forces, compression forces, and friction—are based on electric interactions; so are the forces responsible for all of chemistry and biology.</a:t>
            </a:r>
            <a:endParaRPr lang="en-NG"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6FE977D-7561-2F8F-0314-A1428DB11735}"/>
              </a:ext>
            </a:extLst>
          </p:cNvPr>
          <p:cNvSpPr txBox="1"/>
          <p:nvPr/>
        </p:nvSpPr>
        <p:spPr>
          <a:xfrm>
            <a:off x="102280" y="5980158"/>
            <a:ext cx="11981542" cy="954107"/>
          </a:xfrm>
          <a:prstGeom prst="rect">
            <a:avLst/>
          </a:prstGeom>
          <a:noFill/>
        </p:spPr>
        <p:txBody>
          <a:bodyPr wrap="square">
            <a:spAutoFit/>
          </a:bodyPr>
          <a:lstStyle/>
          <a:p>
            <a:pPr>
              <a:buNone/>
            </a:pPr>
            <a:r>
              <a:rPr lang="en-US" sz="2800" dirty="0">
                <a:solidFill>
                  <a:srgbClr val="231F20"/>
                </a:solidFill>
                <a:effectLst/>
                <a:latin typeface="Times New Roman" panose="02020603050405020304" pitchFamily="18" charset="0"/>
                <a:cs typeface="Times New Roman" panose="02020603050405020304" pitchFamily="18" charset="0"/>
              </a:rPr>
              <a:t>The electric force, in turn, involves a fundamental property of matter—namely, </a:t>
            </a:r>
            <a:r>
              <a:rPr lang="en-US" sz="2800" b="1" dirty="0">
                <a:solidFill>
                  <a:srgbClr val="231F20"/>
                </a:solidFill>
                <a:effectLst/>
                <a:latin typeface="Times New Roman" panose="02020603050405020304" pitchFamily="18" charset="0"/>
                <a:cs typeface="Times New Roman" panose="02020603050405020304" pitchFamily="18" charset="0"/>
              </a:rPr>
              <a:t>electric charge.</a:t>
            </a:r>
            <a:endParaRPr lang="en-NG"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118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down)">
                                      <p:cBhvr>
                                        <p:cTn id="34" dur="580">
                                          <p:stCondLst>
                                            <p:cond delay="0"/>
                                          </p:stCondLst>
                                        </p:cTn>
                                        <p:tgtEl>
                                          <p:spTgt spid="3">
                                            <p:txEl>
                                              <p:pRg st="6" end="6"/>
                                            </p:txEl>
                                          </p:spTgt>
                                        </p:tgtEl>
                                      </p:cBhvr>
                                    </p:animEffect>
                                    <p:anim calcmode="lin" valueType="num">
                                      <p:cBhvr>
                                        <p:cTn id="35"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40" dur="26">
                                          <p:stCondLst>
                                            <p:cond delay="650"/>
                                          </p:stCondLst>
                                        </p:cTn>
                                        <p:tgtEl>
                                          <p:spTgt spid="3">
                                            <p:txEl>
                                              <p:pRg st="6" end="6"/>
                                            </p:txEl>
                                          </p:spTgt>
                                        </p:tgtEl>
                                      </p:cBhvr>
                                      <p:to x="100000" y="60000"/>
                                    </p:animScale>
                                    <p:animScale>
                                      <p:cBhvr>
                                        <p:cTn id="41" dur="166" decel="50000">
                                          <p:stCondLst>
                                            <p:cond delay="676"/>
                                          </p:stCondLst>
                                        </p:cTn>
                                        <p:tgtEl>
                                          <p:spTgt spid="3">
                                            <p:txEl>
                                              <p:pRg st="6" end="6"/>
                                            </p:txEl>
                                          </p:spTgt>
                                        </p:tgtEl>
                                      </p:cBhvr>
                                      <p:to x="100000" y="100000"/>
                                    </p:animScale>
                                    <p:animScale>
                                      <p:cBhvr>
                                        <p:cTn id="42" dur="26">
                                          <p:stCondLst>
                                            <p:cond delay="1312"/>
                                          </p:stCondLst>
                                        </p:cTn>
                                        <p:tgtEl>
                                          <p:spTgt spid="3">
                                            <p:txEl>
                                              <p:pRg st="6" end="6"/>
                                            </p:txEl>
                                          </p:spTgt>
                                        </p:tgtEl>
                                      </p:cBhvr>
                                      <p:to x="100000" y="80000"/>
                                    </p:animScale>
                                    <p:animScale>
                                      <p:cBhvr>
                                        <p:cTn id="43" dur="166" decel="50000">
                                          <p:stCondLst>
                                            <p:cond delay="1338"/>
                                          </p:stCondLst>
                                        </p:cTn>
                                        <p:tgtEl>
                                          <p:spTgt spid="3">
                                            <p:txEl>
                                              <p:pRg st="6" end="6"/>
                                            </p:txEl>
                                          </p:spTgt>
                                        </p:tgtEl>
                                      </p:cBhvr>
                                      <p:to x="100000" y="100000"/>
                                    </p:animScale>
                                    <p:animScale>
                                      <p:cBhvr>
                                        <p:cTn id="44" dur="26">
                                          <p:stCondLst>
                                            <p:cond delay="1642"/>
                                          </p:stCondLst>
                                        </p:cTn>
                                        <p:tgtEl>
                                          <p:spTgt spid="3">
                                            <p:txEl>
                                              <p:pRg st="6" end="6"/>
                                            </p:txEl>
                                          </p:spTgt>
                                        </p:tgtEl>
                                      </p:cBhvr>
                                      <p:to x="100000" y="90000"/>
                                    </p:animScale>
                                    <p:animScale>
                                      <p:cBhvr>
                                        <p:cTn id="45" dur="166" decel="50000">
                                          <p:stCondLst>
                                            <p:cond delay="1668"/>
                                          </p:stCondLst>
                                        </p:cTn>
                                        <p:tgtEl>
                                          <p:spTgt spid="3">
                                            <p:txEl>
                                              <p:pRg st="6" end="6"/>
                                            </p:txEl>
                                          </p:spTgt>
                                        </p:tgtEl>
                                      </p:cBhvr>
                                      <p:to x="100000" y="100000"/>
                                    </p:animScale>
                                    <p:animScale>
                                      <p:cBhvr>
                                        <p:cTn id="46" dur="26">
                                          <p:stCondLst>
                                            <p:cond delay="1808"/>
                                          </p:stCondLst>
                                        </p:cTn>
                                        <p:tgtEl>
                                          <p:spTgt spid="3">
                                            <p:txEl>
                                              <p:pRg st="6" end="6"/>
                                            </p:txEl>
                                          </p:spTgt>
                                        </p:tgtEl>
                                      </p:cBhvr>
                                      <p:to x="100000" y="95000"/>
                                    </p:animScale>
                                    <p:animScale>
                                      <p:cBhvr>
                                        <p:cTn id="47" dur="166" decel="50000">
                                          <p:stCondLst>
                                            <p:cond delay="1834"/>
                                          </p:stCondLst>
                                        </p:cTn>
                                        <p:tgtEl>
                                          <p:spTgt spid="3">
                                            <p:txEl>
                                              <p:pRg st="6" end="6"/>
                                            </p:txEl>
                                          </p:spTgt>
                                        </p:tgtEl>
                                      </p:cBhvr>
                                      <p:to x="100000" y="100000"/>
                                    </p:animScale>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500" fill="hold"/>
                                        <p:tgtEl>
                                          <p:spTgt spid="6"/>
                                        </p:tgtEl>
                                        <p:attrNameLst>
                                          <p:attrName>ppt_x</p:attrName>
                                        </p:attrNameLst>
                                      </p:cBhvr>
                                      <p:tavLst>
                                        <p:tav tm="0">
                                          <p:val>
                                            <p:strVal val="#ppt_x"/>
                                          </p:val>
                                        </p:tav>
                                        <p:tav tm="100000">
                                          <p:val>
                                            <p:strVal val="#ppt_x"/>
                                          </p:val>
                                        </p:tav>
                                      </p:tavLst>
                                    </p:anim>
                                    <p:anim calcmode="lin" valueType="num">
                                      <p:cBhvr additive="base">
                                        <p:cTn id="5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anim calcmode="lin" valueType="num">
                                      <p:cBhvr additive="base">
                                        <p:cTn id="58" dur="500" fill="hold"/>
                                        <p:tgtEl>
                                          <p:spTgt spid="9"/>
                                        </p:tgtEl>
                                        <p:attrNameLst>
                                          <p:attrName>ppt_x</p:attrName>
                                        </p:attrNameLst>
                                      </p:cBhvr>
                                      <p:tavLst>
                                        <p:tav tm="0">
                                          <p:val>
                                            <p:strVal val="#ppt_x"/>
                                          </p:val>
                                        </p:tav>
                                        <p:tav tm="100000">
                                          <p:val>
                                            <p:strVal val="#ppt_x"/>
                                          </p:val>
                                        </p:tav>
                                      </p:tavLst>
                                    </p:anim>
                                    <p:anim calcmode="lin" valueType="num">
                                      <p:cBhvr additive="base">
                                        <p:cTn id="5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barn(inVertical)">
                                      <p:cBhvr>
                                        <p:cTn id="6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885" y="1295400"/>
            <a:ext cx="8006715" cy="4953000"/>
          </a:xfrm>
        </p:spPr>
        <p:txBody>
          <a:bodyPr>
            <a:normAutofit lnSpcReduction="10000"/>
          </a:bodyPr>
          <a:lstStyle/>
          <a:p>
            <a:pPr marL="0" indent="0" algn="just">
              <a:buNone/>
            </a:pPr>
            <a:r>
              <a:rPr lang="en-US" sz="3200" b="1" u="sng" dirty="0">
                <a:latin typeface="Times New Roman" panose="02020603050405020304" pitchFamily="18" charset="0"/>
                <a:cs typeface="Times New Roman" panose="02020603050405020304" pitchFamily="18" charset="0"/>
              </a:rPr>
              <a:t>What is an electric charge?</a:t>
            </a:r>
          </a:p>
          <a:p>
            <a:pPr algn="just"/>
            <a:r>
              <a:rPr lang="en-US" sz="3200" dirty="0">
                <a:latin typeface="Times New Roman" panose="02020603050405020304" pitchFamily="18" charset="0"/>
                <a:cs typeface="Times New Roman" panose="02020603050405020304" pitchFamily="18" charset="0"/>
              </a:rPr>
              <a:t>It is a basic property of matter carried by some elementary particles (electron and proton).</a:t>
            </a:r>
          </a:p>
          <a:p>
            <a:pPr algn="just"/>
            <a:r>
              <a:rPr lang="en-US" sz="3200" dirty="0">
                <a:latin typeface="Times New Roman" panose="02020603050405020304" pitchFamily="18" charset="0"/>
                <a:cs typeface="Times New Roman" panose="02020603050405020304" pitchFamily="18" charset="0"/>
              </a:rPr>
              <a:t>It is a physical property of matter that causes it to experience a force when kept in an electromagnetic field.</a:t>
            </a:r>
            <a:endParaRPr lang="en-US" sz="3200" b="1" u="sng"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Charge is divided into two categories: positive and negative </a:t>
            </a:r>
            <a:r>
              <a:rPr lang="en-US" sz="3200" b="1" dirty="0">
                <a:latin typeface="Times New Roman" panose="02020603050405020304" pitchFamily="18" charset="0"/>
                <a:cs typeface="Times New Roman" panose="02020603050405020304" pitchFamily="18" charset="0"/>
              </a:rPr>
              <a:t>charges.</a:t>
            </a:r>
            <a:r>
              <a:rPr lang="en-US" sz="3200" dirty="0">
                <a:latin typeface="Times New Roman" panose="02020603050405020304" pitchFamily="18" charset="0"/>
                <a:cs typeface="Times New Roman" panose="02020603050405020304" pitchFamily="18" charset="0"/>
              </a:rPr>
              <a:t> </a:t>
            </a:r>
          </a:p>
          <a:p>
            <a:pPr algn="just"/>
            <a:r>
              <a:rPr lang="en-US" altLang="en-US" sz="3200" dirty="0">
                <a:latin typeface="Times New Roman" panose="02020603050405020304" pitchFamily="18" charset="0"/>
                <a:cs typeface="Times New Roman" panose="02020603050405020304" pitchFamily="18" charset="0"/>
              </a:rPr>
              <a:t>Charge is a property of particles</a:t>
            </a:r>
          </a:p>
          <a:p>
            <a:pPr algn="just"/>
            <a:endParaRPr lang="en-US" sz="3200" dirty="0">
              <a:latin typeface="Times New Roman" panose="02020603050405020304" pitchFamily="18" charset="0"/>
              <a:cs typeface="Times New Roman" panose="02020603050405020304" pitchFamily="18" charset="0"/>
            </a:endParaRPr>
          </a:p>
          <a:p>
            <a:endParaRPr lang="en-US" dirty="0"/>
          </a:p>
          <a:p>
            <a:endParaRPr lang="en-US" dirty="0"/>
          </a:p>
        </p:txBody>
      </p:sp>
      <p:sp>
        <p:nvSpPr>
          <p:cNvPr id="5" name="Title 4"/>
          <p:cNvSpPr>
            <a:spLocks noGrp="1"/>
          </p:cNvSpPr>
          <p:nvPr>
            <p:ph type="title"/>
          </p:nvPr>
        </p:nvSpPr>
        <p:spPr>
          <a:xfrm>
            <a:off x="1981200" y="228600"/>
            <a:ext cx="7886700" cy="686276"/>
          </a:xfrm>
        </p:spPr>
        <p:txBody>
          <a:bodyPr>
            <a:normAutofit fontScale="90000"/>
          </a:bodyPr>
          <a:lstStyle/>
          <a:p>
            <a:r>
              <a:rPr lang="en-US" sz="6000" dirty="0">
                <a:latin typeface="Algerian" panose="04020705040A02060702" pitchFamily="82" charset="0"/>
                <a:cs typeface="Algerian" panose="04020705040A02060702" pitchFamily="82" charset="0"/>
              </a:rPr>
              <a:t>Electric Charge</a:t>
            </a:r>
          </a:p>
        </p:txBody>
      </p:sp>
      <p:pic>
        <p:nvPicPr>
          <p:cNvPr id="6" name="Picture 5"/>
          <p:cNvPicPr>
            <a:picLocks noChangeAspect="1"/>
          </p:cNvPicPr>
          <p:nvPr/>
        </p:nvPicPr>
        <p:blipFill>
          <a:blip r:embed="rId2"/>
          <a:stretch>
            <a:fillRect/>
          </a:stretch>
        </p:blipFill>
        <p:spPr>
          <a:xfrm>
            <a:off x="8228965" y="718820"/>
            <a:ext cx="3847465" cy="5631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9"/>
    </mc:Choice>
    <mc:Fallback xmlns="">
      <p:transition spd="slow" advTm="1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8"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1" end="1"/>
                                            </p:txEl>
                                          </p:spTgt>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p:cTn id="12"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13"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3" end="3"/>
                                            </p:txEl>
                                          </p:spTgt>
                                        </p:tgtEl>
                                      </p:cBhvr>
                                    </p:animEffect>
                                  </p:childTnLst>
                                </p:cTn>
                              </p:par>
                              <p:par>
                                <p:cTn id="21" presetID="1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nvSpPr>
        <p:spPr>
          <a:xfrm>
            <a:off x="306070" y="990600"/>
            <a:ext cx="8229600" cy="54902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700" b="1" u="sng" dirty="0">
                <a:latin typeface="Times New Roman" panose="02020603050405020304" pitchFamily="18" charset="0"/>
                <a:cs typeface="Times New Roman" panose="02020603050405020304" pitchFamily="18" charset="0"/>
              </a:rPr>
              <a:t>Atom Basics</a:t>
            </a:r>
          </a:p>
          <a:p>
            <a:pPr eaLnBrk="1" hangingPunct="1"/>
            <a:r>
              <a:rPr lang="en-US" altLang="en-US" sz="2700" dirty="0">
                <a:latin typeface="Times New Roman" panose="02020603050405020304" pitchFamily="18" charset="0"/>
                <a:cs typeface="Times New Roman" panose="02020603050405020304" pitchFamily="18" charset="0"/>
              </a:rPr>
              <a:t>Atom is said to be electrically neutral because it has equal number of positive protons and negative electrons.</a:t>
            </a:r>
          </a:p>
          <a:p>
            <a:r>
              <a:rPr lang="en-US" sz="2700" dirty="0">
                <a:latin typeface="Times New Roman" panose="02020603050405020304" pitchFamily="18" charset="0"/>
                <a:cs typeface="Times New Roman" panose="02020603050405020304" pitchFamily="18" charset="0"/>
              </a:rPr>
              <a:t>An Object is said to be </a:t>
            </a:r>
            <a:r>
              <a:rPr lang="en-US" sz="2700" i="1" dirty="0">
                <a:latin typeface="Times New Roman" panose="02020603050405020304" pitchFamily="18" charset="0"/>
                <a:cs typeface="Times New Roman" panose="02020603050405020304" pitchFamily="18" charset="0"/>
              </a:rPr>
              <a:t>charged </a:t>
            </a:r>
            <a:r>
              <a:rPr lang="en-US" sz="2700" dirty="0">
                <a:latin typeface="Times New Roman" panose="02020603050405020304" pitchFamily="18" charset="0"/>
                <a:cs typeface="Times New Roman" panose="02020603050405020304" pitchFamily="18" charset="0"/>
              </a:rPr>
              <a:t>when it has an unequal electrons, of positive/negative charges.</a:t>
            </a:r>
          </a:p>
          <a:p>
            <a:r>
              <a:rPr lang="en-US" altLang="en-US" sz="2700" dirty="0">
                <a:latin typeface="Times New Roman" panose="02020603050405020304" pitchFamily="18" charset="0"/>
                <a:cs typeface="Times New Roman" panose="02020603050405020304" pitchFamily="18" charset="0"/>
              </a:rPr>
              <a:t>Only electrons move to create charges.</a:t>
            </a:r>
          </a:p>
          <a:p>
            <a:r>
              <a:rPr lang="en-US" altLang="en-US" sz="2700" dirty="0">
                <a:latin typeface="Times New Roman" panose="02020603050405020304" pitchFamily="18" charset="0"/>
                <a:cs typeface="Times New Roman" panose="02020603050405020304" pitchFamily="18" charset="0"/>
              </a:rPr>
              <a:t>When an object gains or loses electrons it becomes CHARGED!!!!</a:t>
            </a:r>
          </a:p>
          <a:p>
            <a:pPr eaLnBrk="1" hangingPunct="1"/>
            <a:r>
              <a:rPr lang="en-US" altLang="en-US" sz="2700" dirty="0">
                <a:latin typeface="Times New Roman" panose="02020603050405020304" pitchFamily="18" charset="0"/>
                <a:cs typeface="Times New Roman" panose="02020603050405020304" pitchFamily="18" charset="0"/>
              </a:rPr>
              <a:t>When atoms lose electrons, they become positively charged ions</a:t>
            </a:r>
          </a:p>
          <a:p>
            <a:pPr eaLnBrk="1" hangingPunct="1"/>
            <a:r>
              <a:rPr lang="en-US" altLang="en-US" sz="2700" dirty="0">
                <a:latin typeface="Times New Roman" panose="02020603050405020304" pitchFamily="18" charset="0"/>
                <a:cs typeface="Times New Roman" panose="02020603050405020304" pitchFamily="18" charset="0"/>
              </a:rPr>
              <a:t>When atoms gains electrons. they become negatively charged ions.</a:t>
            </a:r>
          </a:p>
        </p:txBody>
      </p:sp>
      <p:sp>
        <p:nvSpPr>
          <p:cNvPr id="5" name="Title 4"/>
          <p:cNvSpPr>
            <a:spLocks noGrp="1"/>
          </p:cNvSpPr>
          <p:nvPr/>
        </p:nvSpPr>
        <p:spPr>
          <a:xfrm>
            <a:off x="1981200" y="228600"/>
            <a:ext cx="7886700" cy="686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lgerian" panose="04020705040A02060702" pitchFamily="82" charset="0"/>
                <a:cs typeface="Algerian" panose="04020705040A02060702" pitchFamily="82" charset="0"/>
              </a:rPr>
              <a:t>Electric Charge</a:t>
            </a:r>
          </a:p>
        </p:txBody>
      </p:sp>
      <p:pic>
        <p:nvPicPr>
          <p:cNvPr id="8195" name="Picture 4" descr="16_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6305" y="621665"/>
            <a:ext cx="3461385" cy="5859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from="(-#ppt_w/2)" to="(#ppt_x)" calcmode="lin" valueType="num">
                                      <p:cBhvr>
                                        <p:cTn id="7" dur="300" fill="hold">
                                          <p:stCondLst>
                                            <p:cond delay="0"/>
                                          </p:stCondLst>
                                        </p:cTn>
                                        <p:tgtEl>
                                          <p:spTgt spid="4099">
                                            <p:txEl>
                                              <p:pRg st="0" end="0"/>
                                            </p:txEl>
                                          </p:spTgt>
                                        </p:tgtEl>
                                        <p:attrNameLst>
                                          <p:attrName>ppt_x</p:attrName>
                                        </p:attrNameLst>
                                      </p:cBhvr>
                                    </p:anim>
                                    <p:anim from="0" to="-1.0" calcmode="lin" valueType="num">
                                      <p:cBhvr>
                                        <p:cTn id="8" dur="100" decel="50000" autoRev="1" fill="hold">
                                          <p:stCondLst>
                                            <p:cond delay="300"/>
                                          </p:stCondLst>
                                        </p:cTn>
                                        <p:tgtEl>
                                          <p:spTgt spid="4099">
                                            <p:txEl>
                                              <p:pRg st="0" end="0"/>
                                            </p:txEl>
                                          </p:spTgt>
                                        </p:tgtEl>
                                        <p:attrNameLst>
                                          <p:attrName>xshear</p:attrName>
                                        </p:attrNameLst>
                                      </p:cBhvr>
                                    </p:anim>
                                    <p:animScale>
                                      <p:cBhvr>
                                        <p:cTn id="9" dur="100" decel="100000" autoRev="1" fill="hold">
                                          <p:stCondLst>
                                            <p:cond delay="300"/>
                                          </p:stCondLst>
                                        </p:cTn>
                                        <p:tgtEl>
                                          <p:spTgt spid="4099">
                                            <p:txEl>
                                              <p:pRg st="0" end="0"/>
                                            </p:txEl>
                                          </p:spTgt>
                                        </p:tgtEl>
                                      </p:cBhvr>
                                      <p:from x="100000" y="100000"/>
                                      <p:to x="80000" y="100000"/>
                                    </p:animScale>
                                    <p:anim by="(#ppt_h/3+#ppt_w*0.1)" calcmode="lin" valueType="num">
                                      <p:cBhvr additive="sum">
                                        <p:cTn id="10" dur="100" decel="100000" autoRev="1" fill="hold">
                                          <p:stCondLst>
                                            <p:cond delay="300"/>
                                          </p:stCondLst>
                                        </p:cTn>
                                        <p:tgtEl>
                                          <p:spTgt spid="4099">
                                            <p:txEl>
                                              <p:pRg st="0" end="0"/>
                                            </p:txEl>
                                          </p:spTgt>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4099">
                                            <p:txEl>
                                              <p:pRg st="1" end="1"/>
                                            </p:txEl>
                                          </p:spTgt>
                                        </p:tgtEl>
                                        <p:attrNameLst>
                                          <p:attrName>style.visibility</p:attrName>
                                        </p:attrNameLst>
                                      </p:cBhvr>
                                      <p:to>
                                        <p:strVal val="visible"/>
                                      </p:to>
                                    </p:set>
                                    <p:anim from="(-#ppt_w/2)" to="(#ppt_x)" calcmode="lin" valueType="num">
                                      <p:cBhvr>
                                        <p:cTn id="15" dur="300" fill="hold">
                                          <p:stCondLst>
                                            <p:cond delay="0"/>
                                          </p:stCondLst>
                                        </p:cTn>
                                        <p:tgtEl>
                                          <p:spTgt spid="4099">
                                            <p:txEl>
                                              <p:pRg st="1" end="1"/>
                                            </p:txEl>
                                          </p:spTgt>
                                        </p:tgtEl>
                                        <p:attrNameLst>
                                          <p:attrName>ppt_x</p:attrName>
                                        </p:attrNameLst>
                                      </p:cBhvr>
                                    </p:anim>
                                    <p:anim from="0" to="-1.0" calcmode="lin" valueType="num">
                                      <p:cBhvr>
                                        <p:cTn id="16" dur="100" decel="50000" autoRev="1" fill="hold">
                                          <p:stCondLst>
                                            <p:cond delay="300"/>
                                          </p:stCondLst>
                                        </p:cTn>
                                        <p:tgtEl>
                                          <p:spTgt spid="4099">
                                            <p:txEl>
                                              <p:pRg st="1" end="1"/>
                                            </p:txEl>
                                          </p:spTgt>
                                        </p:tgtEl>
                                        <p:attrNameLst>
                                          <p:attrName>xshear</p:attrName>
                                        </p:attrNameLst>
                                      </p:cBhvr>
                                    </p:anim>
                                    <p:animScale>
                                      <p:cBhvr>
                                        <p:cTn id="17" dur="100" decel="100000" autoRev="1" fill="hold">
                                          <p:stCondLst>
                                            <p:cond delay="300"/>
                                          </p:stCondLst>
                                        </p:cTn>
                                        <p:tgtEl>
                                          <p:spTgt spid="4099">
                                            <p:txEl>
                                              <p:pRg st="1" end="1"/>
                                            </p:txEl>
                                          </p:spTgt>
                                        </p:tgtEl>
                                      </p:cBhvr>
                                      <p:from x="100000" y="100000"/>
                                      <p:to x="80000" y="100000"/>
                                    </p:animScale>
                                    <p:anim by="(#ppt_h/3+#ppt_w*0.1)" calcmode="lin" valueType="num">
                                      <p:cBhvr additive="sum">
                                        <p:cTn id="18" dur="100" decel="100000" autoRev="1" fill="hold">
                                          <p:stCondLst>
                                            <p:cond delay="300"/>
                                          </p:stCondLst>
                                        </p:cTn>
                                        <p:tgtEl>
                                          <p:spTgt spid="4099">
                                            <p:txEl>
                                              <p:pRg st="1" end="1"/>
                                            </p:txEl>
                                          </p:spTgt>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4099">
                                            <p:txEl>
                                              <p:pRg st="2" end="2"/>
                                            </p:txEl>
                                          </p:spTgt>
                                        </p:tgtEl>
                                        <p:attrNameLst>
                                          <p:attrName>style.visibility</p:attrName>
                                        </p:attrNameLst>
                                      </p:cBhvr>
                                      <p:to>
                                        <p:strVal val="visible"/>
                                      </p:to>
                                    </p:set>
                                    <p:anim from="(-#ppt_w/2)" to="(#ppt_x)" calcmode="lin" valueType="num">
                                      <p:cBhvr>
                                        <p:cTn id="23" dur="300" fill="hold">
                                          <p:stCondLst>
                                            <p:cond delay="0"/>
                                          </p:stCondLst>
                                        </p:cTn>
                                        <p:tgtEl>
                                          <p:spTgt spid="4099">
                                            <p:txEl>
                                              <p:pRg st="2" end="2"/>
                                            </p:txEl>
                                          </p:spTgt>
                                        </p:tgtEl>
                                        <p:attrNameLst>
                                          <p:attrName>ppt_x</p:attrName>
                                        </p:attrNameLst>
                                      </p:cBhvr>
                                    </p:anim>
                                    <p:anim from="0" to="-1.0" calcmode="lin" valueType="num">
                                      <p:cBhvr>
                                        <p:cTn id="24" dur="100" decel="50000" autoRev="1" fill="hold">
                                          <p:stCondLst>
                                            <p:cond delay="300"/>
                                          </p:stCondLst>
                                        </p:cTn>
                                        <p:tgtEl>
                                          <p:spTgt spid="4099">
                                            <p:txEl>
                                              <p:pRg st="2" end="2"/>
                                            </p:txEl>
                                          </p:spTgt>
                                        </p:tgtEl>
                                        <p:attrNameLst>
                                          <p:attrName>xshear</p:attrName>
                                        </p:attrNameLst>
                                      </p:cBhvr>
                                    </p:anim>
                                    <p:animScale>
                                      <p:cBhvr>
                                        <p:cTn id="25" dur="100" decel="100000" autoRev="1" fill="hold">
                                          <p:stCondLst>
                                            <p:cond delay="300"/>
                                          </p:stCondLst>
                                        </p:cTn>
                                        <p:tgtEl>
                                          <p:spTgt spid="4099">
                                            <p:txEl>
                                              <p:pRg st="2" end="2"/>
                                            </p:txEl>
                                          </p:spTgt>
                                        </p:tgtEl>
                                      </p:cBhvr>
                                      <p:from x="100000" y="100000"/>
                                      <p:to x="80000" y="100000"/>
                                    </p:animScale>
                                    <p:anim by="(#ppt_h/3+#ppt_w*0.1)" calcmode="lin" valueType="num">
                                      <p:cBhvr additive="sum">
                                        <p:cTn id="26" dur="100" decel="100000" autoRev="1" fill="hold">
                                          <p:stCondLst>
                                            <p:cond delay="300"/>
                                          </p:stCondLst>
                                        </p:cTn>
                                        <p:tgtEl>
                                          <p:spTgt spid="4099">
                                            <p:txEl>
                                              <p:pRg st="2" end="2"/>
                                            </p:txEl>
                                          </p:spTgt>
                                        </p:tgtEl>
                                        <p:attrNameLst>
                                          <p:attrName>ppt_x</p:attrName>
                                        </p:attrNameLst>
                                      </p:cBhvr>
                                    </p:anim>
                                  </p:childTnLst>
                                </p:cTn>
                              </p:par>
                            </p:childTnLst>
                          </p:cTn>
                        </p:par>
                      </p:childTnLst>
                    </p:cTn>
                  </p:par>
                  <p:par>
                    <p:cTn id="27" fill="hold">
                      <p:stCondLst>
                        <p:cond delay="indefinite"/>
                      </p:stCondLst>
                      <p:childTnLst>
                        <p:par>
                          <p:cTn id="28" fill="hold">
                            <p:stCondLst>
                              <p:cond delay="0"/>
                            </p:stCondLst>
                            <p:childTnLst>
                              <p:par>
                                <p:cTn id="29" presetID="34" presetClass="entr" presetSubtype="0" fill="hold" grpId="0" nodeType="clickEffect">
                                  <p:stCondLst>
                                    <p:cond delay="0"/>
                                  </p:stCondLst>
                                  <p:childTnLst>
                                    <p:set>
                                      <p:cBhvr>
                                        <p:cTn id="30" dur="1" fill="hold">
                                          <p:stCondLst>
                                            <p:cond delay="0"/>
                                          </p:stCondLst>
                                        </p:cTn>
                                        <p:tgtEl>
                                          <p:spTgt spid="4099">
                                            <p:txEl>
                                              <p:pRg st="3" end="3"/>
                                            </p:txEl>
                                          </p:spTgt>
                                        </p:tgtEl>
                                        <p:attrNameLst>
                                          <p:attrName>style.visibility</p:attrName>
                                        </p:attrNameLst>
                                      </p:cBhvr>
                                      <p:to>
                                        <p:strVal val="visible"/>
                                      </p:to>
                                    </p:set>
                                    <p:anim from="(-#ppt_w/2)" to="(#ppt_x)" calcmode="lin" valueType="num">
                                      <p:cBhvr>
                                        <p:cTn id="31" dur="300" fill="hold">
                                          <p:stCondLst>
                                            <p:cond delay="0"/>
                                          </p:stCondLst>
                                        </p:cTn>
                                        <p:tgtEl>
                                          <p:spTgt spid="4099">
                                            <p:txEl>
                                              <p:pRg st="3" end="3"/>
                                            </p:txEl>
                                          </p:spTgt>
                                        </p:tgtEl>
                                        <p:attrNameLst>
                                          <p:attrName>ppt_x</p:attrName>
                                        </p:attrNameLst>
                                      </p:cBhvr>
                                    </p:anim>
                                    <p:anim from="0" to="-1.0" calcmode="lin" valueType="num">
                                      <p:cBhvr>
                                        <p:cTn id="32" dur="100" decel="50000" autoRev="1" fill="hold">
                                          <p:stCondLst>
                                            <p:cond delay="300"/>
                                          </p:stCondLst>
                                        </p:cTn>
                                        <p:tgtEl>
                                          <p:spTgt spid="4099">
                                            <p:txEl>
                                              <p:pRg st="3" end="3"/>
                                            </p:txEl>
                                          </p:spTgt>
                                        </p:tgtEl>
                                        <p:attrNameLst>
                                          <p:attrName>xshear</p:attrName>
                                        </p:attrNameLst>
                                      </p:cBhvr>
                                    </p:anim>
                                    <p:animScale>
                                      <p:cBhvr>
                                        <p:cTn id="33" dur="100" decel="100000" autoRev="1" fill="hold">
                                          <p:stCondLst>
                                            <p:cond delay="300"/>
                                          </p:stCondLst>
                                        </p:cTn>
                                        <p:tgtEl>
                                          <p:spTgt spid="4099">
                                            <p:txEl>
                                              <p:pRg st="3" end="3"/>
                                            </p:txEl>
                                          </p:spTgt>
                                        </p:tgtEl>
                                      </p:cBhvr>
                                      <p:from x="100000" y="100000"/>
                                      <p:to x="80000" y="100000"/>
                                    </p:animScale>
                                    <p:anim by="(#ppt_h/3+#ppt_w*0.1)" calcmode="lin" valueType="num">
                                      <p:cBhvr additive="sum">
                                        <p:cTn id="34" dur="100" decel="100000" autoRev="1" fill="hold">
                                          <p:stCondLst>
                                            <p:cond delay="300"/>
                                          </p:stCondLst>
                                        </p:cTn>
                                        <p:tgtEl>
                                          <p:spTgt spid="4099">
                                            <p:txEl>
                                              <p:pRg st="3" end="3"/>
                                            </p:txEl>
                                          </p:spTgt>
                                        </p:tgtEl>
                                        <p:attrNameLst>
                                          <p:attrName>ppt_x</p:attrName>
                                        </p:attrNameLst>
                                      </p:cBhvr>
                                    </p:anim>
                                  </p:childTnLst>
                                </p:cTn>
                              </p:par>
                            </p:childTnLst>
                          </p:cTn>
                        </p:par>
                      </p:childTnLst>
                    </p:cTn>
                  </p:par>
                  <p:par>
                    <p:cTn id="35" fill="hold">
                      <p:stCondLst>
                        <p:cond delay="indefinite"/>
                      </p:stCondLst>
                      <p:childTnLst>
                        <p:par>
                          <p:cTn id="36" fill="hold">
                            <p:stCondLst>
                              <p:cond delay="0"/>
                            </p:stCondLst>
                            <p:childTnLst>
                              <p:par>
                                <p:cTn id="37" presetID="34" presetClass="entr" presetSubtype="0" fill="hold" grpId="0" nodeType="clickEffect">
                                  <p:stCondLst>
                                    <p:cond delay="0"/>
                                  </p:stCondLst>
                                  <p:childTnLst>
                                    <p:set>
                                      <p:cBhvr>
                                        <p:cTn id="38" dur="1" fill="hold">
                                          <p:stCondLst>
                                            <p:cond delay="0"/>
                                          </p:stCondLst>
                                        </p:cTn>
                                        <p:tgtEl>
                                          <p:spTgt spid="4099">
                                            <p:txEl>
                                              <p:pRg st="4" end="4"/>
                                            </p:txEl>
                                          </p:spTgt>
                                        </p:tgtEl>
                                        <p:attrNameLst>
                                          <p:attrName>style.visibility</p:attrName>
                                        </p:attrNameLst>
                                      </p:cBhvr>
                                      <p:to>
                                        <p:strVal val="visible"/>
                                      </p:to>
                                    </p:set>
                                    <p:anim from="(-#ppt_w/2)" to="(#ppt_x)" calcmode="lin" valueType="num">
                                      <p:cBhvr>
                                        <p:cTn id="39" dur="300" fill="hold">
                                          <p:stCondLst>
                                            <p:cond delay="0"/>
                                          </p:stCondLst>
                                        </p:cTn>
                                        <p:tgtEl>
                                          <p:spTgt spid="4099">
                                            <p:txEl>
                                              <p:pRg st="4" end="4"/>
                                            </p:txEl>
                                          </p:spTgt>
                                        </p:tgtEl>
                                        <p:attrNameLst>
                                          <p:attrName>ppt_x</p:attrName>
                                        </p:attrNameLst>
                                      </p:cBhvr>
                                    </p:anim>
                                    <p:anim from="0" to="-1.0" calcmode="lin" valueType="num">
                                      <p:cBhvr>
                                        <p:cTn id="40" dur="100" decel="50000" autoRev="1" fill="hold">
                                          <p:stCondLst>
                                            <p:cond delay="300"/>
                                          </p:stCondLst>
                                        </p:cTn>
                                        <p:tgtEl>
                                          <p:spTgt spid="4099">
                                            <p:txEl>
                                              <p:pRg st="4" end="4"/>
                                            </p:txEl>
                                          </p:spTgt>
                                        </p:tgtEl>
                                        <p:attrNameLst>
                                          <p:attrName>xshear</p:attrName>
                                        </p:attrNameLst>
                                      </p:cBhvr>
                                    </p:anim>
                                    <p:animScale>
                                      <p:cBhvr>
                                        <p:cTn id="41" dur="100" decel="100000" autoRev="1" fill="hold">
                                          <p:stCondLst>
                                            <p:cond delay="300"/>
                                          </p:stCondLst>
                                        </p:cTn>
                                        <p:tgtEl>
                                          <p:spTgt spid="4099">
                                            <p:txEl>
                                              <p:pRg st="4" end="4"/>
                                            </p:txEl>
                                          </p:spTgt>
                                        </p:tgtEl>
                                      </p:cBhvr>
                                      <p:from x="100000" y="100000"/>
                                      <p:to x="80000" y="100000"/>
                                    </p:animScale>
                                    <p:anim by="(#ppt_h/3+#ppt_w*0.1)" calcmode="lin" valueType="num">
                                      <p:cBhvr additive="sum">
                                        <p:cTn id="42" dur="100" decel="100000" autoRev="1" fill="hold">
                                          <p:stCondLst>
                                            <p:cond delay="300"/>
                                          </p:stCondLst>
                                        </p:cTn>
                                        <p:tgtEl>
                                          <p:spTgt spid="4099">
                                            <p:txEl>
                                              <p:pRg st="4" end="4"/>
                                            </p:txEl>
                                          </p:spTgt>
                                        </p:tgtEl>
                                        <p:attrNameLst>
                                          <p:attrName>ppt_x</p:attrName>
                                        </p:attrNameLst>
                                      </p:cBhvr>
                                    </p:anim>
                                  </p:childTnLst>
                                </p:cTn>
                              </p:par>
                            </p:childTnLst>
                          </p:cTn>
                        </p:par>
                      </p:childTnLst>
                    </p:cTn>
                  </p:par>
                  <p:par>
                    <p:cTn id="43" fill="hold">
                      <p:stCondLst>
                        <p:cond delay="indefinite"/>
                      </p:stCondLst>
                      <p:childTnLst>
                        <p:par>
                          <p:cTn id="44" fill="hold">
                            <p:stCondLst>
                              <p:cond delay="0"/>
                            </p:stCondLst>
                            <p:childTnLst>
                              <p:par>
                                <p:cTn id="45" presetID="34" presetClass="entr" presetSubtype="0" fill="hold" grpId="0" nodeType="clickEffect">
                                  <p:stCondLst>
                                    <p:cond delay="0"/>
                                  </p:stCondLst>
                                  <p:childTnLst>
                                    <p:set>
                                      <p:cBhvr>
                                        <p:cTn id="46" dur="1" fill="hold">
                                          <p:stCondLst>
                                            <p:cond delay="0"/>
                                          </p:stCondLst>
                                        </p:cTn>
                                        <p:tgtEl>
                                          <p:spTgt spid="4099">
                                            <p:txEl>
                                              <p:pRg st="5" end="5"/>
                                            </p:txEl>
                                          </p:spTgt>
                                        </p:tgtEl>
                                        <p:attrNameLst>
                                          <p:attrName>style.visibility</p:attrName>
                                        </p:attrNameLst>
                                      </p:cBhvr>
                                      <p:to>
                                        <p:strVal val="visible"/>
                                      </p:to>
                                    </p:set>
                                    <p:anim from="(-#ppt_w/2)" to="(#ppt_x)" calcmode="lin" valueType="num">
                                      <p:cBhvr>
                                        <p:cTn id="47" dur="300" fill="hold">
                                          <p:stCondLst>
                                            <p:cond delay="0"/>
                                          </p:stCondLst>
                                        </p:cTn>
                                        <p:tgtEl>
                                          <p:spTgt spid="4099">
                                            <p:txEl>
                                              <p:pRg st="5" end="5"/>
                                            </p:txEl>
                                          </p:spTgt>
                                        </p:tgtEl>
                                        <p:attrNameLst>
                                          <p:attrName>ppt_x</p:attrName>
                                        </p:attrNameLst>
                                      </p:cBhvr>
                                    </p:anim>
                                    <p:anim from="0" to="-1.0" calcmode="lin" valueType="num">
                                      <p:cBhvr>
                                        <p:cTn id="48" dur="100" decel="50000" autoRev="1" fill="hold">
                                          <p:stCondLst>
                                            <p:cond delay="300"/>
                                          </p:stCondLst>
                                        </p:cTn>
                                        <p:tgtEl>
                                          <p:spTgt spid="4099">
                                            <p:txEl>
                                              <p:pRg st="5" end="5"/>
                                            </p:txEl>
                                          </p:spTgt>
                                        </p:tgtEl>
                                        <p:attrNameLst>
                                          <p:attrName>xshear</p:attrName>
                                        </p:attrNameLst>
                                      </p:cBhvr>
                                    </p:anim>
                                    <p:animScale>
                                      <p:cBhvr>
                                        <p:cTn id="49" dur="100" decel="100000" autoRev="1" fill="hold">
                                          <p:stCondLst>
                                            <p:cond delay="300"/>
                                          </p:stCondLst>
                                        </p:cTn>
                                        <p:tgtEl>
                                          <p:spTgt spid="4099">
                                            <p:txEl>
                                              <p:pRg st="5" end="5"/>
                                            </p:txEl>
                                          </p:spTgt>
                                        </p:tgtEl>
                                      </p:cBhvr>
                                      <p:from x="100000" y="100000"/>
                                      <p:to x="80000" y="100000"/>
                                    </p:animScale>
                                    <p:anim by="(#ppt_h/3+#ppt_w*0.1)" calcmode="lin" valueType="num">
                                      <p:cBhvr additive="sum">
                                        <p:cTn id="50" dur="100" decel="100000" autoRev="1" fill="hold">
                                          <p:stCondLst>
                                            <p:cond delay="300"/>
                                          </p:stCondLst>
                                        </p:cTn>
                                        <p:tgtEl>
                                          <p:spTgt spid="4099">
                                            <p:txEl>
                                              <p:pRg st="5" end="5"/>
                                            </p:txEl>
                                          </p:spTgt>
                                        </p:tgtEl>
                                        <p:attrNameLst>
                                          <p:attrName>ppt_x</p:attrName>
                                        </p:attrNameLst>
                                      </p:cBhvr>
                                    </p:anim>
                                  </p:childTnLst>
                                </p:cTn>
                              </p:par>
                            </p:childTnLst>
                          </p:cTn>
                        </p:par>
                      </p:childTnLst>
                    </p:cTn>
                  </p:par>
                  <p:par>
                    <p:cTn id="51" fill="hold">
                      <p:stCondLst>
                        <p:cond delay="indefinite"/>
                      </p:stCondLst>
                      <p:childTnLst>
                        <p:par>
                          <p:cTn id="52" fill="hold">
                            <p:stCondLst>
                              <p:cond delay="0"/>
                            </p:stCondLst>
                            <p:childTnLst>
                              <p:par>
                                <p:cTn id="53" presetID="34" presetClass="entr" presetSubtype="0" fill="hold" grpId="0" nodeType="clickEffect">
                                  <p:stCondLst>
                                    <p:cond delay="0"/>
                                  </p:stCondLst>
                                  <p:childTnLst>
                                    <p:set>
                                      <p:cBhvr>
                                        <p:cTn id="54" dur="1" fill="hold">
                                          <p:stCondLst>
                                            <p:cond delay="0"/>
                                          </p:stCondLst>
                                        </p:cTn>
                                        <p:tgtEl>
                                          <p:spTgt spid="4099">
                                            <p:txEl>
                                              <p:pRg st="6" end="6"/>
                                            </p:txEl>
                                          </p:spTgt>
                                        </p:tgtEl>
                                        <p:attrNameLst>
                                          <p:attrName>style.visibility</p:attrName>
                                        </p:attrNameLst>
                                      </p:cBhvr>
                                      <p:to>
                                        <p:strVal val="visible"/>
                                      </p:to>
                                    </p:set>
                                    <p:anim from="(-#ppt_w/2)" to="(#ppt_x)" calcmode="lin" valueType="num">
                                      <p:cBhvr>
                                        <p:cTn id="55" dur="300" fill="hold">
                                          <p:stCondLst>
                                            <p:cond delay="0"/>
                                          </p:stCondLst>
                                        </p:cTn>
                                        <p:tgtEl>
                                          <p:spTgt spid="4099">
                                            <p:txEl>
                                              <p:pRg st="6" end="6"/>
                                            </p:txEl>
                                          </p:spTgt>
                                        </p:tgtEl>
                                        <p:attrNameLst>
                                          <p:attrName>ppt_x</p:attrName>
                                        </p:attrNameLst>
                                      </p:cBhvr>
                                    </p:anim>
                                    <p:anim from="0" to="-1.0" calcmode="lin" valueType="num">
                                      <p:cBhvr>
                                        <p:cTn id="56" dur="100" decel="50000" autoRev="1" fill="hold">
                                          <p:stCondLst>
                                            <p:cond delay="300"/>
                                          </p:stCondLst>
                                        </p:cTn>
                                        <p:tgtEl>
                                          <p:spTgt spid="4099">
                                            <p:txEl>
                                              <p:pRg st="6" end="6"/>
                                            </p:txEl>
                                          </p:spTgt>
                                        </p:tgtEl>
                                        <p:attrNameLst>
                                          <p:attrName>xshear</p:attrName>
                                        </p:attrNameLst>
                                      </p:cBhvr>
                                    </p:anim>
                                    <p:animScale>
                                      <p:cBhvr>
                                        <p:cTn id="57" dur="100" decel="100000" autoRev="1" fill="hold">
                                          <p:stCondLst>
                                            <p:cond delay="300"/>
                                          </p:stCondLst>
                                        </p:cTn>
                                        <p:tgtEl>
                                          <p:spTgt spid="4099">
                                            <p:txEl>
                                              <p:pRg st="6" end="6"/>
                                            </p:txEl>
                                          </p:spTgt>
                                        </p:tgtEl>
                                      </p:cBhvr>
                                      <p:from x="100000" y="100000"/>
                                      <p:to x="80000" y="100000"/>
                                    </p:animScale>
                                    <p:anim by="(#ppt_h/3+#ppt_w*0.1)" calcmode="lin" valueType="num">
                                      <p:cBhvr additive="sum">
                                        <p:cTn id="58" dur="100" decel="100000" autoRev="1" fill="hold">
                                          <p:stCondLst>
                                            <p:cond delay="300"/>
                                          </p:stCondLst>
                                        </p:cTn>
                                        <p:tgtEl>
                                          <p:spTgt spid="4099">
                                            <p:txEl>
                                              <p:pRg st="6" end="6"/>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581275" y="130175"/>
            <a:ext cx="6823982" cy="892810"/>
          </a:xfrm>
          <a:prstGeom prst="rect">
            <a:avLst/>
          </a:prstGeom>
          <a:noFill/>
        </p:spPr>
        <p:txBody>
          <a:bodyPr wrap="square" rtlCol="0" anchor="t">
            <a:noAutofit/>
          </a:bodyPr>
          <a:lstStyle/>
          <a:p>
            <a:r>
              <a:rPr lang="en-US" sz="5400" dirty="0">
                <a:latin typeface="Algerian" panose="04020705040A02060702" pitchFamily="82" charset="0"/>
                <a:cs typeface="Algerian" panose="04020705040A02060702" pitchFamily="82" charset="0"/>
              </a:rPr>
              <a:t>ELECTRIC CHARGE</a:t>
            </a:r>
          </a:p>
          <a:p>
            <a:endParaRPr lang="en-US" sz="5400" dirty="0">
              <a:latin typeface="Algerian" panose="04020705040A02060702" pitchFamily="82" charset="0"/>
              <a:cs typeface="Algerian" panose="04020705040A02060702" pitchFamily="82" charset="0"/>
            </a:endParaRPr>
          </a:p>
        </p:txBody>
      </p:sp>
      <p:sp>
        <p:nvSpPr>
          <p:cNvPr id="5" name="Text Box 4"/>
          <p:cNvSpPr txBox="1"/>
          <p:nvPr/>
        </p:nvSpPr>
        <p:spPr>
          <a:xfrm>
            <a:off x="231775" y="1326515"/>
            <a:ext cx="5864860" cy="2676525"/>
          </a:xfrm>
          <a:prstGeom prst="rect">
            <a:avLst/>
          </a:prstGeom>
          <a:noFill/>
        </p:spPr>
        <p:txBody>
          <a:bodyPr wrap="square" rtlCol="0" anchor="t">
            <a:spAutoFit/>
          </a:bodyPr>
          <a:lstStyle/>
          <a:p>
            <a:pPr algn="just"/>
            <a:r>
              <a:rPr lang="en-US" sz="2800" i="1">
                <a:latin typeface="Times New Roman" panose="02020603050405020304" pitchFamily="18" charset="0"/>
                <a:cs typeface="Times New Roman" panose="02020603050405020304" pitchFamily="18" charset="0"/>
              </a:rPr>
              <a:t>The ancient Greeks discovered as early as 600 b.c. that after </a:t>
            </a:r>
            <a:r>
              <a:rPr lang="en-US" sz="2800" b="1" i="1">
                <a:latin typeface="Times New Roman" panose="02020603050405020304" pitchFamily="18" charset="0"/>
                <a:cs typeface="Times New Roman" panose="02020603050405020304" pitchFamily="18" charset="0"/>
              </a:rPr>
              <a:t>they rubbed amber with wool</a:t>
            </a:r>
            <a:r>
              <a:rPr lang="en-US" sz="2800" i="1">
                <a:latin typeface="Times New Roman" panose="02020603050405020304" pitchFamily="18" charset="0"/>
                <a:cs typeface="Times New Roman" panose="02020603050405020304" pitchFamily="18" charset="0"/>
              </a:rPr>
              <a:t>, the amber could attract other objects. </a:t>
            </a:r>
            <a:r>
              <a:rPr lang="en-US" sz="2800">
                <a:latin typeface="Times New Roman" panose="02020603050405020304" pitchFamily="18" charset="0"/>
                <a:cs typeface="Times New Roman" panose="02020603050405020304" pitchFamily="18" charset="0"/>
              </a:rPr>
              <a:t>Today we say that the amber has acquired a net electric charge, or has become charged</a:t>
            </a:r>
          </a:p>
        </p:txBody>
      </p:sp>
      <p:sp>
        <p:nvSpPr>
          <p:cNvPr id="6" name="Text Box 5"/>
          <p:cNvSpPr txBox="1"/>
          <p:nvPr/>
        </p:nvSpPr>
        <p:spPr>
          <a:xfrm>
            <a:off x="231775" y="4415790"/>
            <a:ext cx="6052185" cy="953135"/>
          </a:xfrm>
          <a:prstGeom prst="rect">
            <a:avLst/>
          </a:prstGeom>
          <a:noFill/>
        </p:spPr>
        <p:txBody>
          <a:bodyPr wrap="square" rtlCol="0" anchor="t">
            <a:spAutoFit/>
          </a:bodyPr>
          <a:lstStyle/>
          <a:p>
            <a:pPr algn="just"/>
            <a:r>
              <a:rPr lang="en-US" sz="2800">
                <a:latin typeface="Times New Roman" panose="02020603050405020304" pitchFamily="18" charset="0"/>
                <a:cs typeface="Times New Roman" panose="02020603050405020304" pitchFamily="18" charset="0"/>
              </a:rPr>
              <a:t>The word </a:t>
            </a:r>
            <a:r>
              <a:rPr lang="en-US" sz="2800">
                <a:solidFill>
                  <a:srgbClr val="FF0000"/>
                </a:solidFill>
                <a:latin typeface="Times New Roman" panose="02020603050405020304" pitchFamily="18" charset="0"/>
                <a:cs typeface="Times New Roman" panose="02020603050405020304" pitchFamily="18" charset="0"/>
              </a:rPr>
              <a:t>“electric”</a:t>
            </a:r>
            <a:r>
              <a:rPr lang="en-US" sz="2800">
                <a:latin typeface="Times New Roman" panose="02020603050405020304" pitchFamily="18" charset="0"/>
                <a:cs typeface="Times New Roman" panose="02020603050405020304" pitchFamily="18" charset="0"/>
              </a:rPr>
              <a:t> is derived from the Greek word elektron, </a:t>
            </a:r>
            <a:r>
              <a:rPr lang="en-US" sz="2800" b="1">
                <a:latin typeface="Times New Roman" panose="02020603050405020304" pitchFamily="18" charset="0"/>
                <a:cs typeface="Times New Roman" panose="02020603050405020304" pitchFamily="18" charset="0"/>
              </a:rPr>
              <a:t>meaning amber</a:t>
            </a:r>
            <a:r>
              <a:rPr lang="en-US" sz="2800">
                <a:latin typeface="Times New Roman" panose="02020603050405020304" pitchFamily="18" charset="0"/>
                <a:cs typeface="Times New Roman" panose="02020603050405020304" pitchFamily="18" charset="0"/>
              </a:rPr>
              <a:t>.</a:t>
            </a:r>
          </a:p>
        </p:txBody>
      </p:sp>
      <p:sp>
        <p:nvSpPr>
          <p:cNvPr id="7" name="Text Box 6"/>
          <p:cNvSpPr txBox="1"/>
          <p:nvPr/>
        </p:nvSpPr>
        <p:spPr>
          <a:xfrm>
            <a:off x="6418580" y="1326515"/>
            <a:ext cx="5497830" cy="5262245"/>
          </a:xfrm>
          <a:prstGeom prst="rect">
            <a:avLst/>
          </a:prstGeom>
          <a:noFill/>
        </p:spPr>
        <p:txBody>
          <a:bodyPr wrap="square" rtlCol="0" anchor="t">
            <a:spAutoFit/>
          </a:bodyPr>
          <a:lstStyle/>
          <a:p>
            <a:pPr marL="0" indent="0" algn="just">
              <a:buNone/>
            </a:pPr>
            <a:r>
              <a:rPr lang="en-US" sz="2800" b="1" u="sng" dirty="0">
                <a:latin typeface="Times New Roman" panose="02020603050405020304" pitchFamily="18" charset="0"/>
                <a:cs typeface="Times New Roman" panose="02020603050405020304" pitchFamily="18" charset="0"/>
                <a:sym typeface="+mn-ea"/>
              </a:rPr>
              <a:t>What is Electrostatics?</a:t>
            </a:r>
            <a:endParaRPr lang="en-US" sz="2800" b="1" u="sng" dirty="0">
              <a:latin typeface="Times New Roman" panose="02020603050405020304" pitchFamily="18" charset="0"/>
              <a:cs typeface="Times New Roman" panose="02020603050405020304" pitchFamily="18" charset="0"/>
            </a:endParaRPr>
          </a:p>
          <a:p>
            <a:pPr algn="just"/>
            <a:r>
              <a:rPr lang="en-US" altLang="en-US" sz="2800" dirty="0">
                <a:latin typeface="Times New Roman" panose="02020603050405020304" pitchFamily="18" charset="0"/>
                <a:cs typeface="Times New Roman" panose="02020603050405020304" pitchFamily="18" charset="0"/>
                <a:sym typeface="+mn-ea"/>
              </a:rPr>
              <a:t>It is the branch of physics that studies the nature of charges that is not moving.</a:t>
            </a:r>
          </a:p>
          <a:p>
            <a:pPr algn="just"/>
            <a:endParaRPr lang="en-US" alt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sym typeface="+mn-ea"/>
              </a:rPr>
              <a:t>It is the branch of physics that studies electric charges at rest. The study of STATIC ELECTRICITY.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sym typeface="+mn-ea"/>
              </a:rPr>
              <a:t>Static electricity is electrical charges that can be collected and held in one place.</a:t>
            </a:r>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p:tgtEl>
                                          <p:spTgt spid="7"/>
                                        </p:tgtEl>
                                        <p:attrNameLst>
                                          <p:attrName>ppt_y</p:attrName>
                                        </p:attrNameLst>
                                      </p:cBhvr>
                                      <p:tavLst>
                                        <p:tav tm="0">
                                          <p:val>
                                            <p:strVal val="#ppt_y+#ppt_h*1.125000"/>
                                          </p:val>
                                        </p:tav>
                                        <p:tav tm="100000">
                                          <p:val>
                                            <p:strVal val="#ppt_y"/>
                                          </p:val>
                                        </p:tav>
                                      </p:tavLst>
                                    </p:anim>
                                    <p:animEffect transition="in" filter="wipe(up)">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581275" y="130175"/>
            <a:ext cx="7846060" cy="892810"/>
          </a:xfrm>
          <a:prstGeom prst="rect">
            <a:avLst/>
          </a:prstGeom>
          <a:noFill/>
        </p:spPr>
        <p:txBody>
          <a:bodyPr wrap="square" rtlCol="0" anchor="t">
            <a:noAutofit/>
          </a:bodyPr>
          <a:lstStyle/>
          <a:p>
            <a:r>
              <a:rPr lang="en-US" sz="5400">
                <a:latin typeface="Algerian" panose="04020705040A02060702" pitchFamily="82" charset="0"/>
                <a:cs typeface="Algerian" panose="04020705040A02060702" pitchFamily="82" charset="0"/>
              </a:rPr>
              <a:t>ELECTRIC CHARGE</a:t>
            </a:r>
          </a:p>
          <a:p>
            <a:endParaRPr lang="en-US" sz="5400">
              <a:latin typeface="Algerian" panose="04020705040A02060702" pitchFamily="82" charset="0"/>
              <a:cs typeface="Algerian" panose="04020705040A02060702" pitchFamily="82" charset="0"/>
            </a:endParaRPr>
          </a:p>
        </p:txBody>
      </p:sp>
      <p:pic>
        <p:nvPicPr>
          <p:cNvPr id="5" name="Picture 4"/>
          <p:cNvPicPr>
            <a:picLocks noChangeAspect="1"/>
          </p:cNvPicPr>
          <p:nvPr/>
        </p:nvPicPr>
        <p:blipFill>
          <a:blip r:embed="rId2"/>
          <a:stretch>
            <a:fillRect/>
          </a:stretch>
        </p:blipFill>
        <p:spPr>
          <a:xfrm>
            <a:off x="420370" y="1149985"/>
            <a:ext cx="11569700" cy="54756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3"/>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nvSpPr>
        <p:spPr>
          <a:xfrm>
            <a:off x="253365" y="922020"/>
            <a:ext cx="8770620" cy="573468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b="1" u="sng" dirty="0">
                <a:latin typeface="Times New Roman" panose="02020603050405020304" pitchFamily="18" charset="0"/>
                <a:cs typeface="Times New Roman" panose="02020603050405020304" pitchFamily="18" charset="0"/>
              </a:rPr>
              <a:t>Fundamental laws of charges</a:t>
            </a:r>
          </a:p>
          <a:p>
            <a:r>
              <a:rPr lang="en-US" altLang="en-US" dirty="0">
                <a:latin typeface="Times New Roman" panose="02020603050405020304" pitchFamily="18" charset="0"/>
                <a:cs typeface="Times New Roman" panose="02020603050405020304" pitchFamily="18" charset="0"/>
              </a:rPr>
              <a:t>Unlike charges attract while like charges repel.</a:t>
            </a: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This force of attraction or repulsion between charged particles is called the ELECTRIC FORCE</a:t>
            </a:r>
          </a:p>
          <a:p>
            <a:r>
              <a:rPr lang="en-US" altLang="en-US" dirty="0">
                <a:latin typeface="Times New Roman" panose="02020603050405020304" pitchFamily="18" charset="0"/>
                <a:cs typeface="Times New Roman" panose="02020603050405020304" pitchFamily="18" charset="0"/>
              </a:rPr>
              <a:t>And the fact that these + or – particles in matter carry electric charge, this is the basic idea of electricity.</a:t>
            </a:r>
          </a:p>
          <a:p>
            <a:endParaRPr lang="en-US" dirty="0">
              <a:latin typeface="Times New Roman" panose="02020603050405020304" pitchFamily="18" charset="0"/>
              <a:cs typeface="Times New Roman" panose="02020603050405020304" pitchFamily="18" charset="0"/>
            </a:endParaRPr>
          </a:p>
        </p:txBody>
      </p:sp>
      <p:sp>
        <p:nvSpPr>
          <p:cNvPr id="5" name="Title 4"/>
          <p:cNvSpPr>
            <a:spLocks noGrp="1"/>
          </p:cNvSpPr>
          <p:nvPr/>
        </p:nvSpPr>
        <p:spPr>
          <a:xfrm>
            <a:off x="1981200" y="228600"/>
            <a:ext cx="7886700" cy="686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lgerian" panose="04020705040A02060702" pitchFamily="82" charset="0"/>
                <a:cs typeface="Algerian" panose="04020705040A02060702" pitchFamily="82" charset="0"/>
              </a:rPr>
              <a:t>Electric Charge</a:t>
            </a:r>
          </a:p>
        </p:txBody>
      </p:sp>
      <p:pic>
        <p:nvPicPr>
          <p:cNvPr id="6" name="Picture 2" descr="Figure15-02"/>
          <p:cNvPicPr>
            <a:picLocks noChangeAspect="1" noChangeArrowheads="1"/>
          </p:cNvPicPr>
          <p:nvPr/>
        </p:nvPicPr>
        <p:blipFill rotWithShape="1">
          <a:blip r:embed="rId2">
            <a:extLst>
              <a:ext uri="{28A0092B-C50C-407E-A947-70E740481C1C}">
                <a14:useLocalDpi xmlns:a14="http://schemas.microsoft.com/office/drawing/2010/main" val="0"/>
              </a:ext>
            </a:extLst>
          </a:blip>
          <a:srcRect b="9485"/>
          <a:stretch>
            <a:fillRect/>
          </a:stretch>
        </p:blipFill>
        <p:spPr bwMode="auto">
          <a:xfrm>
            <a:off x="728028" y="2047212"/>
            <a:ext cx="7146925" cy="237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4" descr="16_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6305" y="621665"/>
            <a:ext cx="3461385" cy="5859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1178"/>
            <a:ext cx="8229600" cy="498423"/>
          </a:xfrm>
        </p:spPr>
        <p:txBody>
          <a:bodyPr>
            <a:normAutofit fontScale="90000"/>
          </a:bodyPr>
          <a:lstStyle/>
          <a:p>
            <a:r>
              <a:rPr lang="en-US" sz="4890" dirty="0">
                <a:latin typeface="Algerian" panose="04020705040A02060702" pitchFamily="82" charset="0"/>
                <a:cs typeface="Algerian" panose="04020705040A02060702" pitchFamily="82" charset="0"/>
              </a:rPr>
              <a:t>Conductors and Insulators </a:t>
            </a:r>
          </a:p>
        </p:txBody>
      </p:sp>
      <p:sp>
        <p:nvSpPr>
          <p:cNvPr id="3" name="Content Placeholder 2"/>
          <p:cNvSpPr>
            <a:spLocks noGrp="1"/>
          </p:cNvSpPr>
          <p:nvPr>
            <p:ph idx="1"/>
          </p:nvPr>
        </p:nvSpPr>
        <p:spPr>
          <a:xfrm>
            <a:off x="297815" y="685800"/>
            <a:ext cx="11614785" cy="6172200"/>
          </a:xfrm>
        </p:spPr>
        <p:txBody>
          <a:bodyPr>
            <a:noAutofit/>
          </a:bodyPr>
          <a:lstStyle/>
          <a:p>
            <a:pPr marL="0" indent="0" algn="just">
              <a:buNone/>
            </a:pPr>
            <a:r>
              <a:rPr lang="en-US" sz="2700" b="1" dirty="0">
                <a:latin typeface="Algerian" panose="04020705040A02060702" pitchFamily="82" charset="0"/>
                <a:cs typeface="Algerian" panose="04020705040A02060702" pitchFamily="82" charset="0"/>
              </a:rPr>
              <a:t>Conductors</a:t>
            </a:r>
          </a:p>
          <a:p>
            <a:pPr algn="just"/>
            <a:r>
              <a:rPr lang="en-US" sz="2700" dirty="0">
                <a:latin typeface="Times New Roman" panose="02020603050405020304" pitchFamily="18" charset="0"/>
                <a:cs typeface="Times New Roman" panose="02020603050405020304" pitchFamily="18" charset="0"/>
              </a:rPr>
              <a:t>They are materials that permit electrons to flow freely from particle to particle; allows electricity pass through them easily. E.g. copper, iron and steel</a:t>
            </a:r>
          </a:p>
          <a:p>
            <a:pPr algn="just"/>
            <a:r>
              <a:rPr lang="en-US" sz="2700" dirty="0">
                <a:latin typeface="Times New Roman" panose="02020603050405020304" pitchFamily="18" charset="0"/>
                <a:cs typeface="Times New Roman" panose="02020603050405020304" pitchFamily="18" charset="0"/>
              </a:rPr>
              <a:t>An object made of a conducting material will permit charge to be transferred across the entire surface of the object. If charge is transferred to the object at a given location, that charge is quickly distributed across the entire surface of the object. The distribution of charge is the result of electron movement. </a:t>
            </a:r>
          </a:p>
          <a:p>
            <a:pPr marL="0" indent="0" algn="just">
              <a:buNone/>
            </a:pPr>
            <a:r>
              <a:rPr lang="en-US" sz="2700" b="1" dirty="0">
                <a:latin typeface="Algerian" panose="04020705040A02060702" pitchFamily="82" charset="0"/>
                <a:cs typeface="Algerian" panose="04020705040A02060702" pitchFamily="82" charset="0"/>
              </a:rPr>
              <a:t>Insulators</a:t>
            </a:r>
            <a:r>
              <a:rPr lang="en-US" sz="2700" dirty="0">
                <a:latin typeface="Algerian" panose="04020705040A02060702" pitchFamily="82" charset="0"/>
                <a:cs typeface="Algerian" panose="04020705040A02060702" pitchFamily="82" charset="0"/>
              </a:rPr>
              <a:t> </a:t>
            </a:r>
          </a:p>
          <a:p>
            <a:pPr algn="just"/>
            <a:r>
              <a:rPr lang="en-US" sz="2700" dirty="0">
                <a:latin typeface="Times New Roman" panose="02020603050405020304" pitchFamily="18" charset="0"/>
                <a:cs typeface="Times New Roman" panose="02020603050405020304" pitchFamily="18" charset="0"/>
              </a:rPr>
              <a:t>They are materials that impede the free flow of electrons from atom to atom; do not allow electricity to pass through them. E.g. </a:t>
            </a:r>
            <a:r>
              <a:rPr lang="en-US" sz="2700" b="1" dirty="0">
                <a:latin typeface="Times New Roman" panose="02020603050405020304" pitchFamily="18" charset="0"/>
                <a:cs typeface="Times New Roman" panose="02020603050405020304" pitchFamily="18" charset="0"/>
              </a:rPr>
              <a:t>Plastic, wood, glass </a:t>
            </a:r>
            <a:r>
              <a:rPr lang="en-US" sz="2700" dirty="0">
                <a:latin typeface="Times New Roman" panose="02020603050405020304" pitchFamily="18" charset="0"/>
                <a:cs typeface="Times New Roman" panose="02020603050405020304" pitchFamily="18" charset="0"/>
              </a:rPr>
              <a:t>and </a:t>
            </a:r>
            <a:r>
              <a:rPr lang="en-US" sz="2700" b="1" dirty="0">
                <a:latin typeface="Times New Roman" panose="02020603050405020304" pitchFamily="18" charset="0"/>
                <a:cs typeface="Times New Roman" panose="02020603050405020304" pitchFamily="18" charset="0"/>
              </a:rPr>
              <a:t>rubber.</a:t>
            </a:r>
            <a:endParaRPr lang="en-US" sz="2700" dirty="0">
              <a:latin typeface="Times New Roman" panose="02020603050405020304" pitchFamily="18" charset="0"/>
              <a:cs typeface="Times New Roman" panose="02020603050405020304" pitchFamily="18" charset="0"/>
            </a:endParaRPr>
          </a:p>
          <a:p>
            <a:pPr algn="just"/>
            <a:r>
              <a:rPr lang="en-US" sz="2700" dirty="0">
                <a:latin typeface="Times New Roman" panose="02020603050405020304" pitchFamily="18" charset="0"/>
                <a:cs typeface="Times New Roman" panose="02020603050405020304" pitchFamily="18" charset="0"/>
              </a:rPr>
              <a:t>If charge is transferred to an insulator at a given location, the excess charge will remain at the initial location of charging. The particles of the insulator do not permit the free flow of electrons; subsequently charge is seldom distributed evenly across the surface of an insulator.</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55"/>
    </mc:Choice>
    <mc:Fallback xmlns="">
      <p:transition spd="slow" advTm="5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4" end="4"/>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nvSpPr>
        <p:spPr>
          <a:xfrm>
            <a:off x="1981200" y="170815"/>
            <a:ext cx="7886700" cy="686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Algerian" panose="04020705040A02060702" pitchFamily="82" charset="0"/>
                <a:cs typeface="Algerian" panose="04020705040A02060702" pitchFamily="82" charset="0"/>
              </a:rPr>
              <a:t>Method of  Charging </a:t>
            </a:r>
          </a:p>
        </p:txBody>
      </p:sp>
      <p:sp>
        <p:nvSpPr>
          <p:cNvPr id="6" name="Text Box 5"/>
          <p:cNvSpPr txBox="1"/>
          <p:nvPr/>
        </p:nvSpPr>
        <p:spPr>
          <a:xfrm>
            <a:off x="143510" y="857250"/>
            <a:ext cx="8240395" cy="5651500"/>
          </a:xfrm>
          <a:prstGeom prst="rect">
            <a:avLst/>
          </a:prstGeom>
          <a:noFill/>
        </p:spPr>
        <p:txBody>
          <a:bodyPr wrap="square" rtlCol="0" anchor="t">
            <a:noAutofit/>
          </a:bodyPr>
          <a:lstStyle/>
          <a:p>
            <a:pPr algn="just"/>
            <a:r>
              <a:rPr lang="en-US" sz="3200" dirty="0">
                <a:latin typeface="Times New Roman" panose="02020603050405020304" pitchFamily="18" charset="0"/>
                <a:cs typeface="Times New Roman" panose="02020603050405020304" pitchFamily="18" charset="0"/>
                <a:sym typeface="+mn-ea"/>
              </a:rPr>
              <a:t>Charging means gaining or losing electron.</a:t>
            </a:r>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Material losing electron is positively charged while material gaining electron is negatively charged. </a:t>
            </a:r>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The number of  electrons gained by a material is equal to the number of electrons lost by the other material. </a:t>
            </a:r>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sym typeface="+mn-ea"/>
              </a:rPr>
              <a:t>There are three ways a material can be charged:</a:t>
            </a:r>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 charging by friction (rubbing)</a:t>
            </a:r>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 charging by contact (conduction) and </a:t>
            </a:r>
            <a:endParaRPr lang="en-US" sz="32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sym typeface="+mn-ea"/>
              </a:rPr>
              <a:t> charging by induction. </a:t>
            </a:r>
          </a:p>
        </p:txBody>
      </p:sp>
      <p:pic>
        <p:nvPicPr>
          <p:cNvPr id="7" name="Picture 6"/>
          <p:cNvPicPr>
            <a:picLocks noChangeAspect="1"/>
          </p:cNvPicPr>
          <p:nvPr/>
        </p:nvPicPr>
        <p:blipFill>
          <a:blip r:embed="rId2"/>
          <a:stretch>
            <a:fillRect/>
          </a:stretch>
        </p:blipFill>
        <p:spPr>
          <a:xfrm>
            <a:off x="8383905" y="710565"/>
            <a:ext cx="3808095" cy="5961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circle(in)">
                                      <p:cBhvr>
                                        <p:cTn id="18" dur="2000"/>
                                        <p:tgtEl>
                                          <p:spTgt spid="6">
                                            <p:txEl>
                                              <p:pRg st="4" end="4"/>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circle(in)">
                                      <p:cBhvr>
                                        <p:cTn id="21" dur="2000"/>
                                        <p:tgtEl>
                                          <p:spTgt spid="6">
                                            <p:txEl>
                                              <p:pRg st="5" end="5"/>
                                            </p:txEl>
                                          </p:spTgt>
                                        </p:tgtEl>
                                      </p:cBhvr>
                                    </p:animEffect>
                                  </p:childTnLst>
                                </p:cTn>
                              </p:par>
                              <p:par>
                                <p:cTn id="22" presetID="6" presetClass="entr" presetSubtype="16"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circle(in)">
                                      <p:cBhvr>
                                        <p:cTn id="24" dur="2000"/>
                                        <p:tgtEl>
                                          <p:spTgt spid="6">
                                            <p:txEl>
                                              <p:pRg st="6" end="6"/>
                                            </p:txEl>
                                          </p:spTgt>
                                        </p:tgtEl>
                                      </p:cBhvr>
                                    </p:animEffect>
                                  </p:childTnLst>
                                </p:cTn>
                              </p:par>
                              <p:par>
                                <p:cTn id="25" presetID="6" presetClass="entr" presetSubtype="16"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circle(in)">
                                      <p:cBhvr>
                                        <p:cTn id="27" dur="20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nvSpPr>
        <p:spPr>
          <a:xfrm>
            <a:off x="121920" y="1060450"/>
            <a:ext cx="8002270" cy="563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Charging by Friction (rubbing)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two neutral objects are rubbed against each other, one object may pull electrons away from the other creating one positive object and one negative object. This is known as charging by friction. This charging takes place in insulators only. Example: </a:t>
            </a:r>
          </a:p>
          <a:p>
            <a:r>
              <a:rPr lang="en-US" dirty="0">
                <a:latin typeface="Times New Roman" panose="02020603050405020304" pitchFamily="18" charset="0"/>
                <a:cs typeface="Times New Roman" panose="02020603050405020304" pitchFamily="18" charset="0"/>
              </a:rPr>
              <a:t>When a glass rod is rubbed with a silk cloth, glass acquires a positive charge and silk cloth acquires a negative charge. Electrons are removed from glass rod and are added to silk cloth.</a:t>
            </a:r>
          </a:p>
          <a:p>
            <a:r>
              <a:rPr lang="en-US" dirty="0">
                <a:latin typeface="Times New Roman" panose="02020603050405020304" pitchFamily="18" charset="0"/>
                <a:cs typeface="Times New Roman" panose="02020603050405020304" pitchFamily="18" charset="0"/>
              </a:rPr>
              <a:t>When an ebonite rod is rubbed with fur cloth, ebonite rod acquires a negative charge and fur cloth acquires a positive charge.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Title 4"/>
          <p:cNvSpPr>
            <a:spLocks noGrp="1"/>
          </p:cNvSpPr>
          <p:nvPr/>
        </p:nvSpPr>
        <p:spPr>
          <a:xfrm>
            <a:off x="1310005" y="140970"/>
            <a:ext cx="7886700" cy="686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Algerian" panose="04020705040A02060702" pitchFamily="82" charset="0"/>
                <a:cs typeface="Algerian" panose="04020705040A02060702" pitchFamily="82" charset="0"/>
              </a:rPr>
              <a:t>Method of  Charging </a:t>
            </a:r>
          </a:p>
        </p:txBody>
      </p:sp>
      <p:pic>
        <p:nvPicPr>
          <p:cNvPr id="6" name="Picture 5"/>
          <p:cNvPicPr>
            <a:picLocks noChangeAspect="1"/>
          </p:cNvPicPr>
          <p:nvPr/>
        </p:nvPicPr>
        <p:blipFill>
          <a:blip r:embed="rId2"/>
          <a:stretch>
            <a:fillRect/>
          </a:stretch>
        </p:blipFill>
        <p:spPr>
          <a:xfrm rot="5400000">
            <a:off x="6917690" y="1584325"/>
            <a:ext cx="6168390" cy="4378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strVal val="#ppt_w+.3"/>
                                          </p:val>
                                        </p:tav>
                                        <p:tav tm="100000">
                                          <p:val>
                                            <p:strVal val="#ppt_w"/>
                                          </p:val>
                                        </p:tav>
                                      </p:tavLst>
                                    </p:anim>
                                    <p:anim calcmode="lin" valueType="num">
                                      <p:cBhvr>
                                        <p:cTn id="13" dur="1000" fill="hold"/>
                                        <p:tgtEl>
                                          <p:spTgt spid="6"/>
                                        </p:tgtEl>
                                        <p:attrNameLst>
                                          <p:attrName>ppt_h</p:attrName>
                                        </p:attrNameLst>
                                      </p:cBhvr>
                                      <p:tavLst>
                                        <p:tav tm="0">
                                          <p:val>
                                            <p:strVal val="#ppt_h"/>
                                          </p:val>
                                        </p:tav>
                                        <p:tav tm="100000">
                                          <p:val>
                                            <p:strVal val="#ppt_h"/>
                                          </p:val>
                                        </p:tav>
                                      </p:tavLst>
                                    </p:anim>
                                    <p:animEffect transition="in" filter="fade">
                                      <p:cBhvr>
                                        <p:cTn id="1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19405" y="1148715"/>
            <a:ext cx="6096000" cy="706755"/>
          </a:xfrm>
          <a:prstGeom prst="rect">
            <a:avLst/>
          </a:prstGeom>
          <a:noFill/>
        </p:spPr>
        <p:txBody>
          <a:bodyPr wrap="square" rtlCol="0">
            <a:spAutoFit/>
          </a:bodyPr>
          <a:lstStyle/>
          <a:p>
            <a:r>
              <a:rPr lang="en-US" sz="4000" b="1" dirty="0">
                <a:latin typeface="Algerian" panose="04020705040A02060702" pitchFamily="82" charset="0"/>
                <a:cs typeface="Algerian" panose="04020705040A02060702" pitchFamily="82" charset="0"/>
                <a:sym typeface="+mn-ea"/>
              </a:rPr>
              <a:t>Charging by Friction</a:t>
            </a:r>
            <a:endParaRPr lang="en-US" sz="4000" b="1" dirty="0">
              <a:latin typeface="Algerian" panose="04020705040A02060702" pitchFamily="82" charset="0"/>
              <a:cs typeface="Algerian" panose="04020705040A02060702" pitchFamily="82" charset="0"/>
            </a:endParaRPr>
          </a:p>
        </p:txBody>
      </p:sp>
      <p:sp>
        <p:nvSpPr>
          <p:cNvPr id="6" name="Title 4"/>
          <p:cNvSpPr>
            <a:spLocks noGrp="1"/>
          </p:cNvSpPr>
          <p:nvPr/>
        </p:nvSpPr>
        <p:spPr>
          <a:xfrm>
            <a:off x="1981200" y="228600"/>
            <a:ext cx="7886700" cy="686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Algerian" panose="04020705040A02060702" pitchFamily="82" charset="0"/>
                <a:cs typeface="Algerian" panose="04020705040A02060702" pitchFamily="82" charset="0"/>
              </a:rPr>
              <a:t>Method of  Charging </a:t>
            </a:r>
          </a:p>
        </p:txBody>
      </p:sp>
      <p:sp>
        <p:nvSpPr>
          <p:cNvPr id="7" name="Text Box 6"/>
          <p:cNvSpPr txBox="1"/>
          <p:nvPr/>
        </p:nvSpPr>
        <p:spPr>
          <a:xfrm>
            <a:off x="231140" y="1855470"/>
            <a:ext cx="7512050" cy="4831080"/>
          </a:xfrm>
          <a:prstGeom prst="rect">
            <a:avLst/>
          </a:prstGeom>
          <a:noFill/>
        </p:spPr>
        <p:txBody>
          <a:bodyPr wrap="square" rtlCol="0" anchor="t">
            <a:spAutoFit/>
          </a:bodyPr>
          <a:lstStyle/>
          <a:p>
            <a:pPr marL="457200" indent="-457200" algn="just">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Charging in this case are not evenly distributed all over the surface of the material but concentrated at the area where the rubbing took place, this is because in insulator the electrons are not free to move about easily, they are tightly bound.</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v"/>
            </a:pPr>
            <a:r>
              <a:rPr lang="en-US" altLang="en-US" sz="2800" dirty="0">
                <a:latin typeface="Times New Roman" panose="02020603050405020304" pitchFamily="18" charset="0"/>
                <a:cs typeface="Times New Roman" panose="02020603050405020304" pitchFamily="18" charset="0"/>
                <a:sym typeface="+mn-ea"/>
              </a:rPr>
              <a:t>rub balloon on your cloth and move it close to a wall; it sticks to the wall. Electrons on the clothe is transferred to the balloon. The clothe is +</a:t>
            </a:r>
            <a:r>
              <a:rPr lang="en-US" altLang="en-US" sz="2800" dirty="0" err="1">
                <a:latin typeface="Times New Roman" panose="02020603050405020304" pitchFamily="18" charset="0"/>
                <a:cs typeface="Times New Roman" panose="02020603050405020304" pitchFamily="18" charset="0"/>
                <a:sym typeface="+mn-ea"/>
              </a:rPr>
              <a:t>ve</a:t>
            </a:r>
            <a:r>
              <a:rPr lang="en-US" altLang="en-US" sz="2800" dirty="0">
                <a:latin typeface="Times New Roman" panose="02020603050405020304" pitchFamily="18" charset="0"/>
                <a:cs typeface="Times New Roman" panose="02020603050405020304" pitchFamily="18" charset="0"/>
                <a:sym typeface="+mn-ea"/>
              </a:rPr>
              <a:t> , the balloon is –</a:t>
            </a:r>
            <a:r>
              <a:rPr lang="en-US" altLang="en-US" sz="2800" dirty="0" err="1">
                <a:latin typeface="Times New Roman" panose="02020603050405020304" pitchFamily="18" charset="0"/>
                <a:cs typeface="Times New Roman" panose="02020603050405020304" pitchFamily="18" charset="0"/>
                <a:sym typeface="+mn-ea"/>
              </a:rPr>
              <a:t>ve</a:t>
            </a:r>
            <a:r>
              <a:rPr lang="en-US" altLang="en-US" sz="2800" dirty="0">
                <a:latin typeface="Times New Roman" panose="02020603050405020304" pitchFamily="18" charset="0"/>
                <a:cs typeface="Times New Roman" panose="02020603050405020304" pitchFamily="18" charset="0"/>
                <a:sym typeface="+mn-ea"/>
              </a:rPr>
              <a:t> and the wall neutral.</a:t>
            </a:r>
          </a:p>
        </p:txBody>
      </p:sp>
      <p:pic>
        <p:nvPicPr>
          <p:cNvPr id="1026" name="Picture 2" descr="Charging by Friction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l="10638" t="12072" b="22596"/>
          <a:stretch>
            <a:fillRect/>
          </a:stretch>
        </p:blipFill>
        <p:spPr bwMode="auto">
          <a:xfrm>
            <a:off x="7974965" y="826135"/>
            <a:ext cx="3985260" cy="5861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50" presetClass="entr" presetSubtype="0" decel="10000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p:cTn id="13" dur="1000" fill="hold"/>
                                        <p:tgtEl>
                                          <p:spTgt spid="7">
                                            <p:txEl>
                                              <p:pRg st="2" end="2"/>
                                            </p:txEl>
                                          </p:spTgt>
                                        </p:tgtEl>
                                        <p:attrNameLst>
                                          <p:attrName>ppt_w</p:attrName>
                                        </p:attrNameLst>
                                      </p:cBhvr>
                                      <p:tavLst>
                                        <p:tav tm="0">
                                          <p:val>
                                            <p:strVal val="#ppt_w+.3"/>
                                          </p:val>
                                        </p:tav>
                                        <p:tav tm="100000">
                                          <p:val>
                                            <p:strVal val="#ppt_w"/>
                                          </p:val>
                                        </p:tav>
                                      </p:tavLst>
                                    </p:anim>
                                    <p:anim calcmode="lin" valueType="num">
                                      <p:cBhvr>
                                        <p:cTn id="14" dur="1000" fill="hold"/>
                                        <p:tgtEl>
                                          <p:spTgt spid="7">
                                            <p:txEl>
                                              <p:pRg st="2" end="2"/>
                                            </p:txEl>
                                          </p:spTgt>
                                        </p:tgtEl>
                                        <p:attrNameLst>
                                          <p:attrName>ppt_h</p:attrName>
                                        </p:attrNameLst>
                                      </p:cBhvr>
                                      <p:tavLst>
                                        <p:tav tm="0">
                                          <p:val>
                                            <p:strVal val="#ppt_h"/>
                                          </p:val>
                                        </p:tav>
                                        <p:tav tm="100000">
                                          <p:val>
                                            <p:strVal val="#ppt_h"/>
                                          </p:val>
                                        </p:tav>
                                      </p:tavLst>
                                    </p:anim>
                                    <p:animEffect transition="in" filter="fade">
                                      <p:cBhvr>
                                        <p:cTn id="15"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nvSpPr>
        <p:spPr>
          <a:xfrm>
            <a:off x="1125220" y="243205"/>
            <a:ext cx="7886700" cy="6862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Algerian" panose="04020705040A02060702" pitchFamily="82" charset="0"/>
                <a:cs typeface="Algerian" panose="04020705040A02060702" pitchFamily="82" charset="0"/>
              </a:rPr>
              <a:t>Method of  Charging </a:t>
            </a:r>
          </a:p>
        </p:txBody>
      </p:sp>
      <p:sp>
        <p:nvSpPr>
          <p:cNvPr id="4" name="Text Box 3"/>
          <p:cNvSpPr txBox="1"/>
          <p:nvPr/>
        </p:nvSpPr>
        <p:spPr>
          <a:xfrm>
            <a:off x="144145" y="1042035"/>
            <a:ext cx="8867775" cy="645160"/>
          </a:xfrm>
          <a:prstGeom prst="rect">
            <a:avLst/>
          </a:prstGeom>
          <a:noFill/>
        </p:spPr>
        <p:txBody>
          <a:bodyPr wrap="square" rtlCol="0" anchor="t">
            <a:spAutoFit/>
          </a:bodyPr>
          <a:lstStyle/>
          <a:p>
            <a:pPr algn="just"/>
            <a:r>
              <a:rPr lang="en-US" sz="3600" dirty="0">
                <a:latin typeface="Algerian" panose="04020705040A02060702" pitchFamily="82" charset="0"/>
                <a:cs typeface="Algerian" panose="04020705040A02060702" pitchFamily="82" charset="0"/>
                <a:sym typeface="+mn-ea"/>
              </a:rPr>
              <a:t>Charging by Contact (conduction)</a:t>
            </a:r>
          </a:p>
        </p:txBody>
      </p:sp>
      <p:sp>
        <p:nvSpPr>
          <p:cNvPr id="5" name="Text Box 4"/>
          <p:cNvSpPr txBox="1"/>
          <p:nvPr/>
        </p:nvSpPr>
        <p:spPr>
          <a:xfrm>
            <a:off x="144145" y="1755775"/>
            <a:ext cx="7860665" cy="3275965"/>
          </a:xfrm>
          <a:prstGeom prst="rect">
            <a:avLst/>
          </a:prstGeom>
          <a:noFill/>
        </p:spPr>
        <p:txBody>
          <a:bodyPr wrap="square" rtlCol="0" anchor="t">
            <a:noAutofit/>
          </a:bodyPr>
          <a:lstStyle/>
          <a:p>
            <a:pPr marL="457200" indent="-457200" algn="just">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Charging by conduction involves the contact of a charged object to a neutral object. Suppose that a positively charged aluminum plate is touched to a neutral metal sphere. </a:t>
            </a:r>
          </a:p>
          <a:p>
            <a:pPr indent="0" algn="just">
              <a:buFont typeface="Wingdings" panose="05000000000000000000" charset="0"/>
              <a:buNone/>
            </a:pPr>
            <a:endParaRPr lang="en-US" sz="2800" dirty="0">
              <a:latin typeface="Times New Roman" panose="02020603050405020304" pitchFamily="18" charset="0"/>
              <a:cs typeface="Times New Roman" panose="02020603050405020304" pitchFamily="18" charset="0"/>
              <a:sym typeface="+mn-ea"/>
            </a:endParaRPr>
          </a:p>
          <a:p>
            <a:pPr marL="457200" indent="-457200" algn="just">
              <a:buFont typeface="Wingdings" panose="05000000000000000000" charset="0"/>
              <a:buChar char="v"/>
            </a:pPr>
            <a:r>
              <a:rPr lang="en-US" sz="2800" dirty="0">
                <a:latin typeface="Times New Roman" panose="02020603050405020304" pitchFamily="18" charset="0"/>
                <a:cs typeface="Times New Roman" panose="02020603050405020304" pitchFamily="18" charset="0"/>
                <a:sym typeface="+mn-ea"/>
              </a:rPr>
              <a:t>The neutral metal sphere becomes charged as the result of being contacted by the charged aluminum plate. </a:t>
            </a:r>
          </a:p>
        </p:txBody>
      </p:sp>
      <p:pic>
        <p:nvPicPr>
          <p:cNvPr id="8" name="Picture 7"/>
          <p:cNvPicPr>
            <a:picLocks noChangeAspect="1"/>
          </p:cNvPicPr>
          <p:nvPr/>
        </p:nvPicPr>
        <p:blipFill>
          <a:blip r:embed="rId2"/>
          <a:stretch>
            <a:fillRect/>
          </a:stretch>
        </p:blipFill>
        <p:spPr>
          <a:xfrm>
            <a:off x="8395335" y="812800"/>
            <a:ext cx="3629660" cy="5516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0" y="240030"/>
            <a:ext cx="8867775" cy="645160"/>
          </a:xfrm>
          <a:prstGeom prst="rect">
            <a:avLst/>
          </a:prstGeom>
          <a:noFill/>
        </p:spPr>
        <p:txBody>
          <a:bodyPr wrap="square" rtlCol="0" anchor="t">
            <a:spAutoFit/>
          </a:bodyPr>
          <a:lstStyle/>
          <a:p>
            <a:pPr algn="just"/>
            <a:r>
              <a:rPr lang="en-US" sz="3600" dirty="0">
                <a:latin typeface="Algerian" panose="04020705040A02060702" pitchFamily="82" charset="0"/>
                <a:cs typeface="Algerian" panose="04020705040A02060702" pitchFamily="82" charset="0"/>
                <a:sym typeface="+mn-ea"/>
              </a:rPr>
              <a:t>Charging by Contact (conduction)</a:t>
            </a:r>
          </a:p>
        </p:txBody>
      </p:sp>
      <p:sp>
        <p:nvSpPr>
          <p:cNvPr id="7" name="Content Placeholder 6"/>
          <p:cNvSpPr>
            <a:spLocks noGrp="1"/>
          </p:cNvSpPr>
          <p:nvPr/>
        </p:nvSpPr>
        <p:spPr>
          <a:xfrm>
            <a:off x="361315" y="995414"/>
            <a:ext cx="8229600" cy="58625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Charging by conduction involves the contact of a charged object to a neutral object. Suppose that a positively charged aluminum plate is touched to a neutral metal sphere. The neutral metal sphere becomes charged as the result of being contacted by the charged aluminum plate.</a:t>
            </a:r>
            <a:r>
              <a:rPr lang="en-US" sz="2400" dirty="0"/>
              <a:t> </a:t>
            </a:r>
          </a:p>
        </p:txBody>
      </p:sp>
      <p:pic>
        <p:nvPicPr>
          <p:cNvPr id="8" name="Picture 7"/>
          <p:cNvPicPr>
            <a:picLocks noChangeAspect="1"/>
          </p:cNvPicPr>
          <p:nvPr/>
        </p:nvPicPr>
        <p:blipFill>
          <a:blip r:embed="rId2"/>
          <a:stretch>
            <a:fillRect/>
          </a:stretch>
        </p:blipFill>
        <p:spPr>
          <a:xfrm>
            <a:off x="361315" y="3429000"/>
            <a:ext cx="7971155" cy="3189605"/>
          </a:xfrm>
          <a:prstGeom prst="rect">
            <a:avLst/>
          </a:prstGeom>
        </p:spPr>
      </p:pic>
      <p:pic>
        <p:nvPicPr>
          <p:cNvPr id="5" name="Picture 4"/>
          <p:cNvPicPr>
            <a:picLocks noChangeAspect="1"/>
          </p:cNvPicPr>
          <p:nvPr/>
        </p:nvPicPr>
        <p:blipFill>
          <a:blip r:embed="rId3"/>
          <a:stretch>
            <a:fillRect/>
          </a:stretch>
        </p:blipFill>
        <p:spPr>
          <a:xfrm>
            <a:off x="8590280" y="419100"/>
            <a:ext cx="3601720" cy="61023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ircle(in)">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595245" y="252730"/>
            <a:ext cx="6096000" cy="706755"/>
          </a:xfrm>
          <a:prstGeom prst="rect">
            <a:avLst/>
          </a:prstGeom>
          <a:noFill/>
        </p:spPr>
        <p:txBody>
          <a:bodyPr wrap="square" rtlCol="0" anchor="t">
            <a:spAutoFit/>
          </a:bodyPr>
          <a:lstStyle/>
          <a:p>
            <a:r>
              <a:rPr lang="en-US" sz="4000" dirty="0">
                <a:latin typeface="Algerian" panose="04020705040A02060702" pitchFamily="82" charset="0"/>
                <a:cs typeface="Algerian" panose="04020705040A02060702" pitchFamily="82" charset="0"/>
                <a:sym typeface="+mn-ea"/>
              </a:rPr>
              <a:t>Charging by Induction</a:t>
            </a:r>
          </a:p>
        </p:txBody>
      </p:sp>
      <p:pic>
        <p:nvPicPr>
          <p:cNvPr id="6" name="Picture 5"/>
          <p:cNvPicPr>
            <a:picLocks noChangeAspect="1"/>
          </p:cNvPicPr>
          <p:nvPr/>
        </p:nvPicPr>
        <p:blipFill>
          <a:blip r:embed="rId2"/>
          <a:stretch>
            <a:fillRect/>
          </a:stretch>
        </p:blipFill>
        <p:spPr>
          <a:xfrm>
            <a:off x="8133080" y="1223010"/>
            <a:ext cx="3899535" cy="5243830"/>
          </a:xfrm>
          <a:prstGeom prst="rect">
            <a:avLst/>
          </a:prstGeom>
        </p:spPr>
      </p:pic>
      <p:sp>
        <p:nvSpPr>
          <p:cNvPr id="7" name="Text Box 6"/>
          <p:cNvSpPr txBox="1"/>
          <p:nvPr/>
        </p:nvSpPr>
        <p:spPr>
          <a:xfrm>
            <a:off x="128905" y="1129665"/>
            <a:ext cx="7132955" cy="1625600"/>
          </a:xfrm>
          <a:prstGeom prst="rect">
            <a:avLst/>
          </a:prstGeom>
          <a:noFill/>
        </p:spPr>
        <p:txBody>
          <a:bodyPr wrap="square" rtlCol="0" anchor="t">
            <a:noAutofit/>
          </a:bodyPr>
          <a:lstStyle/>
          <a:p>
            <a:pPr algn="just"/>
            <a:r>
              <a:rPr lang="en-US" sz="3200" dirty="0">
                <a:latin typeface="Times New Roman" panose="02020603050405020304" pitchFamily="18" charset="0"/>
                <a:cs typeface="Times New Roman" panose="02020603050405020304" pitchFamily="18" charset="0"/>
                <a:sym typeface="+mn-ea"/>
              </a:rPr>
              <a:t>Induction charging is a method used to charge an object without actually touching the object to any other charged object.</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905" y="2755265"/>
            <a:ext cx="8004810" cy="37115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0660" y="1096645"/>
            <a:ext cx="7735570" cy="5073650"/>
          </a:xfrm>
          <a:prstGeom prst="rect">
            <a:avLst/>
          </a:prstGeom>
        </p:spPr>
      </p:pic>
      <p:sp>
        <p:nvSpPr>
          <p:cNvPr id="5" name="Text Box 4"/>
          <p:cNvSpPr txBox="1"/>
          <p:nvPr/>
        </p:nvSpPr>
        <p:spPr>
          <a:xfrm>
            <a:off x="2595245" y="252730"/>
            <a:ext cx="6096000" cy="706755"/>
          </a:xfrm>
          <a:prstGeom prst="rect">
            <a:avLst/>
          </a:prstGeom>
          <a:noFill/>
        </p:spPr>
        <p:txBody>
          <a:bodyPr wrap="square" rtlCol="0" anchor="t">
            <a:spAutoFit/>
          </a:bodyPr>
          <a:lstStyle/>
          <a:p>
            <a:r>
              <a:rPr lang="en-US" sz="4000" dirty="0">
                <a:latin typeface="Algerian" panose="04020705040A02060702" pitchFamily="82" charset="0"/>
                <a:cs typeface="Algerian" panose="04020705040A02060702" pitchFamily="82" charset="0"/>
                <a:sym typeface="+mn-ea"/>
              </a:rPr>
              <a:t>Charging by Induction</a:t>
            </a:r>
          </a:p>
        </p:txBody>
      </p:sp>
      <p:pic>
        <p:nvPicPr>
          <p:cNvPr id="6" name="Picture 5"/>
          <p:cNvPicPr>
            <a:picLocks noChangeAspect="1"/>
          </p:cNvPicPr>
          <p:nvPr/>
        </p:nvPicPr>
        <p:blipFill>
          <a:blip r:embed="rId3"/>
          <a:stretch>
            <a:fillRect/>
          </a:stretch>
        </p:blipFill>
        <p:spPr>
          <a:xfrm>
            <a:off x="8062595" y="1096645"/>
            <a:ext cx="4032885" cy="4810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0" fill="hold"/>
                                        <p:tgtEl>
                                          <p:spTgt spid="6"/>
                                        </p:tgtEl>
                                        <p:attrNameLst>
                                          <p:attrName>ppt_x</p:attrName>
                                        </p:attrNameLst>
                                      </p:cBhvr>
                                      <p:tavLst>
                                        <p:tav tm="0">
                                          <p:val>
                                            <p:strVal val="#ppt_x"/>
                                          </p:val>
                                        </p:tav>
                                        <p:tav tm="100000">
                                          <p:val>
                                            <p:strVal val="#ppt_x"/>
                                          </p:val>
                                        </p:tav>
                                      </p:tavLst>
                                    </p:anim>
                                    <p:anim calcmode="lin" valueType="num">
                                      <p:cBhvr additive="base">
                                        <p:cTn id="14" dur="5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980" y="274955"/>
            <a:ext cx="9615805" cy="715645"/>
          </a:xfrm>
        </p:spPr>
        <p:txBody>
          <a:bodyPr>
            <a:normAutofit/>
          </a:bodyPr>
          <a:lstStyle/>
          <a:p>
            <a:r>
              <a:rPr lang="en-US" dirty="0">
                <a:latin typeface="Algerian" panose="04020705040A02060702" pitchFamily="82" charset="0"/>
                <a:cs typeface="Algerian" panose="04020705040A02060702" pitchFamily="82" charset="0"/>
              </a:rPr>
              <a:t>Properties of Electric Charges</a:t>
            </a:r>
          </a:p>
        </p:txBody>
      </p:sp>
      <p:sp>
        <p:nvSpPr>
          <p:cNvPr id="3" name="Content Placeholder 2"/>
          <p:cNvSpPr>
            <a:spLocks noGrp="1"/>
          </p:cNvSpPr>
          <p:nvPr>
            <p:ph idx="1"/>
          </p:nvPr>
        </p:nvSpPr>
        <p:spPr>
          <a:xfrm>
            <a:off x="653415" y="1165225"/>
            <a:ext cx="11022330" cy="5135880"/>
          </a:xfrm>
        </p:spPr>
        <p:txBody>
          <a:bodyPr>
            <a:noAutofit/>
          </a:bodyPr>
          <a:lstStyle/>
          <a:p>
            <a:pPr algn="just"/>
            <a:r>
              <a:rPr lang="en-US" sz="3200" dirty="0">
                <a:latin typeface="Times New Roman" panose="02020603050405020304" pitchFamily="18" charset="0"/>
                <a:cs typeface="Times New Roman" panose="02020603050405020304" pitchFamily="18" charset="0"/>
              </a:rPr>
              <a:t>The </a:t>
            </a:r>
            <a:r>
              <a:rPr lang="en-US" sz="3200" b="1" dirty="0">
                <a:latin typeface="Times New Roman" panose="02020603050405020304" pitchFamily="18" charset="0"/>
                <a:cs typeface="Times New Roman" panose="02020603050405020304" pitchFamily="18" charset="0"/>
              </a:rPr>
              <a:t>charge</a:t>
            </a:r>
            <a:r>
              <a:rPr lang="en-US" sz="3200" dirty="0">
                <a:latin typeface="Times New Roman" panose="02020603050405020304" pitchFamily="18" charset="0"/>
                <a:cs typeface="Times New Roman" panose="02020603050405020304" pitchFamily="18" charset="0"/>
              </a:rPr>
              <a:t> is a scalar quantity as it has only magnitude and no direction.</a:t>
            </a:r>
          </a:p>
          <a:p>
            <a:pPr algn="just"/>
            <a:r>
              <a:rPr lang="en-US" sz="3200" dirty="0">
                <a:latin typeface="Times New Roman" panose="02020603050405020304" pitchFamily="18" charset="0"/>
                <a:cs typeface="Times New Roman" panose="02020603050405020304" pitchFamily="18" charset="0"/>
              </a:rPr>
              <a:t>As charges are of two types, positive and negative, there are other certain basic properties they follow. If the size of charged bodies is so small, we consider them as point charges. </a:t>
            </a:r>
          </a:p>
          <a:p>
            <a:pPr marL="0" indent="0" algn="just">
              <a:buNone/>
            </a:pPr>
            <a:r>
              <a:rPr lang="en-US" sz="3200" dirty="0">
                <a:latin typeface="Times New Roman" panose="02020603050405020304" pitchFamily="18" charset="0"/>
                <a:cs typeface="Times New Roman" panose="02020603050405020304" pitchFamily="18" charset="0"/>
              </a:rPr>
              <a:t>The basic properties of electric charges are as follows:</a:t>
            </a:r>
          </a:p>
          <a:p>
            <a:pPr algn="just"/>
            <a:r>
              <a:rPr lang="en-US" sz="3200" dirty="0">
                <a:latin typeface="Times New Roman" panose="02020603050405020304" pitchFamily="18" charset="0"/>
                <a:cs typeface="Times New Roman" panose="02020603050405020304" pitchFamily="18" charset="0"/>
              </a:rPr>
              <a:t>    Additivity of Charges</a:t>
            </a:r>
          </a:p>
          <a:p>
            <a:pPr algn="just"/>
            <a:r>
              <a:rPr lang="en-US" sz="3200" dirty="0">
                <a:latin typeface="Times New Roman" panose="02020603050405020304" pitchFamily="18" charset="0"/>
                <a:cs typeface="Times New Roman" panose="02020603050405020304" pitchFamily="18" charset="0"/>
              </a:rPr>
              <a:t>    Conservation of Charges</a:t>
            </a:r>
          </a:p>
          <a:p>
            <a:pPr algn="just"/>
            <a:r>
              <a:rPr lang="en-US" sz="3200" dirty="0">
                <a:latin typeface="Times New Roman" panose="02020603050405020304" pitchFamily="18" charset="0"/>
                <a:cs typeface="Times New Roman" panose="02020603050405020304" pitchFamily="18" charset="0"/>
              </a:rPr>
              <a:t>    Quantization of charge</a:t>
            </a:r>
          </a:p>
          <a:p>
            <a:pPr algn="just"/>
            <a:endParaRPr lang="en-US" sz="3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88"/>
    </mc:Choice>
    <mc:Fallback xmlns="">
      <p:transition spd="slow" advTm="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8"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2" end="2"/>
                                            </p:txEl>
                                          </p:spTgt>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p:cTn id="12"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13"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3" end="3"/>
                                            </p:txEl>
                                          </p:spTgt>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p:cTn id="17" dur="1000" fill="hold"/>
                                        <p:tgtEl>
                                          <p:spTgt spid="3">
                                            <p:txEl>
                                              <p:pRg st="4" end="4"/>
                                            </p:txEl>
                                          </p:spTgt>
                                        </p:tgtEl>
                                        <p:attrNameLst>
                                          <p:attrName>ppt_w</p:attrName>
                                        </p:attrNameLst>
                                      </p:cBhvr>
                                      <p:tavLst>
                                        <p:tav tm="0">
                                          <p:val>
                                            <p:strVal val="#ppt_w+.3"/>
                                          </p:val>
                                        </p:tav>
                                        <p:tav tm="100000">
                                          <p:val>
                                            <p:strVal val="#ppt_w"/>
                                          </p:val>
                                        </p:tav>
                                      </p:tavLst>
                                    </p:anim>
                                    <p:anim calcmode="lin" valueType="num">
                                      <p:cBhvr>
                                        <p:cTn id="18"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19" dur="1000"/>
                                        <p:tgtEl>
                                          <p:spTgt spid="3">
                                            <p:txEl>
                                              <p:pRg st="4" end="4"/>
                                            </p:txEl>
                                          </p:spTgt>
                                        </p:tgtEl>
                                      </p:cBhvr>
                                    </p:animEffect>
                                  </p:childTnLst>
                                </p:cTn>
                              </p:par>
                              <p:par>
                                <p:cTn id="20" presetID="50" presetClass="entr" presetSubtype="0" decel="10000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 calcmode="lin" valueType="num">
                                      <p:cBhvr>
                                        <p:cTn id="22" dur="1000" fill="hold"/>
                                        <p:tgtEl>
                                          <p:spTgt spid="3">
                                            <p:txEl>
                                              <p:pRg st="5" end="5"/>
                                            </p:txEl>
                                          </p:spTgt>
                                        </p:tgtEl>
                                        <p:attrNameLst>
                                          <p:attrName>ppt_w</p:attrName>
                                        </p:attrNameLst>
                                      </p:cBhvr>
                                      <p:tavLst>
                                        <p:tav tm="0">
                                          <p:val>
                                            <p:strVal val="#ppt_w+.3"/>
                                          </p:val>
                                        </p:tav>
                                        <p:tav tm="100000">
                                          <p:val>
                                            <p:strVal val="#ppt_w"/>
                                          </p:val>
                                        </p:tav>
                                      </p:tavLst>
                                    </p:anim>
                                    <p:anim calcmode="lin" valueType="num">
                                      <p:cBhvr>
                                        <p:cTn id="23"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2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6150" y="144145"/>
            <a:ext cx="9614535" cy="675005"/>
          </a:xfrm>
        </p:spPr>
        <p:txBody>
          <a:bodyPr>
            <a:normAutofit fontScale="90000"/>
          </a:bodyPr>
          <a:lstStyle/>
          <a:p>
            <a:br>
              <a:rPr lang="en-US" dirty="0"/>
            </a:br>
            <a:r>
              <a:rPr lang="en-US" sz="4890" dirty="0">
                <a:latin typeface="Algerian" panose="04020705040A02060702" pitchFamily="82" charset="0"/>
                <a:cs typeface="Algerian" panose="04020705040A02060702" pitchFamily="82" charset="0"/>
              </a:rPr>
              <a:t>Conservation of Charges</a:t>
            </a:r>
            <a:br>
              <a:rPr lang="en-US" sz="4890" dirty="0">
                <a:latin typeface="Algerian" panose="04020705040A02060702" pitchFamily="82" charset="0"/>
                <a:cs typeface="Algerian" panose="04020705040A02060702" pitchFamily="82" charset="0"/>
              </a:rPr>
            </a:br>
            <a:endParaRPr lang="en-US" sz="4890" dirty="0">
              <a:latin typeface="Algerian" panose="04020705040A02060702" pitchFamily="82" charset="0"/>
              <a:cs typeface="Algerian" panose="04020705040A02060702" pitchFamily="82" charset="0"/>
            </a:endParaRPr>
          </a:p>
        </p:txBody>
      </p:sp>
      <p:sp>
        <p:nvSpPr>
          <p:cNvPr id="3" name="Content Placeholder 2"/>
          <p:cNvSpPr>
            <a:spLocks noGrp="1"/>
          </p:cNvSpPr>
          <p:nvPr>
            <p:ph idx="1"/>
          </p:nvPr>
        </p:nvSpPr>
        <p:spPr>
          <a:xfrm>
            <a:off x="362585" y="914400"/>
            <a:ext cx="11360150" cy="5668645"/>
          </a:xfrm>
        </p:spPr>
        <p:txBody>
          <a:bodyPr>
            <a:noAutofit/>
          </a:bodyPr>
          <a:lstStyle/>
          <a:p>
            <a:pPr algn="just"/>
            <a:r>
              <a:rPr lang="en-US" sz="3200" dirty="0">
                <a:latin typeface="Times New Roman" panose="02020603050405020304" pitchFamily="18" charset="0"/>
                <a:cs typeface="Times New Roman" panose="02020603050405020304" pitchFamily="18" charset="0"/>
              </a:rPr>
              <a:t>The charge is a conserved quantity which means charge can neither be created nor be destroyed but can be transferred from one body to another by certain methods like conduction and induction. </a:t>
            </a:r>
          </a:p>
          <a:p>
            <a:pPr algn="just"/>
            <a:r>
              <a:rPr lang="en-US" sz="3200" dirty="0">
                <a:latin typeface="Times New Roman" panose="02020603050405020304" pitchFamily="18" charset="0"/>
                <a:cs typeface="Times New Roman" panose="02020603050405020304" pitchFamily="18" charset="0"/>
              </a:rPr>
              <a:t>As charging involves rubbing two bodies, it is actually a transfer of electrons from one body to another.</a:t>
            </a:r>
          </a:p>
          <a:p>
            <a:pPr algn="just"/>
            <a:r>
              <a:rPr lang="en-US" sz="3200" dirty="0">
                <a:latin typeface="Times New Roman" panose="02020603050405020304" pitchFamily="18" charset="0"/>
                <a:cs typeface="Times New Roman" panose="02020603050405020304" pitchFamily="18" charset="0"/>
              </a:rPr>
              <a:t>The number of  electrons gained by one body is equal to the number of electrons lost by the other body. Hence, the total number of charges is the same.</a:t>
            </a:r>
          </a:p>
          <a:p>
            <a:pPr algn="just"/>
            <a:r>
              <a:rPr lang="en-US" sz="3200" dirty="0">
                <a:latin typeface="Times New Roman" panose="02020603050405020304" pitchFamily="18" charset="0"/>
                <a:cs typeface="Times New Roman" panose="02020603050405020304" pitchFamily="18" charset="0"/>
              </a:rPr>
              <a:t>E.g. if 5C is the total charge of the system, then it can be redistributed as 1C, 2C and 2C or in any other possible permutation, but by conservation principle the net charge of system will always be 5C. </a:t>
            </a:r>
          </a:p>
        </p:txBody>
      </p:sp>
    </p:spTree>
  </p:cSld>
  <p:clrMapOvr>
    <a:masterClrMapping/>
  </p:clrMapOvr>
  <mc:AlternateContent xmlns:mc="http://schemas.openxmlformats.org/markup-compatibility/2006" xmlns:p14="http://schemas.microsoft.com/office/powerpoint/2010/main">
    <mc:Choice Requires="p14">
      <p:transition spd="slow" p14:dur="2000" advTm="162"/>
    </mc:Choice>
    <mc:Fallback xmlns="">
      <p:transition spd="slow" advTm="1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13"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1" end="1"/>
                                            </p:txEl>
                                          </p:spTgt>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18"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blinds(horizontal)">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ext Box 1"/>
          <p:cNvSpPr txBox="1">
            <a:spLocks noChangeArrowheads="1"/>
          </p:cNvSpPr>
          <p:nvPr/>
        </p:nvSpPr>
        <p:spPr bwMode="auto">
          <a:xfrm>
            <a:off x="677545" y="1567180"/>
            <a:ext cx="10909300" cy="4212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1pPr>
            <a:lvl2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2pPr>
            <a:lvl3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3pPr>
            <a:lvl4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4pPr>
            <a:lvl5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5pPr>
            <a:lvl6pPr marL="25146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6pPr>
            <a:lvl7pPr marL="29718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7pPr>
            <a:lvl8pPr marL="34290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8pPr>
            <a:lvl9pPr marL="38862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9pPr>
          </a:lstStyle>
          <a:p>
            <a:pPr algn="just" eaLnBrk="1" hangingPunct="1">
              <a:spcBef>
                <a:spcPts val="1750"/>
              </a:spcBef>
              <a:buClrTx/>
              <a:buFontTx/>
              <a:buNone/>
            </a:pPr>
            <a:r>
              <a:rPr lang="en-US" altLang="en-US" sz="3200" b="0" dirty="0">
                <a:solidFill>
                  <a:srgbClr val="FF00FF"/>
                </a:solidFill>
                <a:latin typeface="Times New Roman" panose="02020603050405020304" pitchFamily="18" charset="0"/>
                <a:cs typeface="Times New Roman" panose="02020603050405020304" pitchFamily="18" charset="0"/>
              </a:rPr>
              <a:t>Electric charge is conserved </a:t>
            </a:r>
            <a:r>
              <a:rPr lang="en-US" altLang="en-US" sz="3200" b="0" dirty="0">
                <a:solidFill>
                  <a:srgbClr val="333399"/>
                </a:solidFill>
                <a:latin typeface="Times New Roman" panose="02020603050405020304" pitchFamily="18" charset="0"/>
                <a:cs typeface="Times New Roman" panose="02020603050405020304" pitchFamily="18" charset="0"/>
              </a:rPr>
              <a:t>– the arithmetic sum of the total charge cannot change in any interaction.  This is an example of a law that is now well established: </a:t>
            </a:r>
            <a:r>
              <a:rPr lang="en-US" altLang="en-US" sz="3200" b="0" i="1" dirty="0">
                <a:solidFill>
                  <a:srgbClr val="00B050"/>
                </a:solidFill>
                <a:latin typeface="Times New Roman" panose="02020603050405020304" pitchFamily="18" charset="0"/>
                <a:cs typeface="Times New Roman" panose="02020603050405020304" pitchFamily="18" charset="0"/>
              </a:rPr>
              <a:t>the law of conservation of electric charge, which states that: </a:t>
            </a:r>
          </a:p>
          <a:p>
            <a:pPr algn="just" eaLnBrk="1" hangingPunct="1">
              <a:spcBef>
                <a:spcPts val="1750"/>
              </a:spcBef>
              <a:buClrTx/>
              <a:buFontTx/>
              <a:buNone/>
            </a:pPr>
            <a:r>
              <a:rPr lang="en-US" altLang="en-US" sz="3200" b="0" i="1" dirty="0">
                <a:solidFill>
                  <a:srgbClr val="333399"/>
                </a:solidFill>
                <a:latin typeface="Times New Roman" panose="02020603050405020304" pitchFamily="18" charset="0"/>
                <a:cs typeface="Times New Roman" panose="02020603050405020304" pitchFamily="18" charset="0"/>
              </a:rPr>
              <a:t>the net amount of electric charge produced in any process is zero;</a:t>
            </a:r>
          </a:p>
          <a:p>
            <a:pPr algn="just" eaLnBrk="1" hangingPunct="1">
              <a:spcBef>
                <a:spcPts val="1750"/>
              </a:spcBef>
              <a:buClrTx/>
              <a:buFontTx/>
              <a:buNone/>
            </a:pPr>
            <a:r>
              <a:rPr lang="en-US" altLang="en-US" sz="3200" b="0" dirty="0">
                <a:solidFill>
                  <a:srgbClr val="333399"/>
                </a:solidFill>
                <a:latin typeface="Times New Roman" panose="02020603050405020304" pitchFamily="18" charset="0"/>
                <a:cs typeface="Times New Roman" panose="02020603050405020304" pitchFamily="18" charset="0"/>
              </a:rPr>
              <a:t>or, said another way,</a:t>
            </a:r>
          </a:p>
          <a:p>
            <a:pPr algn="just" eaLnBrk="1" hangingPunct="1">
              <a:spcBef>
                <a:spcPts val="1750"/>
              </a:spcBef>
              <a:buClrTx/>
              <a:buFontTx/>
              <a:buNone/>
            </a:pPr>
            <a:r>
              <a:rPr lang="en-US" altLang="en-US" sz="3200" b="0" i="1" dirty="0">
                <a:solidFill>
                  <a:srgbClr val="333399"/>
                </a:solidFill>
                <a:latin typeface="Times New Roman" panose="02020603050405020304" pitchFamily="18" charset="0"/>
                <a:cs typeface="Times New Roman" panose="02020603050405020304" pitchFamily="18" charset="0"/>
              </a:rPr>
              <a:t>no net electric charge can be created or destroyed</a:t>
            </a:r>
            <a:r>
              <a:rPr lang="en-US" altLang="en-US" sz="3200" b="0" dirty="0">
                <a:solidFill>
                  <a:srgbClr val="333399"/>
                </a:solidFill>
                <a:latin typeface="Times New Roman" panose="02020603050405020304" pitchFamily="18" charset="0"/>
                <a:cs typeface="Times New Roman" panose="02020603050405020304" pitchFamily="18" charset="0"/>
              </a:rPr>
              <a:t>.</a:t>
            </a:r>
          </a:p>
        </p:txBody>
      </p:sp>
      <p:sp>
        <p:nvSpPr>
          <p:cNvPr id="61442" name="Text Box 2"/>
          <p:cNvSpPr txBox="1">
            <a:spLocks noChangeArrowheads="1"/>
          </p:cNvSpPr>
          <p:nvPr/>
        </p:nvSpPr>
        <p:spPr bwMode="auto">
          <a:xfrm>
            <a:off x="2293067" y="286774"/>
            <a:ext cx="7858740"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1pPr>
            <a:lvl2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2pPr>
            <a:lvl3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3pPr>
            <a:lvl4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4pPr>
            <a:lvl5pPr>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5pPr>
            <a:lvl6pPr marL="25146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6pPr>
            <a:lvl7pPr marL="29718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7pPr>
            <a:lvl8pPr marL="34290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8pPr>
            <a:lvl9pPr marL="3886200" indent="-228600" defTabSz="449580"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2800" b="1">
                <a:solidFill>
                  <a:srgbClr val="FFFFFF"/>
                </a:solidFill>
                <a:latin typeface="Arial" panose="020B0604020202020204" pitchFamily="34" charset="0"/>
                <a:ea typeface="MS PGothic" panose="020B0600070205080204" pitchFamily="34" charset="-128"/>
              </a:defRPr>
            </a:lvl9pPr>
          </a:lstStyle>
          <a:p>
            <a:pPr algn="ctr" eaLnBrk="1" hangingPunct="1">
              <a:buClrTx/>
              <a:buFontTx/>
              <a:buNone/>
            </a:pPr>
            <a:r>
              <a:rPr lang="en-US" altLang="en-US" sz="4400" b="0" dirty="0">
                <a:solidFill>
                  <a:srgbClr val="00B050"/>
                </a:solidFill>
                <a:latin typeface="Algerian" panose="04020705040A02060702" pitchFamily="82" charset="0"/>
              </a:rPr>
              <a:t>Electric Charge and Its Conservation</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500"/>
            <a:ext cx="10515600" cy="946150"/>
          </a:xfrm>
        </p:spPr>
        <p:txBody>
          <a:bodyPr/>
          <a:lstStyle/>
          <a:p>
            <a:r>
              <a:rPr lang="en-US" sz="4800" dirty="0">
                <a:latin typeface="Algerian" panose="04020705040A02060702" pitchFamily="82" charset="0"/>
                <a:cs typeface="Algerian" panose="04020705040A02060702" pitchFamily="82" charset="0"/>
              </a:rPr>
              <a:t>Quantization of charge</a:t>
            </a:r>
          </a:p>
        </p:txBody>
      </p:sp>
      <p:sp>
        <p:nvSpPr>
          <p:cNvPr id="3" name="Content Placeholder 2"/>
          <p:cNvSpPr>
            <a:spLocks noGrp="1"/>
          </p:cNvSpPr>
          <p:nvPr>
            <p:ph idx="1"/>
          </p:nvPr>
        </p:nvSpPr>
        <p:spPr>
          <a:xfrm>
            <a:off x="375920" y="1136650"/>
            <a:ext cx="11541125" cy="4982845"/>
          </a:xfrm>
        </p:spPr>
        <p:txBody>
          <a:bodyPr>
            <a:normAutofit/>
          </a:bodyPr>
          <a:lstStyle/>
          <a:p>
            <a:pPr algn="just"/>
            <a:r>
              <a:rPr lang="en-US" sz="3200" dirty="0">
                <a:latin typeface="Times New Roman" panose="02020603050405020304" pitchFamily="18" charset="0"/>
                <a:cs typeface="Times New Roman" panose="02020603050405020304" pitchFamily="18" charset="0"/>
              </a:rPr>
              <a:t>Quantization of charge means that the charge of any object is an integer multiple of the elementary charge  (e – charge on one electron). Suppose charge on a body is q, then it can be written as   q = ne</a:t>
            </a:r>
          </a:p>
          <a:p>
            <a:pPr algn="just"/>
            <a:r>
              <a:rPr lang="en-US" sz="3200" dirty="0">
                <a:latin typeface="Times New Roman" panose="02020603050405020304" pitchFamily="18" charset="0"/>
                <a:cs typeface="Times New Roman" panose="02020603050405020304" pitchFamily="18" charset="0"/>
              </a:rPr>
              <a:t>where n is an integer and not fraction or irrational number, like ‘n’ can be any positive or negative integer like 1, 2, 3, -5 etc.</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Thus, an object's charge can be exactly 0e, 1e, −1e, 2e, etc., but not, say, 1/2 e, or −3.8 e, </a:t>
            </a:r>
            <a:r>
              <a:rPr lang="en-US" sz="3200" dirty="0" err="1">
                <a:latin typeface="Times New Roman" panose="02020603050405020304" pitchFamily="18" charset="0"/>
                <a:cs typeface="Times New Roman" panose="02020603050405020304" pitchFamily="18" charset="0"/>
              </a:rPr>
              <a:t>etc</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63"/>
    </mc:Choice>
    <mc:Fallback xmlns="">
      <p:transition spd="slow" advTm="26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checkerboard(across)">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7"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GROUND.</a:t>
            </a:r>
          </a:p>
        </p:txBody>
      </p:sp>
      <p:sp>
        <p:nvSpPr>
          <p:cNvPr id="3" name="Content Placeholder 2"/>
          <p:cNvSpPr>
            <a:spLocks noGrp="1"/>
          </p:cNvSpPr>
          <p:nvPr>
            <p:ph idx="1"/>
          </p:nvPr>
        </p:nvSpPr>
        <p:spPr>
          <a:xfrm>
            <a:off x="406400" y="1081405"/>
            <a:ext cx="11378565" cy="5272405"/>
          </a:xfrm>
        </p:spPr>
        <p:txBody>
          <a:bodyPr>
            <a:normAutofit/>
          </a:bodyPr>
          <a:lstStyle/>
          <a:p>
            <a:pPr algn="just"/>
            <a:r>
              <a:rPr lang="en-US" dirty="0">
                <a:latin typeface="Times New Roman" panose="02020603050405020304" pitchFamily="18" charset="0"/>
                <a:cs typeface="Times New Roman" panose="02020603050405020304" pitchFamily="18" charset="0"/>
              </a:rPr>
              <a:t>In electricity the “ground” is very important. This is generally a huge body that will be electrically neutral.</a:t>
            </a:r>
          </a:p>
          <a:p>
            <a:pPr algn="just"/>
            <a:r>
              <a:rPr lang="en-US" dirty="0">
                <a:latin typeface="Times New Roman" panose="02020603050405020304" pitchFamily="18" charset="0"/>
                <a:cs typeface="Times New Roman" panose="02020603050405020304" pitchFamily="18" charset="0"/>
              </a:rPr>
              <a:t>The Earth is a great example of “ground.” The human body can also serve as a ground for many cases.</a:t>
            </a:r>
          </a:p>
          <a:p>
            <a:pPr algn="just"/>
            <a:r>
              <a:rPr lang="en-US" dirty="0">
                <a:latin typeface="Times New Roman" panose="02020603050405020304" pitchFamily="18" charset="0"/>
                <a:cs typeface="Times New Roman" panose="02020603050405020304" pitchFamily="18" charset="0"/>
              </a:rPr>
              <a:t>Earthing is the process of sharing charges with the earth or ground. It provides a safety measure for electrical circuits and appliances.</a:t>
            </a:r>
          </a:p>
          <a:p>
            <a:pPr lvl="1"/>
            <a:r>
              <a:rPr lang="en-US" dirty="0"/>
              <a:t>Example: By touching the charged object, you </a:t>
            </a:r>
            <a:r>
              <a:rPr lang="en-US" u="sng" dirty="0"/>
              <a:t>ground </a:t>
            </a:r>
            <a:r>
              <a:rPr lang="en-US" dirty="0"/>
              <a:t>it.</a:t>
            </a:r>
          </a:p>
        </p:txBody>
      </p:sp>
      <p:sp>
        <p:nvSpPr>
          <p:cNvPr id="4" name="Rectangle 5"/>
          <p:cNvSpPr txBox="1">
            <a:spLocks noChangeArrowheads="1"/>
          </p:cNvSpPr>
          <p:nvPr/>
        </p:nvSpPr>
        <p:spPr>
          <a:xfrm>
            <a:off x="1435735" y="152400"/>
            <a:ext cx="8927465" cy="929005"/>
          </a:xfrm>
          <a:prstGeom prst="rect">
            <a:avLst/>
          </a:prstGeom>
          <a:noFill/>
        </p:spPr>
        <p:txBody>
          <a:bodyPr anchor="ctr">
            <a:normAutofit fontScale="32500" lnSpcReduction="20000"/>
          </a:bodyPr>
          <a:lstStyle/>
          <a:p>
            <a:pPr algn="ctr">
              <a:defRPr/>
            </a:pPr>
            <a:r>
              <a:rPr lang="en-US" sz="4400" dirty="0">
                <a:latin typeface="+mj-lt"/>
                <a:ea typeface="+mj-ea"/>
                <a:cs typeface="+mj-cs"/>
              </a:rPr>
              <a:t>   </a:t>
            </a:r>
            <a:r>
              <a:rPr lang="en-US" sz="19200" b="1" u="sng" dirty="0">
                <a:latin typeface="Algerian" panose="04020705040A02060702" pitchFamily="82" charset="0"/>
                <a:ea typeface="+mj-ea"/>
                <a:cs typeface="Algerian" panose="04020705040A02060702" pitchFamily="82" charset="0"/>
              </a:rPr>
              <a:t>Earthing or Ground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370" y="4160520"/>
            <a:ext cx="9762490" cy="24231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189"/>
    </mc:Choice>
    <mc:Fallback xmlns="">
      <p:transition spd="slow" advTm="218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7345" y="1241425"/>
            <a:ext cx="6821805" cy="5516245"/>
          </a:xfrm>
        </p:spPr>
        <p:txBody>
          <a:bodyPr>
            <a:normAutofit fontScale="70000" lnSpcReduction="20000"/>
          </a:bodyPr>
          <a:lstStyle/>
          <a:p>
            <a:pPr algn="just"/>
            <a:r>
              <a:rPr lang="en-US" sz="4415" dirty="0">
                <a:latin typeface="Times New Roman" panose="02020603050405020304" pitchFamily="18" charset="0"/>
                <a:cs typeface="Times New Roman" panose="02020603050405020304" pitchFamily="18" charset="0"/>
              </a:rPr>
              <a:t>This is an instrument for detecting the presence, determining the polarity and magnitude of charges.</a:t>
            </a:r>
          </a:p>
          <a:p>
            <a:pPr algn="just"/>
            <a:r>
              <a:rPr lang="en-US" sz="4415" dirty="0">
                <a:latin typeface="Times New Roman" panose="02020603050405020304" pitchFamily="18" charset="0"/>
                <a:cs typeface="Times New Roman" panose="02020603050405020304" pitchFamily="18" charset="0"/>
              </a:rPr>
              <a:t>A metal disc is connected to a narrow metal plate and a thin piece of gold leaf is fixed to the plate. </a:t>
            </a:r>
          </a:p>
          <a:p>
            <a:pPr algn="just"/>
            <a:r>
              <a:rPr lang="en-US" sz="4415" dirty="0">
                <a:latin typeface="Times New Roman" panose="02020603050405020304" pitchFamily="18" charset="0"/>
                <a:cs typeface="Times New Roman" panose="02020603050405020304" pitchFamily="18" charset="0"/>
              </a:rPr>
              <a:t>The whole of this part of the electroscope is insulated from the body of the instrument. </a:t>
            </a:r>
          </a:p>
          <a:p>
            <a:pPr algn="just"/>
            <a:r>
              <a:rPr lang="en-US" sz="4415" dirty="0">
                <a:latin typeface="Times New Roman" panose="02020603050405020304" pitchFamily="18" charset="0"/>
                <a:cs typeface="Times New Roman" panose="02020603050405020304" pitchFamily="18" charset="0"/>
              </a:rPr>
              <a:t>A glass front prevents air draughts but allows you to watch the behavior of the leaf.</a:t>
            </a:r>
          </a:p>
          <a:p>
            <a:pPr marL="0" indent="0" algn="just">
              <a:buNone/>
            </a:pPr>
            <a:br>
              <a:rPr lang="en-US" sz="4415" dirty="0">
                <a:latin typeface="Times New Roman" panose="02020603050405020304" pitchFamily="18" charset="0"/>
                <a:cs typeface="Times New Roman" panose="02020603050405020304" pitchFamily="18" charset="0"/>
              </a:rPr>
            </a:br>
            <a:endParaRPr lang="en-US" dirty="0"/>
          </a:p>
          <a:p>
            <a:endParaRPr lang="en-US" dirty="0"/>
          </a:p>
        </p:txBody>
      </p:sp>
      <p:sp>
        <p:nvSpPr>
          <p:cNvPr id="8" name="Title 1"/>
          <p:cNvSpPr>
            <a:spLocks noGrp="1"/>
          </p:cNvSpPr>
          <p:nvPr>
            <p:ph type="title"/>
          </p:nvPr>
        </p:nvSpPr>
        <p:spPr>
          <a:xfrm>
            <a:off x="1310005" y="274955"/>
            <a:ext cx="8900795" cy="563245"/>
          </a:xfrm>
        </p:spPr>
        <p:txBody>
          <a:bodyPr>
            <a:normAutofit fontScale="90000"/>
          </a:bodyPr>
          <a:lstStyle/>
          <a:p>
            <a:r>
              <a:rPr lang="en-US" sz="4890" dirty="0">
                <a:latin typeface="Algerian" panose="04020705040A02060702" pitchFamily="82" charset="0"/>
                <a:cs typeface="Algerian" panose="04020705040A02060702" pitchFamily="82" charset="0"/>
              </a:rPr>
              <a:t>The gold leaf electroscope</a:t>
            </a:r>
          </a:p>
        </p:txBody>
      </p:sp>
      <p:pic>
        <p:nvPicPr>
          <p:cNvPr id="100" name="Picture 99"/>
          <p:cNvPicPr/>
          <p:nvPr/>
        </p:nvPicPr>
        <p:blipFill>
          <a:blip r:embed="rId2"/>
          <a:stretch>
            <a:fillRect/>
          </a:stretch>
        </p:blipFill>
        <p:spPr>
          <a:xfrm>
            <a:off x="7561580" y="1241425"/>
            <a:ext cx="4393565" cy="495427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2000" advTm="690"/>
    </mc:Choice>
    <mc:Fallback xmlns="">
      <p:transition spd="slow" advTm="6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0" presetClass="entr" presetSubtype="0" decel="10000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0" presetClass="entr" presetSubtype="0" decel="10000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0" presetClass="entr" presetSubtype="0" decel="10000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3"/>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100"/>
                                        </p:tgtEl>
                                        <p:attrNameLst>
                                          <p:attrName>style.visibility</p:attrName>
                                        </p:attrNameLst>
                                      </p:cBhvr>
                                      <p:to>
                                        <p:strVal val="visible"/>
                                      </p:to>
                                    </p:set>
                                    <p:animEffect transition="in" filter="circle(in)">
                                      <p:cBhvr>
                                        <p:cTn id="42" dur="2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350" y="979805"/>
            <a:ext cx="6939915" cy="5715000"/>
          </a:xfrm>
        </p:spPr>
        <p:txBody>
          <a:bodyPr>
            <a:noAutofit/>
          </a:bodyPr>
          <a:lstStyle/>
          <a:p>
            <a:pPr algn="l"/>
            <a:r>
              <a:rPr lang="en-US" dirty="0">
                <a:latin typeface="Times New Roman" panose="02020603050405020304" pitchFamily="18" charset="0"/>
                <a:cs typeface="Times New Roman" panose="02020603050405020304" pitchFamily="18" charset="0"/>
              </a:rPr>
              <a:t>When a charge is put on the disc at the top it spreads down to the plate and leaf. This means that both the leaf and plate will have the same charge. Similar charges repel each other and so the leaf rises away from the plate - the bigger the charge the more the leaf rises.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leaf can be made to fall again by touching the disc - you have earthed the electroscope. An earth terminal prevents the case from becoming live. The electroscope can be charged in two ways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1033780" y="274955"/>
            <a:ext cx="9323070" cy="544195"/>
          </a:xfrm>
        </p:spPr>
        <p:txBody>
          <a:bodyPr>
            <a:normAutofit fontScale="90000"/>
          </a:bodyPr>
          <a:lstStyle/>
          <a:p>
            <a:r>
              <a:rPr lang="en-US" sz="4890" dirty="0">
                <a:latin typeface="Algerian" panose="04020705040A02060702" pitchFamily="82" charset="0"/>
                <a:cs typeface="Algerian" panose="04020705040A02060702" pitchFamily="82" charset="0"/>
              </a:rPr>
              <a:t>The gold leaf electroscope</a:t>
            </a:r>
          </a:p>
        </p:txBody>
      </p:sp>
      <p:sp>
        <p:nvSpPr>
          <p:cNvPr id="2" name="Text Box 1"/>
          <p:cNvSpPr txBox="1"/>
          <p:nvPr/>
        </p:nvSpPr>
        <p:spPr>
          <a:xfrm>
            <a:off x="7192010" y="819150"/>
            <a:ext cx="4827270" cy="5276850"/>
          </a:xfrm>
          <a:prstGeom prst="rect">
            <a:avLst/>
          </a:prstGeom>
          <a:noFill/>
        </p:spPr>
        <p:txBody>
          <a:bodyPr wrap="square" rtlCol="0" anchor="t">
            <a:noAutofit/>
          </a:bodyPr>
          <a:lstStyle/>
          <a:p>
            <a:pPr algn="just"/>
            <a:r>
              <a:rPr lang="en-US" sz="2800" dirty="0">
                <a:latin typeface="Times New Roman" panose="02020603050405020304" pitchFamily="18" charset="0"/>
                <a:cs typeface="Times New Roman" panose="02020603050405020304" pitchFamily="18" charset="0"/>
                <a:sym typeface="+mn-ea"/>
              </a:rPr>
              <a:t>a) by contact - a charged rod is touched on the surface of the disc and some of the charge is transferred to the electroscope. This is not a very effective method of charging the electroscope.</a:t>
            </a:r>
          </a:p>
          <a:p>
            <a:pPr algn="just"/>
            <a:br>
              <a:rPr lang="en-US" sz="2800" dirty="0">
                <a:latin typeface="Times New Roman" panose="02020603050405020304" pitchFamily="18" charset="0"/>
                <a:cs typeface="Times New Roman" panose="02020603050405020304" pitchFamily="18" charset="0"/>
                <a:sym typeface="+mn-ea"/>
              </a:rPr>
            </a:br>
            <a:r>
              <a:rPr lang="en-US" sz="2800" dirty="0">
                <a:latin typeface="Times New Roman" panose="02020603050405020304" pitchFamily="18" charset="0"/>
                <a:cs typeface="Times New Roman" panose="02020603050405020304" pitchFamily="18" charset="0"/>
                <a:sym typeface="+mn-ea"/>
              </a:rPr>
              <a:t>(b) by induction - a charged rod is brought up to the disc and then the electroscope is earthed, the rod is then removed.</a:t>
            </a:r>
            <a:br>
              <a:rPr lang="en-US" sz="2800" dirty="0">
                <a:latin typeface="Times New Roman" panose="02020603050405020304" pitchFamily="18" charset="0"/>
                <a:cs typeface="Times New Roman" panose="02020603050405020304" pitchFamily="18" charset="0"/>
                <a:sym typeface="+mn-ea"/>
              </a:rPr>
            </a:br>
            <a:r>
              <a:rPr lang="en-US" sz="2800" dirty="0">
                <a:latin typeface="Times New Roman" panose="02020603050405020304" pitchFamily="18" charset="0"/>
                <a:cs typeface="Times New Roman" panose="02020603050405020304" pitchFamily="18" charset="0"/>
                <a:sym typeface="+mn-ea"/>
              </a:rPr>
              <a:t>The two methods give the gold leaf opposite charges.</a:t>
            </a:r>
          </a:p>
        </p:txBody>
      </p:sp>
    </p:spTree>
  </p:cSld>
  <p:clrMapOvr>
    <a:masterClrMapping/>
  </p:clrMapOvr>
  <mc:AlternateContent xmlns:mc="http://schemas.openxmlformats.org/markup-compatibility/2006" xmlns:p14="http://schemas.microsoft.com/office/powerpoint/2010/main">
    <mc:Choice Requires="p14">
      <p:transition spd="slow" p14:dur="2000" advTm="27"/>
    </mc:Choice>
    <mc:Fallback xmlns="">
      <p:transition spd="slow" advTm="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3"/>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203190" y="1974215"/>
            <a:ext cx="6720205" cy="4524375"/>
          </a:xfrm>
          <a:prstGeom prst="rect">
            <a:avLst/>
          </a:prstGeom>
        </p:spPr>
      </p:pic>
      <p:sp>
        <p:nvSpPr>
          <p:cNvPr id="5" name="Title 1"/>
          <p:cNvSpPr>
            <a:spLocks noGrp="1"/>
          </p:cNvSpPr>
          <p:nvPr>
            <p:ph type="title"/>
          </p:nvPr>
        </p:nvSpPr>
        <p:spPr>
          <a:xfrm>
            <a:off x="1981200" y="274638"/>
            <a:ext cx="8229600" cy="868362"/>
          </a:xfrm>
        </p:spPr>
        <p:txBody>
          <a:bodyPr>
            <a:normAutofit fontScale="90000"/>
          </a:bodyPr>
          <a:lstStyle/>
          <a:p>
            <a:r>
              <a:rPr lang="en-US" dirty="0">
                <a:latin typeface="Algerian" panose="04020705040A02060702" pitchFamily="82" charset="0"/>
                <a:cs typeface="Algerian" panose="04020705040A02060702" pitchFamily="82" charset="0"/>
              </a:rPr>
              <a:t>The gold leaf electroscope</a:t>
            </a:r>
          </a:p>
        </p:txBody>
      </p:sp>
      <p:sp>
        <p:nvSpPr>
          <p:cNvPr id="6" name="Rectangle 5"/>
          <p:cNvSpPr/>
          <p:nvPr/>
        </p:nvSpPr>
        <p:spPr>
          <a:xfrm>
            <a:off x="266700" y="1143000"/>
            <a:ext cx="11656695" cy="95313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following diagrams show you how the charges spread over the plate and gold leaf in different conditions.</a:t>
            </a:r>
          </a:p>
        </p:txBody>
      </p:sp>
      <p:pic>
        <p:nvPicPr>
          <p:cNvPr id="7" name="Picture 6"/>
          <p:cNvPicPr>
            <a:picLocks noChangeAspect="1"/>
          </p:cNvPicPr>
          <p:nvPr/>
        </p:nvPicPr>
        <p:blipFill>
          <a:blip r:embed="rId3"/>
          <a:stretch>
            <a:fillRect/>
          </a:stretch>
        </p:blipFill>
        <p:spPr>
          <a:xfrm>
            <a:off x="266700" y="2343785"/>
            <a:ext cx="4470400" cy="41548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70"/>
    </mc:Choice>
    <mc:Fallback xmlns="">
      <p:transition spd="slow" advTm="77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73264" y="1598905"/>
            <a:ext cx="8247061" cy="4999810"/>
          </a:xfrm>
        </p:spPr>
        <p:txBody>
          <a:bodyPr>
            <a:noAutofit/>
          </a:bodyPr>
          <a:lstStyle/>
          <a:p>
            <a:pPr marL="0" indent="0">
              <a:spcBef>
                <a:spcPct val="50000"/>
              </a:spcBef>
              <a:buNone/>
            </a:pPr>
            <a:r>
              <a:rPr lang="en-US" dirty="0">
                <a:latin typeface="Times New Roman" panose="02020603050405020304" pitchFamily="18" charset="0"/>
                <a:cs typeface="Times New Roman" panose="02020603050405020304" pitchFamily="18" charset="0"/>
              </a:rPr>
              <a:t> </a:t>
            </a:r>
          </a:p>
        </p:txBody>
      </p:sp>
      <p:pic>
        <p:nvPicPr>
          <p:cNvPr id="5" name="Picture 4" descr="16_41_Figure.jpg"/>
          <p:cNvPicPr>
            <a:picLocks noChangeAspect="1"/>
          </p:cNvPicPr>
          <p:nvPr/>
        </p:nvPicPr>
        <p:blipFill rotWithShape="1">
          <a:blip r:embed="rId2">
            <a:extLst>
              <a:ext uri="{28A0092B-C50C-407E-A947-70E740481C1C}">
                <a14:useLocalDpi xmlns:a14="http://schemas.microsoft.com/office/drawing/2010/main" val="0"/>
              </a:ext>
            </a:extLst>
          </a:blip>
          <a:srcRect b="4213"/>
          <a:stretch>
            <a:fillRect/>
          </a:stretch>
        </p:blipFill>
        <p:spPr>
          <a:xfrm>
            <a:off x="1953931" y="1946011"/>
            <a:ext cx="8284696" cy="3532015"/>
          </a:xfrm>
          <a:prstGeom prst="rect">
            <a:avLst/>
          </a:prstGeom>
        </p:spPr>
      </p:pic>
      <p:sp>
        <p:nvSpPr>
          <p:cNvPr id="6" name="Title 5"/>
          <p:cNvSpPr>
            <a:spLocks noGrp="1"/>
          </p:cNvSpPr>
          <p:nvPr>
            <p:ph type="title"/>
          </p:nvPr>
        </p:nvSpPr>
        <p:spPr>
          <a:xfrm>
            <a:off x="405765" y="142240"/>
            <a:ext cx="11379835" cy="1144905"/>
          </a:xfrm>
        </p:spPr>
        <p:txBody>
          <a:bodyPr/>
          <a:lstStyle/>
          <a:p>
            <a:pPr algn="just">
              <a:spcBef>
                <a:spcPct val="50000"/>
              </a:spcBef>
            </a:pPr>
            <a:r>
              <a:rPr lang="en-US" dirty="0">
                <a:solidFill>
                  <a:srgbClr val="00B050"/>
                </a:solidFill>
                <a:latin typeface="Algerian" panose="04020705040A02060702" pitchFamily="82" charset="0"/>
                <a:cs typeface="Algerian" panose="04020705040A02060702" pitchFamily="82" charset="0"/>
              </a:rPr>
              <a:t>Photocopy Machines and Computer Printers Use Electrostatics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5765" y="1598930"/>
            <a:ext cx="11380470" cy="4999990"/>
          </a:xfrm>
        </p:spPr>
        <p:txBody>
          <a:bodyPr>
            <a:noAutofit/>
          </a:bodyPr>
          <a:lstStyle/>
          <a:p>
            <a:pPr marL="0" indent="0" algn="just">
              <a:spcBef>
                <a:spcPct val="50000"/>
              </a:spcBef>
              <a:buNone/>
            </a:pPr>
            <a:r>
              <a:rPr lang="en-US" sz="3600" dirty="0">
                <a:latin typeface="Times New Roman" panose="02020603050405020304" pitchFamily="18" charset="0"/>
                <a:cs typeface="Times New Roman" panose="02020603050405020304" pitchFamily="18" charset="0"/>
              </a:rPr>
              <a:t>Laser printer is similar, except a computer controls the laser intensity to form the image on the drum</a:t>
            </a:r>
          </a:p>
        </p:txBody>
      </p:sp>
      <p:sp>
        <p:nvSpPr>
          <p:cNvPr id="2" name="Title 1"/>
          <p:cNvSpPr>
            <a:spLocks noGrp="1"/>
          </p:cNvSpPr>
          <p:nvPr>
            <p:ph type="title"/>
          </p:nvPr>
        </p:nvSpPr>
        <p:spPr>
          <a:xfrm>
            <a:off x="405765" y="142240"/>
            <a:ext cx="11379835" cy="1144905"/>
          </a:xfrm>
        </p:spPr>
        <p:txBody>
          <a:bodyPr/>
          <a:lstStyle/>
          <a:p>
            <a:pPr algn="just">
              <a:spcBef>
                <a:spcPct val="50000"/>
              </a:spcBef>
            </a:pPr>
            <a:r>
              <a:rPr lang="en-US" dirty="0">
                <a:solidFill>
                  <a:srgbClr val="00B050"/>
                </a:solidFill>
                <a:latin typeface="Algerian" panose="04020705040A02060702" pitchFamily="82" charset="0"/>
                <a:cs typeface="Algerian" panose="04020705040A02060702" pitchFamily="82" charset="0"/>
              </a:rPr>
              <a:t>Photocopy Machines and Computer Printers Use Electrostatics</a:t>
            </a:r>
          </a:p>
        </p:txBody>
      </p:sp>
      <p:pic>
        <p:nvPicPr>
          <p:cNvPr id="6" name="Picture 5" descr="16_42_Figure.jpg"/>
          <p:cNvPicPr>
            <a:picLocks noChangeAspect="1"/>
          </p:cNvPicPr>
          <p:nvPr/>
        </p:nvPicPr>
        <p:blipFill rotWithShape="1">
          <a:blip r:embed="rId2">
            <a:extLst>
              <a:ext uri="{28A0092B-C50C-407E-A947-70E740481C1C}">
                <a14:useLocalDpi xmlns:a14="http://schemas.microsoft.com/office/drawing/2010/main" val="0"/>
              </a:ext>
            </a:extLst>
          </a:blip>
          <a:srcRect b="4747"/>
          <a:stretch>
            <a:fillRect/>
          </a:stretch>
        </p:blipFill>
        <p:spPr>
          <a:xfrm>
            <a:off x="1775520" y="3386593"/>
            <a:ext cx="8249945" cy="310520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8120" y="1184275"/>
            <a:ext cx="11767185" cy="5450840"/>
          </a:xfrm>
          <a:prstGeom prst="rect">
            <a:avLst/>
          </a:prstGeom>
        </p:spPr>
      </p:pic>
      <p:sp>
        <p:nvSpPr>
          <p:cNvPr id="5" name="Text Box 4"/>
          <p:cNvSpPr txBox="1"/>
          <p:nvPr/>
        </p:nvSpPr>
        <p:spPr>
          <a:xfrm>
            <a:off x="2581275" y="130175"/>
            <a:ext cx="7846060" cy="892810"/>
          </a:xfrm>
          <a:prstGeom prst="rect">
            <a:avLst/>
          </a:prstGeom>
          <a:noFill/>
        </p:spPr>
        <p:txBody>
          <a:bodyPr wrap="square" rtlCol="0" anchor="t">
            <a:noAutofit/>
          </a:bodyPr>
          <a:lstStyle/>
          <a:p>
            <a:r>
              <a:rPr lang="en-US" sz="5400">
                <a:latin typeface="Algerian" panose="04020705040A02060702" pitchFamily="82" charset="0"/>
                <a:cs typeface="Algerian" panose="04020705040A02060702" pitchFamily="82" charset="0"/>
              </a:rPr>
              <a:t>ELECTRIC CHARGE</a:t>
            </a:r>
          </a:p>
          <a:p>
            <a:endParaRPr lang="en-US" sz="5400">
              <a:latin typeface="Algerian" panose="04020705040A02060702" pitchFamily="82" charset="0"/>
              <a:cs typeface="Algerian" panose="04020705040A02060702" pitchFamily="82"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AF2C-78A0-48DE-97E7-D6FFCC6FA3C4}"/>
              </a:ext>
            </a:extLst>
          </p:cNvPr>
          <p:cNvSpPr>
            <a:spLocks noGrp="1"/>
          </p:cNvSpPr>
          <p:nvPr>
            <p:ph type="title"/>
          </p:nvPr>
        </p:nvSpPr>
        <p:spPr>
          <a:xfrm>
            <a:off x="1349827" y="109019"/>
            <a:ext cx="9013371" cy="834410"/>
          </a:xfrm>
        </p:spPr>
        <p:txBody>
          <a:bodyPr>
            <a:normAutofit/>
          </a:bodyPr>
          <a:lstStyle/>
          <a:p>
            <a:r>
              <a:rPr lang="en-US" dirty="0">
                <a:solidFill>
                  <a:srgbClr val="FF0000"/>
                </a:solidFill>
                <a:latin typeface="Algerian" panose="04020705040A02060702" pitchFamily="82" charset="0"/>
              </a:rPr>
              <a:t>Electric force/coulomb’s law </a:t>
            </a:r>
          </a:p>
        </p:txBody>
      </p:sp>
      <p:pic>
        <p:nvPicPr>
          <p:cNvPr id="7" name="Picture 6">
            <a:extLst>
              <a:ext uri="{FF2B5EF4-FFF2-40B4-BE49-F238E27FC236}">
                <a16:creationId xmlns:a16="http://schemas.microsoft.com/office/drawing/2014/main" id="{79073D4E-6ED6-FBD9-17CA-19DA6330B422}"/>
              </a:ext>
            </a:extLst>
          </p:cNvPr>
          <p:cNvPicPr>
            <a:picLocks noChangeAspect="1"/>
          </p:cNvPicPr>
          <p:nvPr/>
        </p:nvPicPr>
        <p:blipFill>
          <a:blip r:embed="rId2"/>
          <a:stretch>
            <a:fillRect/>
          </a:stretch>
        </p:blipFill>
        <p:spPr>
          <a:xfrm>
            <a:off x="0" y="784367"/>
            <a:ext cx="4296229" cy="5607392"/>
          </a:xfrm>
          <a:prstGeom prst="rect">
            <a:avLst/>
          </a:prstGeom>
        </p:spPr>
      </p:pic>
      <p:pic>
        <p:nvPicPr>
          <p:cNvPr id="9" name="Picture 8">
            <a:extLst>
              <a:ext uri="{FF2B5EF4-FFF2-40B4-BE49-F238E27FC236}">
                <a16:creationId xmlns:a16="http://schemas.microsoft.com/office/drawing/2014/main" id="{F96A2352-6542-6C1A-20BE-193044C293A4}"/>
              </a:ext>
            </a:extLst>
          </p:cNvPr>
          <p:cNvPicPr>
            <a:picLocks noChangeAspect="1"/>
          </p:cNvPicPr>
          <p:nvPr/>
        </p:nvPicPr>
        <p:blipFill>
          <a:blip r:embed="rId3"/>
          <a:stretch>
            <a:fillRect/>
          </a:stretch>
        </p:blipFill>
        <p:spPr>
          <a:xfrm>
            <a:off x="4296230" y="718472"/>
            <a:ext cx="3497944" cy="5798441"/>
          </a:xfrm>
          <a:prstGeom prst="rect">
            <a:avLst/>
          </a:prstGeom>
        </p:spPr>
      </p:pic>
      <p:pic>
        <p:nvPicPr>
          <p:cNvPr id="12" name="Picture 11">
            <a:extLst>
              <a:ext uri="{FF2B5EF4-FFF2-40B4-BE49-F238E27FC236}">
                <a16:creationId xmlns:a16="http://schemas.microsoft.com/office/drawing/2014/main" id="{DE7F928A-21F3-9B67-90E7-860F6E9B476B}"/>
              </a:ext>
            </a:extLst>
          </p:cNvPr>
          <p:cNvPicPr>
            <a:picLocks noChangeAspect="1"/>
          </p:cNvPicPr>
          <p:nvPr/>
        </p:nvPicPr>
        <p:blipFill>
          <a:blip r:embed="rId4"/>
          <a:stretch>
            <a:fillRect/>
          </a:stretch>
        </p:blipFill>
        <p:spPr>
          <a:xfrm>
            <a:off x="7910286" y="784366"/>
            <a:ext cx="4136571" cy="5798441"/>
          </a:xfrm>
          <a:prstGeom prst="rect">
            <a:avLst/>
          </a:prstGeom>
        </p:spPr>
      </p:pic>
    </p:spTree>
    <p:extLst>
      <p:ext uri="{BB962C8B-B14F-4D97-AF65-F5344CB8AC3E}">
        <p14:creationId xmlns:p14="http://schemas.microsoft.com/office/powerpoint/2010/main" val="548447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E017FE-2BF0-46E3-8EFB-B53AE2A9275D}"/>
              </a:ext>
            </a:extLst>
          </p:cNvPr>
          <p:cNvSpPr>
            <a:spLocks noGrp="1"/>
          </p:cNvSpPr>
          <p:nvPr>
            <p:ph sz="half" idx="1"/>
          </p:nvPr>
        </p:nvSpPr>
        <p:spPr>
          <a:xfrm>
            <a:off x="116114" y="868364"/>
            <a:ext cx="7580040" cy="2634463"/>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Charles Coulomb (1736-1806) studied the magnitude of this force using a torsion balance.</a:t>
            </a:r>
          </a:p>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torsion balance</a:t>
            </a:r>
            <a:r>
              <a:rPr lang="en-US" dirty="0">
                <a:latin typeface="Times New Roman" panose="02020603050405020304" pitchFamily="18" charset="0"/>
                <a:cs typeface="Times New Roman" panose="02020603050405020304" pitchFamily="18" charset="0"/>
              </a:rPr>
              <a:t> consists essentially of two small masses at different elevations that are supported at opposite ends of a beam. The latter is suspended from a wire that undergoes </a:t>
            </a:r>
            <a:r>
              <a:rPr lang="en-US" b="1" dirty="0">
                <a:latin typeface="Times New Roman" panose="02020603050405020304" pitchFamily="18" charset="0"/>
                <a:cs typeface="Times New Roman" panose="02020603050405020304" pitchFamily="18" charset="0"/>
              </a:rPr>
              <a:t>torsion</a:t>
            </a:r>
            <a:r>
              <a:rPr lang="en-US" dirty="0">
                <a:latin typeface="Times New Roman" panose="02020603050405020304" pitchFamily="18" charset="0"/>
                <a:cs typeface="Times New Roman" panose="02020603050405020304" pitchFamily="18" charset="0"/>
              </a:rPr>
              <a:t> because the masses are affected differently by the force of gravity.</a:t>
            </a:r>
          </a:p>
          <a:p>
            <a:endParaRPr lang="en-US" dirty="0"/>
          </a:p>
        </p:txBody>
      </p:sp>
      <p:sp>
        <p:nvSpPr>
          <p:cNvPr id="6" name="Title 1">
            <a:extLst>
              <a:ext uri="{FF2B5EF4-FFF2-40B4-BE49-F238E27FC236}">
                <a16:creationId xmlns:a16="http://schemas.microsoft.com/office/drawing/2014/main" id="{E519CBFC-3967-473B-ABBB-60B75BD4E750}"/>
              </a:ext>
            </a:extLst>
          </p:cNvPr>
          <p:cNvSpPr>
            <a:spLocks noGrp="1"/>
          </p:cNvSpPr>
          <p:nvPr>
            <p:ph type="title"/>
          </p:nvPr>
        </p:nvSpPr>
        <p:spPr>
          <a:xfrm>
            <a:off x="1981200" y="274639"/>
            <a:ext cx="4376057" cy="593725"/>
          </a:xfrm>
        </p:spPr>
        <p:txBody>
          <a:bodyPr>
            <a:normAutofit fontScale="90000"/>
          </a:bodyPr>
          <a:lstStyle/>
          <a:p>
            <a:r>
              <a:rPr lang="en-US" dirty="0">
                <a:latin typeface="Algerian" panose="04020705040A02060702" pitchFamily="82" charset="0"/>
              </a:rPr>
              <a:t>Electric Force</a:t>
            </a:r>
          </a:p>
        </p:txBody>
      </p:sp>
      <p:pic>
        <p:nvPicPr>
          <p:cNvPr id="8" name="Picture 7">
            <a:extLst>
              <a:ext uri="{FF2B5EF4-FFF2-40B4-BE49-F238E27FC236}">
                <a16:creationId xmlns:a16="http://schemas.microsoft.com/office/drawing/2014/main" id="{CC73A39F-B837-80F4-56B6-09CAFF135DC6}"/>
              </a:ext>
            </a:extLst>
          </p:cNvPr>
          <p:cNvPicPr>
            <a:picLocks noChangeAspect="1"/>
          </p:cNvPicPr>
          <p:nvPr/>
        </p:nvPicPr>
        <p:blipFill>
          <a:blip r:embed="rId2"/>
          <a:stretch>
            <a:fillRect/>
          </a:stretch>
        </p:blipFill>
        <p:spPr>
          <a:xfrm>
            <a:off x="7696153" y="101600"/>
            <a:ext cx="4263617" cy="6386285"/>
          </a:xfrm>
          <a:prstGeom prst="rect">
            <a:avLst/>
          </a:prstGeom>
        </p:spPr>
      </p:pic>
      <p:sp>
        <p:nvSpPr>
          <p:cNvPr id="11" name="TextBox 10">
            <a:extLst>
              <a:ext uri="{FF2B5EF4-FFF2-40B4-BE49-F238E27FC236}">
                <a16:creationId xmlns:a16="http://schemas.microsoft.com/office/drawing/2014/main" id="{EC0219A1-FD03-7291-165E-C51A2EA09C67}"/>
              </a:ext>
            </a:extLst>
          </p:cNvPr>
          <p:cNvSpPr txBox="1"/>
          <p:nvPr/>
        </p:nvSpPr>
        <p:spPr>
          <a:xfrm>
            <a:off x="250325" y="3502827"/>
            <a:ext cx="7093904" cy="2092881"/>
          </a:xfrm>
          <a:prstGeom prst="rect">
            <a:avLst/>
          </a:prstGeom>
          <a:noFill/>
        </p:spPr>
        <p:txBody>
          <a:bodyPr wrap="square">
            <a:spAutoFit/>
          </a:bodyPr>
          <a:lstStyle/>
          <a:p>
            <a:pPr algn="just">
              <a:buNone/>
            </a:pPr>
            <a:r>
              <a:rPr lang="en-US" sz="2600" dirty="0">
                <a:solidFill>
                  <a:srgbClr val="231F20"/>
                </a:solidFill>
                <a:effectLst/>
                <a:latin typeface="TimesTen-Roman"/>
              </a:rPr>
              <a:t>Coulomb’s law describes the force between two charges when they are at rest. </a:t>
            </a:r>
            <a:endParaRPr lang="en-US" sz="2600" dirty="0"/>
          </a:p>
          <a:p>
            <a:pPr algn="just">
              <a:buNone/>
            </a:pPr>
            <a:r>
              <a:rPr lang="en-US" sz="2600" dirty="0">
                <a:solidFill>
                  <a:srgbClr val="231F20"/>
                </a:solidFill>
                <a:effectLst/>
                <a:latin typeface="TimesTen-Roman"/>
              </a:rPr>
              <a:t>Additional forces come into play when charges are in motion</a:t>
            </a:r>
            <a:r>
              <a:rPr lang="en-US" sz="2600" dirty="0">
                <a:solidFill>
                  <a:srgbClr val="231F20"/>
                </a:solidFill>
                <a:latin typeface="TimesTen-Roman"/>
              </a:rPr>
              <a:t>. </a:t>
            </a:r>
            <a:r>
              <a:rPr lang="en-US" sz="2600" dirty="0">
                <a:solidFill>
                  <a:srgbClr val="231F20"/>
                </a:solidFill>
                <a:effectLst/>
                <a:latin typeface="TimesTen-Roman"/>
              </a:rPr>
              <a:t>Coulomb’s law gives the </a:t>
            </a:r>
            <a:r>
              <a:rPr lang="en-US" sz="2600" b="1" dirty="0">
                <a:solidFill>
                  <a:srgbClr val="231F20"/>
                </a:solidFill>
                <a:effectLst/>
                <a:latin typeface="TimesTen-Bold"/>
              </a:rPr>
              <a:t>electrostatic force</a:t>
            </a:r>
            <a:endParaRPr lang="en-NG" sz="2600" dirty="0"/>
          </a:p>
        </p:txBody>
      </p:sp>
    </p:spTree>
    <p:extLst>
      <p:ext uri="{BB962C8B-B14F-4D97-AF65-F5344CB8AC3E}">
        <p14:creationId xmlns:p14="http://schemas.microsoft.com/office/powerpoint/2010/main" val="2445219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B315F7-CB4D-441F-A5D3-B60351BA876D}"/>
              </a:ext>
            </a:extLst>
          </p:cNvPr>
          <p:cNvSpPr>
            <a:spLocks noGrp="1"/>
          </p:cNvSpPr>
          <p:nvPr>
            <p:ph idx="1"/>
          </p:nvPr>
        </p:nvSpPr>
        <p:spPr>
          <a:xfrm>
            <a:off x="116114" y="830943"/>
            <a:ext cx="7895772" cy="4365171"/>
          </a:xfrm>
        </p:spPr>
        <p:txBody>
          <a:bodyPr>
            <a:normAutofit/>
          </a:bodyPr>
          <a:lstStyle/>
          <a:p>
            <a:pPr algn="just"/>
            <a:r>
              <a:rPr lang="en-US" dirty="0">
                <a:latin typeface="Times New Roman" panose="02020603050405020304" pitchFamily="18" charset="0"/>
                <a:cs typeface="Times New Roman" panose="02020603050405020304" pitchFamily="18" charset="0"/>
              </a:rPr>
              <a:t>The experiment showed that the electrostatic force is directly proportional to the product of the charges on the metal spheres and inversely proportional to the square of the distance between them. </a:t>
            </a:r>
            <a:r>
              <a:rPr lang="en-US" b="1" dirty="0">
                <a:latin typeface="Times New Roman" panose="02020603050405020304" pitchFamily="18" charset="0"/>
                <a:cs typeface="Times New Roman" panose="02020603050405020304" pitchFamily="18" charset="0"/>
              </a:rPr>
              <a:t>This was the basis of coulomb’s law.</a:t>
            </a:r>
          </a:p>
          <a:p>
            <a:pPr algn="just"/>
            <a:r>
              <a:rPr lang="en-US" dirty="0">
                <a:latin typeface="Times New Roman" panose="02020603050405020304" pitchFamily="18" charset="0"/>
                <a:cs typeface="Times New Roman" panose="02020603050405020304" pitchFamily="18" charset="0"/>
              </a:rPr>
              <a:t>Charles Coulomb observed that when two electric charges are placed close to each other, </a:t>
            </a:r>
            <a:r>
              <a:rPr lang="en-US" b="1" i="1" dirty="0">
                <a:latin typeface="Times New Roman" panose="02020603050405020304" pitchFamily="18" charset="0"/>
                <a:cs typeface="Times New Roman" panose="02020603050405020304" pitchFamily="18" charset="0"/>
              </a:rPr>
              <a:t>they experience a force. </a:t>
            </a:r>
          </a:p>
          <a:p>
            <a:pPr algn="just"/>
            <a:r>
              <a:rPr lang="en-US" dirty="0">
                <a:latin typeface="Times New Roman" panose="02020603050405020304" pitchFamily="18" charset="0"/>
                <a:cs typeface="Times New Roman" panose="02020603050405020304" pitchFamily="18" charset="0"/>
              </a:rPr>
              <a:t>He used a torsion balance to measure the repulsive and attractive forces between charged particles. </a:t>
            </a:r>
          </a:p>
        </p:txBody>
      </p:sp>
      <p:sp>
        <p:nvSpPr>
          <p:cNvPr id="4" name="Title 1">
            <a:extLst>
              <a:ext uri="{FF2B5EF4-FFF2-40B4-BE49-F238E27FC236}">
                <a16:creationId xmlns:a16="http://schemas.microsoft.com/office/drawing/2014/main" id="{DB0843F6-C2F5-4D9B-A74D-6BCD9E3CC700}"/>
              </a:ext>
            </a:extLst>
          </p:cNvPr>
          <p:cNvSpPr>
            <a:spLocks noGrp="1"/>
          </p:cNvSpPr>
          <p:nvPr>
            <p:ph type="title"/>
          </p:nvPr>
        </p:nvSpPr>
        <p:spPr>
          <a:xfrm>
            <a:off x="2735943" y="114981"/>
            <a:ext cx="4651829" cy="715962"/>
          </a:xfrm>
        </p:spPr>
        <p:txBody>
          <a:bodyPr>
            <a:normAutofit/>
          </a:bodyPr>
          <a:lstStyle/>
          <a:p>
            <a:r>
              <a:rPr lang="en-US" dirty="0">
                <a:latin typeface="Algerian" panose="04020705040A02060702" pitchFamily="82" charset="0"/>
              </a:rPr>
              <a:t>Electric Force</a:t>
            </a:r>
          </a:p>
        </p:txBody>
      </p:sp>
      <p:pic>
        <p:nvPicPr>
          <p:cNvPr id="2" name="Picture 1">
            <a:extLst>
              <a:ext uri="{FF2B5EF4-FFF2-40B4-BE49-F238E27FC236}">
                <a16:creationId xmlns:a16="http://schemas.microsoft.com/office/drawing/2014/main" id="{00ED0762-4D33-5BAF-7F97-BFAAEBF16B03}"/>
              </a:ext>
            </a:extLst>
          </p:cNvPr>
          <p:cNvPicPr>
            <a:picLocks noChangeAspect="1"/>
          </p:cNvPicPr>
          <p:nvPr/>
        </p:nvPicPr>
        <p:blipFill>
          <a:blip r:embed="rId2"/>
          <a:stretch>
            <a:fillRect/>
          </a:stretch>
        </p:blipFill>
        <p:spPr>
          <a:xfrm>
            <a:off x="8498114" y="0"/>
            <a:ext cx="3577772" cy="6691086"/>
          </a:xfrm>
          <a:prstGeom prst="rect">
            <a:avLst/>
          </a:prstGeom>
        </p:spPr>
      </p:pic>
    </p:spTree>
    <p:extLst>
      <p:ext uri="{BB962C8B-B14F-4D97-AF65-F5344CB8AC3E}">
        <p14:creationId xmlns:p14="http://schemas.microsoft.com/office/powerpoint/2010/main" val="1685936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EAD65-EC04-4310-9609-5BEBBCA35F91}"/>
              </a:ext>
            </a:extLst>
          </p:cNvPr>
          <p:cNvSpPr>
            <a:spLocks noGrp="1"/>
          </p:cNvSpPr>
          <p:nvPr>
            <p:ph type="title"/>
          </p:nvPr>
        </p:nvSpPr>
        <p:spPr>
          <a:xfrm>
            <a:off x="3450771" y="181428"/>
            <a:ext cx="4706257" cy="892629"/>
          </a:xfrm>
        </p:spPr>
        <p:txBody>
          <a:bodyPr/>
          <a:lstStyle/>
          <a:p>
            <a:r>
              <a:rPr lang="en-US" dirty="0">
                <a:latin typeface="Algerian" panose="04020705040A02060702" pitchFamily="82" charset="0"/>
              </a:rPr>
              <a:t>Coulomb’s law.</a:t>
            </a:r>
          </a:p>
        </p:txBody>
      </p:sp>
      <p:sp>
        <p:nvSpPr>
          <p:cNvPr id="3" name="Content Placeholder 2">
            <a:extLst>
              <a:ext uri="{FF2B5EF4-FFF2-40B4-BE49-F238E27FC236}">
                <a16:creationId xmlns:a16="http://schemas.microsoft.com/office/drawing/2014/main" id="{5E8E96C4-AC7E-47FC-AEA6-4EB73E66C1CB}"/>
              </a:ext>
            </a:extLst>
          </p:cNvPr>
          <p:cNvSpPr>
            <a:spLocks noGrp="1"/>
          </p:cNvSpPr>
          <p:nvPr>
            <p:ph idx="1"/>
          </p:nvPr>
        </p:nvSpPr>
        <p:spPr>
          <a:xfrm>
            <a:off x="286657" y="1074057"/>
            <a:ext cx="11774714" cy="1698172"/>
          </a:xfrm>
        </p:spPr>
        <p:txBody>
          <a:bodyPr>
            <a:normAutofit/>
          </a:bodyPr>
          <a:lstStyle/>
          <a:p>
            <a:pPr algn="just">
              <a:buFont typeface="Wingdings" panose="05000000000000000000" pitchFamily="2" charset="2"/>
              <a:buChar char="q"/>
            </a:pPr>
            <a:r>
              <a:rPr lang="en-US" b="1" i="1" dirty="0">
                <a:latin typeface="Times New Roman" panose="02020603050405020304" pitchFamily="18" charset="0"/>
                <a:cs typeface="Times New Roman" panose="02020603050405020304" pitchFamily="18" charset="0"/>
              </a:rPr>
              <a:t>Coulomb’s law states </a:t>
            </a:r>
            <a:r>
              <a:rPr lang="en-US" i="1" dirty="0">
                <a:latin typeface="Times New Roman" panose="02020603050405020304" pitchFamily="18" charset="0"/>
                <a:cs typeface="Times New Roman" panose="02020603050405020304" pitchFamily="18" charset="0"/>
              </a:rPr>
              <a:t>that, the force of attraction or repulsion between the two electrically charged particles is directly proportional to the product of their charges and inversely proportional to the square of the distance between two charges, and acts along the line joining the two charges</a:t>
            </a:r>
            <a:r>
              <a:rPr lang="en-US"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EEB41D70-8B3C-4296-729E-7C1CF4FDC393}"/>
              </a:ext>
            </a:extLst>
          </p:cNvPr>
          <p:cNvSpPr txBox="1"/>
          <p:nvPr/>
        </p:nvSpPr>
        <p:spPr>
          <a:xfrm>
            <a:off x="537028" y="2841901"/>
            <a:ext cx="11350171" cy="1384995"/>
          </a:xfrm>
          <a:prstGeom prst="rect">
            <a:avLst/>
          </a:prstGeom>
          <a:noFill/>
        </p:spPr>
        <p:txBody>
          <a:bodyPr wrap="square">
            <a:spAutoFit/>
          </a:bodyPr>
          <a:lstStyle/>
          <a:p>
            <a:pPr algn="just">
              <a:buNone/>
            </a:pPr>
            <a:r>
              <a:rPr lang="en-US" sz="2800" dirty="0">
                <a:solidFill>
                  <a:srgbClr val="231F20"/>
                </a:solidFill>
                <a:effectLst/>
                <a:latin typeface="TimesTen-Roman"/>
              </a:rPr>
              <a:t>Coulomb’s law looks a lot like the </a:t>
            </a:r>
            <a:r>
              <a:rPr lang="en-US" sz="2800" i="1" dirty="0">
                <a:solidFill>
                  <a:srgbClr val="231F20"/>
                </a:solidFill>
                <a:effectLst/>
                <a:latin typeface="TimesTen-Italic"/>
              </a:rPr>
              <a:t>la</a:t>
            </a:r>
            <a:r>
              <a:rPr lang="en-US" sz="2800" dirty="0">
                <a:solidFill>
                  <a:srgbClr val="231F20"/>
                </a:solidFill>
                <a:effectLst/>
                <a:latin typeface="CoreTTI2k"/>
              </a:rPr>
              <a:t>w </a:t>
            </a:r>
            <a:r>
              <a:rPr lang="en-US" sz="2800" i="1" dirty="0">
                <a:solidFill>
                  <a:srgbClr val="231F20"/>
                </a:solidFill>
                <a:effectLst/>
                <a:latin typeface="TimesTen-Italic"/>
              </a:rPr>
              <a:t>of uni</a:t>
            </a:r>
            <a:r>
              <a:rPr lang="en-US" sz="2800" dirty="0">
                <a:solidFill>
                  <a:srgbClr val="231F20"/>
                </a:solidFill>
                <a:effectLst/>
                <a:latin typeface="CoreTTI2k"/>
              </a:rPr>
              <a:t>v</a:t>
            </a:r>
            <a:r>
              <a:rPr lang="en-US" sz="2800" i="1" dirty="0">
                <a:solidFill>
                  <a:srgbClr val="231F20"/>
                </a:solidFill>
                <a:effectLst/>
                <a:latin typeface="TimesTen-Italic"/>
              </a:rPr>
              <a:t>ersal gra</a:t>
            </a:r>
            <a:r>
              <a:rPr lang="en-US" sz="2800" dirty="0">
                <a:solidFill>
                  <a:srgbClr val="231F20"/>
                </a:solidFill>
                <a:effectLst/>
                <a:latin typeface="CoreTTI2k"/>
              </a:rPr>
              <a:t>v</a:t>
            </a:r>
            <a:r>
              <a:rPr lang="en-US" sz="2800" i="1" dirty="0">
                <a:solidFill>
                  <a:srgbClr val="231F20"/>
                </a:solidFill>
                <a:effectLst/>
                <a:latin typeface="TimesTen-Italic"/>
              </a:rPr>
              <a:t>itation</a:t>
            </a:r>
            <a:r>
              <a:rPr lang="en-US" sz="2800" dirty="0">
                <a:solidFill>
                  <a:srgbClr val="231F20"/>
                </a:solidFill>
                <a:effectLst/>
                <a:latin typeface="TimesTen-Roman"/>
              </a:rPr>
              <a:t>, which expresses the magnitude of the gravitational force a mass exerts on a mass. Both are </a:t>
            </a:r>
            <a:r>
              <a:rPr lang="en-US" sz="2800" b="1" dirty="0">
                <a:solidFill>
                  <a:srgbClr val="231F20"/>
                </a:solidFill>
                <a:effectLst/>
                <a:latin typeface="TimesTen-Bold"/>
              </a:rPr>
              <a:t>inverse square laws</a:t>
            </a:r>
            <a:endParaRPr lang="en-NG" sz="2800" dirty="0"/>
          </a:p>
        </p:txBody>
      </p:sp>
      <p:sp>
        <p:nvSpPr>
          <p:cNvPr id="7" name="TextBox 6">
            <a:extLst>
              <a:ext uri="{FF2B5EF4-FFF2-40B4-BE49-F238E27FC236}">
                <a16:creationId xmlns:a16="http://schemas.microsoft.com/office/drawing/2014/main" id="{B1245252-50C3-F644-D3C6-474A3A591A65}"/>
              </a:ext>
            </a:extLst>
          </p:cNvPr>
          <p:cNvSpPr txBox="1"/>
          <p:nvPr/>
        </p:nvSpPr>
        <p:spPr>
          <a:xfrm>
            <a:off x="339272" y="4172078"/>
            <a:ext cx="11669484" cy="2677656"/>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This force of attraction or repulsion between two charges is also </a:t>
            </a:r>
            <a:r>
              <a:rPr lang="en-US" sz="2800" i="1" dirty="0">
                <a:latin typeface="Times New Roman" panose="02020603050405020304" pitchFamily="18" charset="0"/>
                <a:cs typeface="Times New Roman" panose="02020603050405020304" pitchFamily="18" charset="0"/>
              </a:rPr>
              <a:t>depends on the medium in which charges are placed.</a:t>
            </a:r>
          </a:p>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If we </a:t>
            </a:r>
            <a:r>
              <a:rPr lang="en-US" sz="2800" b="1" dirty="0">
                <a:latin typeface="Times New Roman" panose="02020603050405020304" pitchFamily="18" charset="0"/>
                <a:cs typeface="Times New Roman" panose="02020603050405020304" pitchFamily="18" charset="0"/>
              </a:rPr>
              <a:t>increase</a:t>
            </a:r>
            <a:r>
              <a:rPr lang="en-US" sz="2800" dirty="0">
                <a:latin typeface="Times New Roman" panose="02020603050405020304" pitchFamily="18" charset="0"/>
                <a:cs typeface="Times New Roman" panose="02020603050405020304" pitchFamily="18" charset="0"/>
              </a:rPr>
              <a:t> the distance between two-point charges, the force of attraction or repulsion present between them will </a:t>
            </a:r>
            <a:r>
              <a:rPr lang="en-US" sz="2800" b="1" dirty="0">
                <a:latin typeface="Times New Roman" panose="02020603050405020304" pitchFamily="18" charset="0"/>
                <a:cs typeface="Times New Roman" panose="02020603050405020304" pitchFamily="18" charset="0"/>
              </a:rPr>
              <a:t>decrease</a:t>
            </a:r>
            <a:r>
              <a:rPr lang="en-US" sz="2800" dirty="0">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In the similar way, if we </a:t>
            </a:r>
            <a:r>
              <a:rPr lang="en-US" sz="2800" b="1" dirty="0">
                <a:latin typeface="Times New Roman" panose="02020603050405020304" pitchFamily="18" charset="0"/>
                <a:cs typeface="Times New Roman" panose="02020603050405020304" pitchFamily="18" charset="0"/>
              </a:rPr>
              <a:t>decrease</a:t>
            </a:r>
            <a:r>
              <a:rPr lang="en-US" sz="2800" dirty="0">
                <a:latin typeface="Times New Roman" panose="02020603050405020304" pitchFamily="18" charset="0"/>
                <a:cs typeface="Times New Roman" panose="02020603050405020304" pitchFamily="18" charset="0"/>
              </a:rPr>
              <a:t> the distance between two-point charges, the force of attraction or repulsion present between them will </a:t>
            </a:r>
            <a:r>
              <a:rPr lang="en-US" sz="2800" b="1" dirty="0">
                <a:latin typeface="Times New Roman" panose="02020603050405020304" pitchFamily="18" charset="0"/>
                <a:cs typeface="Times New Roman" panose="02020603050405020304" pitchFamily="18" charset="0"/>
              </a:rPr>
              <a:t>increase</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3950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Rectangle 3">
            <a:extLst>
              <a:ext uri="{FF2B5EF4-FFF2-40B4-BE49-F238E27FC236}">
                <a16:creationId xmlns:a16="http://schemas.microsoft.com/office/drawing/2014/main" id="{24D4F27D-9F28-4E44-A1EA-7CEAE8D0B1D7}"/>
              </a:ext>
            </a:extLst>
          </p:cNvPr>
          <p:cNvSpPr txBox="1">
            <a:spLocks noChangeArrowheads="1"/>
          </p:cNvSpPr>
          <p:nvPr/>
        </p:nvSpPr>
        <p:spPr bwMode="auto">
          <a:xfrm>
            <a:off x="212725" y="888998"/>
            <a:ext cx="11848645" cy="1022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800" dirty="0">
                <a:latin typeface="Times New Roman" panose="02020603050405020304" pitchFamily="18" charset="0"/>
                <a:cs typeface="Times New Roman" panose="02020603050405020304" pitchFamily="18" charset="0"/>
              </a:rPr>
              <a:t>For the two-point charges, it depend directly on the product of the magnitude of the charges and inversely on the square  of the distance between them:</a:t>
            </a:r>
          </a:p>
          <a:p>
            <a:pPr eaLnBrk="1" hangingPunct="1">
              <a:spcBef>
                <a:spcPct val="50000"/>
              </a:spcBef>
            </a:pPr>
            <a:endParaRPr lang="en-US" altLang="en-US" sz="2000" b="1" dirty="0">
              <a:latin typeface="Calibri" panose="020F0502020204030204" pitchFamily="34" charset="0"/>
            </a:endParaRPr>
          </a:p>
          <a:p>
            <a:pPr eaLnBrk="1" hangingPunct="1">
              <a:spcBef>
                <a:spcPct val="20000"/>
              </a:spcBef>
            </a:pPr>
            <a:endParaRPr lang="en-US" altLang="en-US" sz="2000" dirty="0">
              <a:latin typeface="Calibri" panose="020F0502020204030204" pitchFamily="34" charset="0"/>
            </a:endParaRPr>
          </a:p>
        </p:txBody>
      </p:sp>
      <p:grpSp>
        <p:nvGrpSpPr>
          <p:cNvPr id="2058" name="Group 4">
            <a:extLst>
              <a:ext uri="{FF2B5EF4-FFF2-40B4-BE49-F238E27FC236}">
                <a16:creationId xmlns:a16="http://schemas.microsoft.com/office/drawing/2014/main" id="{543B9F99-0935-40FC-843B-96F00D7DE288}"/>
              </a:ext>
            </a:extLst>
          </p:cNvPr>
          <p:cNvGrpSpPr>
            <a:grpSpLocks/>
          </p:cNvGrpSpPr>
          <p:nvPr/>
        </p:nvGrpSpPr>
        <p:grpSpPr bwMode="auto">
          <a:xfrm>
            <a:off x="2162176" y="5111751"/>
            <a:ext cx="7905749" cy="1292225"/>
            <a:chOff x="32" y="2021"/>
            <a:chExt cx="4980" cy="814"/>
          </a:xfrm>
        </p:grpSpPr>
        <p:grpSp>
          <p:nvGrpSpPr>
            <p:cNvPr id="2059" name="Group 5">
              <a:extLst>
                <a:ext uri="{FF2B5EF4-FFF2-40B4-BE49-F238E27FC236}">
                  <a16:creationId xmlns:a16="http://schemas.microsoft.com/office/drawing/2014/main" id="{D6F0D7F5-D654-467F-ADB9-0BF7874284B5}"/>
                </a:ext>
              </a:extLst>
            </p:cNvPr>
            <p:cNvGrpSpPr>
              <a:grpSpLocks/>
            </p:cNvGrpSpPr>
            <p:nvPr/>
          </p:nvGrpSpPr>
          <p:grpSpPr bwMode="auto">
            <a:xfrm>
              <a:off x="32" y="2021"/>
              <a:ext cx="4980" cy="677"/>
              <a:chOff x="-59" y="1460"/>
              <a:chExt cx="4980" cy="677"/>
            </a:xfrm>
          </p:grpSpPr>
          <p:graphicFrame>
            <p:nvGraphicFramePr>
              <p:cNvPr id="2053" name="Object 6">
                <a:extLst>
                  <a:ext uri="{FF2B5EF4-FFF2-40B4-BE49-F238E27FC236}">
                    <a16:creationId xmlns:a16="http://schemas.microsoft.com/office/drawing/2014/main" id="{D54B2058-5762-429F-BE9B-8ED4507E3FE7}"/>
                  </a:ext>
                </a:extLst>
              </p:cNvPr>
              <p:cNvGraphicFramePr>
                <a:graphicFrameLocks noChangeAspect="1"/>
              </p:cNvGraphicFramePr>
              <p:nvPr>
                <p:extLst>
                  <p:ext uri="{D42A27DB-BD31-4B8C-83A1-F6EECF244321}">
                    <p14:modId xmlns:p14="http://schemas.microsoft.com/office/powerpoint/2010/main" val="3276122286"/>
                  </p:ext>
                </p:extLst>
              </p:nvPr>
            </p:nvGraphicFramePr>
            <p:xfrm>
              <a:off x="-59" y="1460"/>
              <a:ext cx="903" cy="491"/>
            </p:xfrm>
            <a:graphic>
              <a:graphicData uri="http://schemas.openxmlformats.org/presentationml/2006/ole">
                <mc:AlternateContent xmlns:mc="http://schemas.openxmlformats.org/markup-compatibility/2006">
                  <mc:Choice xmlns:v="urn:schemas-microsoft-com:vml" Requires="v">
                    <p:oleObj spid="_x0000_s1026" name="Equation" r:id="rId3" imgW="723600" imgH="393480" progId="Equation.3">
                      <p:embed/>
                    </p:oleObj>
                  </mc:Choice>
                  <mc:Fallback>
                    <p:oleObj name="Equation" r:id="rId3" imgW="723600" imgH="393480" progId="Equation.3">
                      <p:embed/>
                      <p:pic>
                        <p:nvPicPr>
                          <p:cNvPr id="2053" name="Object 6">
                            <a:extLst>
                              <a:ext uri="{FF2B5EF4-FFF2-40B4-BE49-F238E27FC236}">
                                <a16:creationId xmlns:a16="http://schemas.microsoft.com/office/drawing/2014/main" id="{D54B2058-5762-429F-BE9B-8ED4507E3F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 y="1460"/>
                            <a:ext cx="903" cy="4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3" name="Oval 7">
                <a:extLst>
                  <a:ext uri="{FF2B5EF4-FFF2-40B4-BE49-F238E27FC236}">
                    <a16:creationId xmlns:a16="http://schemas.microsoft.com/office/drawing/2014/main" id="{41D5FB95-6371-4582-B749-C15FDCB005DA}"/>
                  </a:ext>
                </a:extLst>
              </p:cNvPr>
              <p:cNvSpPr>
                <a:spLocks noChangeArrowheads="1"/>
              </p:cNvSpPr>
              <p:nvPr/>
            </p:nvSpPr>
            <p:spPr bwMode="auto">
              <a:xfrm>
                <a:off x="1971" y="1743"/>
                <a:ext cx="79" cy="76"/>
              </a:xfrm>
              <a:prstGeom prst="ellipse">
                <a:avLst/>
              </a:prstGeom>
              <a:solidFill>
                <a:srgbClr val="3333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2064" name="Oval 8">
                <a:extLst>
                  <a:ext uri="{FF2B5EF4-FFF2-40B4-BE49-F238E27FC236}">
                    <a16:creationId xmlns:a16="http://schemas.microsoft.com/office/drawing/2014/main" id="{AED98E32-7F72-4240-B638-71134C6A661C}"/>
                  </a:ext>
                </a:extLst>
              </p:cNvPr>
              <p:cNvSpPr>
                <a:spLocks noChangeArrowheads="1"/>
              </p:cNvSpPr>
              <p:nvPr/>
            </p:nvSpPr>
            <p:spPr bwMode="auto">
              <a:xfrm>
                <a:off x="3251" y="1743"/>
                <a:ext cx="79" cy="76"/>
              </a:xfrm>
              <a:prstGeom prst="ellipse">
                <a:avLst/>
              </a:prstGeom>
              <a:solidFill>
                <a:srgbClr val="3333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2065" name="Line 9">
                <a:extLst>
                  <a:ext uri="{FF2B5EF4-FFF2-40B4-BE49-F238E27FC236}">
                    <a16:creationId xmlns:a16="http://schemas.microsoft.com/office/drawing/2014/main" id="{B4F065F2-7092-4B3A-A486-0D83767BFE1A}"/>
                  </a:ext>
                </a:extLst>
              </p:cNvPr>
              <p:cNvSpPr>
                <a:spLocks noChangeShapeType="1"/>
              </p:cNvSpPr>
              <p:nvPr/>
            </p:nvSpPr>
            <p:spPr bwMode="auto">
              <a:xfrm>
                <a:off x="3319" y="1781"/>
                <a:ext cx="697"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66" name="Line 10">
                <a:extLst>
                  <a:ext uri="{FF2B5EF4-FFF2-40B4-BE49-F238E27FC236}">
                    <a16:creationId xmlns:a16="http://schemas.microsoft.com/office/drawing/2014/main" id="{7D3EFBE1-D2A9-47D3-A1ED-BEC3A5FA51D2}"/>
                  </a:ext>
                </a:extLst>
              </p:cNvPr>
              <p:cNvSpPr>
                <a:spLocks noChangeShapeType="1"/>
              </p:cNvSpPr>
              <p:nvPr/>
            </p:nvSpPr>
            <p:spPr bwMode="auto">
              <a:xfrm flipH="1">
                <a:off x="1311" y="1773"/>
                <a:ext cx="667"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67" name="Line 11">
                <a:extLst>
                  <a:ext uri="{FF2B5EF4-FFF2-40B4-BE49-F238E27FC236}">
                    <a16:creationId xmlns:a16="http://schemas.microsoft.com/office/drawing/2014/main" id="{85C083B9-7A0B-405B-8C5B-DF49BB7A6D23}"/>
                  </a:ext>
                </a:extLst>
              </p:cNvPr>
              <p:cNvSpPr>
                <a:spLocks noChangeShapeType="1"/>
              </p:cNvSpPr>
              <p:nvPr/>
            </p:nvSpPr>
            <p:spPr bwMode="auto">
              <a:xfrm>
                <a:off x="2031" y="1963"/>
                <a:ext cx="0" cy="1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8" name="Line 12">
                <a:extLst>
                  <a:ext uri="{FF2B5EF4-FFF2-40B4-BE49-F238E27FC236}">
                    <a16:creationId xmlns:a16="http://schemas.microsoft.com/office/drawing/2014/main" id="{6E724451-376A-4D4C-BA1D-B7B2B539E8BD}"/>
                  </a:ext>
                </a:extLst>
              </p:cNvPr>
              <p:cNvSpPr>
                <a:spLocks noChangeShapeType="1"/>
              </p:cNvSpPr>
              <p:nvPr/>
            </p:nvSpPr>
            <p:spPr bwMode="auto">
              <a:xfrm>
                <a:off x="3287" y="1963"/>
                <a:ext cx="0" cy="1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69" name="Line 13">
                <a:extLst>
                  <a:ext uri="{FF2B5EF4-FFF2-40B4-BE49-F238E27FC236}">
                    <a16:creationId xmlns:a16="http://schemas.microsoft.com/office/drawing/2014/main" id="{E79D635F-649E-4B9F-89BF-C5FD6180ED5C}"/>
                  </a:ext>
                </a:extLst>
              </p:cNvPr>
              <p:cNvSpPr>
                <a:spLocks noChangeShapeType="1"/>
              </p:cNvSpPr>
              <p:nvPr/>
            </p:nvSpPr>
            <p:spPr bwMode="auto">
              <a:xfrm>
                <a:off x="2046" y="2054"/>
                <a:ext cx="1221" cy="0"/>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054" name="Object 14">
                <a:extLst>
                  <a:ext uri="{FF2B5EF4-FFF2-40B4-BE49-F238E27FC236}">
                    <a16:creationId xmlns:a16="http://schemas.microsoft.com/office/drawing/2014/main" id="{40234716-7A65-46A1-9C65-68B68EC37832}"/>
                  </a:ext>
                </a:extLst>
              </p:cNvPr>
              <p:cNvGraphicFramePr>
                <a:graphicFrameLocks noChangeAspect="1"/>
              </p:cNvGraphicFramePr>
              <p:nvPr/>
            </p:nvGraphicFramePr>
            <p:xfrm>
              <a:off x="4048" y="1533"/>
              <a:ext cx="873" cy="467"/>
            </p:xfrm>
            <a:graphic>
              <a:graphicData uri="http://schemas.openxmlformats.org/presentationml/2006/ole">
                <mc:AlternateContent xmlns:mc="http://schemas.openxmlformats.org/markup-compatibility/2006">
                  <mc:Choice xmlns:v="urn:schemas-microsoft-com:vml" Requires="v">
                    <p:oleObj spid="_x0000_s1027" name="Equation" r:id="rId5" imgW="736560" imgH="393480" progId="Equation.3">
                      <p:embed/>
                    </p:oleObj>
                  </mc:Choice>
                  <mc:Fallback>
                    <p:oleObj name="Equation" r:id="rId5" imgW="736560" imgH="393480" progId="Equation.3">
                      <p:embed/>
                      <p:pic>
                        <p:nvPicPr>
                          <p:cNvPr id="2054" name="Object 14">
                            <a:extLst>
                              <a:ext uri="{FF2B5EF4-FFF2-40B4-BE49-F238E27FC236}">
                                <a16:creationId xmlns:a16="http://schemas.microsoft.com/office/drawing/2014/main" id="{40234716-7A65-46A1-9C65-68B68EC378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8" y="1533"/>
                            <a:ext cx="873" cy="4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60" name="Text Box 15">
              <a:extLst>
                <a:ext uri="{FF2B5EF4-FFF2-40B4-BE49-F238E27FC236}">
                  <a16:creationId xmlns:a16="http://schemas.microsoft.com/office/drawing/2014/main" id="{D96BC96C-5680-4893-B066-F8808702A45A}"/>
                </a:ext>
              </a:extLst>
            </p:cNvPr>
            <p:cNvSpPr txBox="1">
              <a:spLocks noChangeArrowheads="1"/>
            </p:cNvSpPr>
            <p:nvPr/>
          </p:nvSpPr>
          <p:spPr bwMode="auto">
            <a:xfrm>
              <a:off x="2737" y="2604"/>
              <a:ext cx="2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alibri" panose="020F0502020204030204" pitchFamily="34" charset="0"/>
                </a:rPr>
                <a:t>r</a:t>
              </a:r>
            </a:p>
          </p:txBody>
        </p:sp>
        <p:sp>
          <p:nvSpPr>
            <p:cNvPr id="2061" name="Text Box 16">
              <a:extLst>
                <a:ext uri="{FF2B5EF4-FFF2-40B4-BE49-F238E27FC236}">
                  <a16:creationId xmlns:a16="http://schemas.microsoft.com/office/drawing/2014/main" id="{75E6C998-D9CD-41D1-B589-C6778485007D}"/>
                </a:ext>
              </a:extLst>
            </p:cNvPr>
            <p:cNvSpPr txBox="1">
              <a:spLocks noChangeArrowheads="1"/>
            </p:cNvSpPr>
            <p:nvPr/>
          </p:nvSpPr>
          <p:spPr bwMode="auto">
            <a:xfrm>
              <a:off x="1964" y="2021"/>
              <a:ext cx="2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alibri" panose="020F0502020204030204" pitchFamily="34" charset="0"/>
                </a:rPr>
                <a:t>q</a:t>
              </a:r>
              <a:r>
                <a:rPr lang="en-US" altLang="en-US" baseline="-25000">
                  <a:latin typeface="Calibri" panose="020F0502020204030204" pitchFamily="34" charset="0"/>
                </a:rPr>
                <a:t>1</a:t>
              </a:r>
              <a:endParaRPr lang="en-US" altLang="en-US" i="1">
                <a:latin typeface="Calibri" panose="020F0502020204030204" pitchFamily="34" charset="0"/>
              </a:endParaRPr>
            </a:p>
          </p:txBody>
        </p:sp>
        <p:sp>
          <p:nvSpPr>
            <p:cNvPr id="2062" name="Text Box 17">
              <a:extLst>
                <a:ext uri="{FF2B5EF4-FFF2-40B4-BE49-F238E27FC236}">
                  <a16:creationId xmlns:a16="http://schemas.microsoft.com/office/drawing/2014/main" id="{80A027A9-C8ED-48F7-B2A7-5F569702417B}"/>
                </a:ext>
              </a:extLst>
            </p:cNvPr>
            <p:cNvSpPr txBox="1">
              <a:spLocks noChangeArrowheads="1"/>
            </p:cNvSpPr>
            <p:nvPr/>
          </p:nvSpPr>
          <p:spPr bwMode="auto">
            <a:xfrm>
              <a:off x="3280" y="2027"/>
              <a:ext cx="2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alibri" panose="020F0502020204030204" pitchFamily="34" charset="0"/>
                </a:rPr>
                <a:t>q</a:t>
              </a:r>
              <a:r>
                <a:rPr lang="en-US" altLang="en-US" baseline="-25000">
                  <a:latin typeface="Calibri" panose="020F0502020204030204" pitchFamily="34" charset="0"/>
                </a:rPr>
                <a:t>2</a:t>
              </a:r>
              <a:endParaRPr lang="en-US" altLang="en-US" i="1">
                <a:latin typeface="Calibri" panose="020F0502020204030204" pitchFamily="34" charset="0"/>
              </a:endParaRPr>
            </a:p>
          </p:txBody>
        </p:sp>
      </p:grpSp>
      <p:graphicFrame>
        <p:nvGraphicFramePr>
          <p:cNvPr id="2050" name="Object 18">
            <a:extLst>
              <a:ext uri="{FF2B5EF4-FFF2-40B4-BE49-F238E27FC236}">
                <a16:creationId xmlns:a16="http://schemas.microsoft.com/office/drawing/2014/main" id="{C6955D9A-E4C5-4EC9-B8DE-68780648E121}"/>
              </a:ext>
            </a:extLst>
          </p:cNvPr>
          <p:cNvGraphicFramePr>
            <a:graphicFrameLocks noChangeAspect="1"/>
          </p:cNvGraphicFramePr>
          <p:nvPr>
            <p:extLst>
              <p:ext uri="{D42A27DB-BD31-4B8C-83A1-F6EECF244321}">
                <p14:modId xmlns:p14="http://schemas.microsoft.com/office/powerpoint/2010/main" val="2646189369"/>
              </p:ext>
            </p:extLst>
          </p:nvPr>
        </p:nvGraphicFramePr>
        <p:xfrm>
          <a:off x="3559968" y="1911351"/>
          <a:ext cx="4293772" cy="1218131"/>
        </p:xfrm>
        <a:graphic>
          <a:graphicData uri="http://schemas.openxmlformats.org/presentationml/2006/ole">
            <mc:AlternateContent xmlns:mc="http://schemas.openxmlformats.org/markup-compatibility/2006">
              <mc:Choice xmlns:v="urn:schemas-microsoft-com:vml" Requires="v">
                <p:oleObj spid="_x0000_s1028" name="Equation" r:id="rId7" imgW="1625400" imgH="393480" progId="Equation.3">
                  <p:embed/>
                </p:oleObj>
              </mc:Choice>
              <mc:Fallback>
                <p:oleObj name="Equation" r:id="rId7" imgW="1625400" imgH="393480" progId="Equation.3">
                  <p:embed/>
                  <p:pic>
                    <p:nvPicPr>
                      <p:cNvPr id="2050" name="Object 18">
                        <a:extLst>
                          <a:ext uri="{FF2B5EF4-FFF2-40B4-BE49-F238E27FC236}">
                            <a16:creationId xmlns:a16="http://schemas.microsoft.com/office/drawing/2014/main" id="{C6955D9A-E4C5-4EC9-B8DE-68780648E12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9968" y="1911351"/>
                        <a:ext cx="4293772" cy="1218131"/>
                      </a:xfrm>
                      <a:prstGeom prst="rect">
                        <a:avLst/>
                      </a:prstGeom>
                      <a:noFill/>
                      <a:ln w="38100">
                        <a:solidFill>
                          <a:srgbClr val="33CC33"/>
                        </a:solidFill>
                        <a:miter lim="800000"/>
                        <a:headEnd/>
                        <a:tailEnd/>
                      </a:ln>
                    </p:spPr>
                  </p:pic>
                </p:oleObj>
              </mc:Fallback>
            </mc:AlternateContent>
          </a:graphicData>
        </a:graphic>
      </p:graphicFrame>
      <p:graphicFrame>
        <p:nvGraphicFramePr>
          <p:cNvPr id="2051" name="Object 19">
            <a:extLst>
              <a:ext uri="{FF2B5EF4-FFF2-40B4-BE49-F238E27FC236}">
                <a16:creationId xmlns:a16="http://schemas.microsoft.com/office/drawing/2014/main" id="{A7E5DB5D-65C1-4030-89BC-206EC50531E8}"/>
              </a:ext>
            </a:extLst>
          </p:cNvPr>
          <p:cNvGraphicFramePr>
            <a:graphicFrameLocks noChangeAspect="1"/>
          </p:cNvGraphicFramePr>
          <p:nvPr>
            <p:extLst>
              <p:ext uri="{D42A27DB-BD31-4B8C-83A1-F6EECF244321}">
                <p14:modId xmlns:p14="http://schemas.microsoft.com/office/powerpoint/2010/main" val="225336369"/>
              </p:ext>
            </p:extLst>
          </p:nvPr>
        </p:nvGraphicFramePr>
        <p:xfrm>
          <a:off x="175305" y="3253821"/>
          <a:ext cx="5426075" cy="1022353"/>
        </p:xfrm>
        <a:graphic>
          <a:graphicData uri="http://schemas.openxmlformats.org/presentationml/2006/ole">
            <mc:AlternateContent xmlns:mc="http://schemas.openxmlformats.org/markup-compatibility/2006">
              <mc:Choice xmlns:v="urn:schemas-microsoft-com:vml" Requires="v">
                <p:oleObj spid="_x0000_s1029" name="Equation" r:id="rId9" imgW="3251160" imgH="431640" progId="Equation.3">
                  <p:embed/>
                </p:oleObj>
              </mc:Choice>
              <mc:Fallback>
                <p:oleObj name="Equation" r:id="rId9" imgW="3251160" imgH="431640" progId="Equation.3">
                  <p:embed/>
                  <p:pic>
                    <p:nvPicPr>
                      <p:cNvPr id="2051" name="Object 19">
                        <a:extLst>
                          <a:ext uri="{FF2B5EF4-FFF2-40B4-BE49-F238E27FC236}">
                            <a16:creationId xmlns:a16="http://schemas.microsoft.com/office/drawing/2014/main" id="{A7E5DB5D-65C1-4030-89BC-206EC50531E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305" y="3253821"/>
                        <a:ext cx="5426075" cy="1022353"/>
                      </a:xfrm>
                      <a:prstGeom prst="rect">
                        <a:avLst/>
                      </a:prstGeom>
                      <a:noFill/>
                      <a:ln w="9525">
                        <a:solidFill>
                          <a:srgbClr val="FF0000"/>
                        </a:solidFill>
                        <a:miter lim="800000"/>
                        <a:headEnd/>
                        <a:tailEnd/>
                      </a:ln>
                    </p:spPr>
                  </p:pic>
                </p:oleObj>
              </mc:Fallback>
            </mc:AlternateContent>
          </a:graphicData>
        </a:graphic>
      </p:graphicFrame>
      <p:graphicFrame>
        <p:nvGraphicFramePr>
          <p:cNvPr id="2052" name="Object 20">
            <a:extLst>
              <a:ext uri="{FF2B5EF4-FFF2-40B4-BE49-F238E27FC236}">
                <a16:creationId xmlns:a16="http://schemas.microsoft.com/office/drawing/2014/main" id="{21A43D77-0B14-4B73-961B-DA3F1EE5F431}"/>
              </a:ext>
            </a:extLst>
          </p:cNvPr>
          <p:cNvGraphicFramePr>
            <a:graphicFrameLocks noChangeAspect="1"/>
          </p:cNvGraphicFramePr>
          <p:nvPr>
            <p:extLst>
              <p:ext uri="{D42A27DB-BD31-4B8C-83A1-F6EECF244321}">
                <p14:modId xmlns:p14="http://schemas.microsoft.com/office/powerpoint/2010/main" val="1182227040"/>
              </p:ext>
            </p:extLst>
          </p:nvPr>
        </p:nvGraphicFramePr>
        <p:xfrm>
          <a:off x="8631237" y="3129482"/>
          <a:ext cx="3430133" cy="793447"/>
        </p:xfrm>
        <a:graphic>
          <a:graphicData uri="http://schemas.openxmlformats.org/presentationml/2006/ole">
            <mc:AlternateContent xmlns:mc="http://schemas.openxmlformats.org/markup-compatibility/2006">
              <mc:Choice xmlns:v="urn:schemas-microsoft-com:vml" Requires="v">
                <p:oleObj spid="_x0000_s1030" name="Equation" r:id="rId11" imgW="1562040" imgH="241200" progId="Equation.3">
                  <p:embed/>
                </p:oleObj>
              </mc:Choice>
              <mc:Fallback>
                <p:oleObj name="Equation" r:id="rId11" imgW="1562040" imgH="241200" progId="Equation.3">
                  <p:embed/>
                  <p:pic>
                    <p:nvPicPr>
                      <p:cNvPr id="2052" name="Object 20">
                        <a:extLst>
                          <a:ext uri="{FF2B5EF4-FFF2-40B4-BE49-F238E27FC236}">
                            <a16:creationId xmlns:a16="http://schemas.microsoft.com/office/drawing/2014/main" id="{21A43D77-0B14-4B73-961B-DA3F1EE5F43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31237" y="3129482"/>
                        <a:ext cx="3430133" cy="793447"/>
                      </a:xfrm>
                      <a:prstGeom prst="rect">
                        <a:avLst/>
                      </a:prstGeom>
                      <a:noFill/>
                      <a:ln w="9525">
                        <a:solidFill>
                          <a:srgbClr val="0000FF"/>
                        </a:solidFill>
                        <a:miter lim="800000"/>
                        <a:headEnd/>
                        <a:tailEnd/>
                      </a:ln>
                    </p:spPr>
                  </p:pic>
                </p:oleObj>
              </mc:Fallback>
            </mc:AlternateContent>
          </a:graphicData>
        </a:graphic>
      </p:graphicFrame>
      <p:sp>
        <p:nvSpPr>
          <p:cNvPr id="24" name="Title 1">
            <a:extLst>
              <a:ext uri="{FF2B5EF4-FFF2-40B4-BE49-F238E27FC236}">
                <a16:creationId xmlns:a16="http://schemas.microsoft.com/office/drawing/2014/main" id="{E39D6610-D21A-41BD-85D7-A0ED18DD083C}"/>
              </a:ext>
            </a:extLst>
          </p:cNvPr>
          <p:cNvSpPr txBox="1">
            <a:spLocks/>
          </p:cNvSpPr>
          <p:nvPr/>
        </p:nvSpPr>
        <p:spPr>
          <a:xfrm>
            <a:off x="1981200" y="274638"/>
            <a:ext cx="8229600" cy="457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5400" dirty="0">
                <a:latin typeface="Algerian" panose="04020705040A02060702" pitchFamily="82" charset="0"/>
              </a:rPr>
              <a:t>Coulomb’s law.</a:t>
            </a:r>
          </a:p>
        </p:txBody>
      </p:sp>
      <p:sp>
        <p:nvSpPr>
          <p:cNvPr id="2" name="Rectangle 1">
            <a:extLst>
              <a:ext uri="{FF2B5EF4-FFF2-40B4-BE49-F238E27FC236}">
                <a16:creationId xmlns:a16="http://schemas.microsoft.com/office/drawing/2014/main" id="{54E963FD-BA5B-470F-90F4-60A6BACD2343}"/>
              </a:ext>
            </a:extLst>
          </p:cNvPr>
          <p:cNvSpPr/>
          <p:nvPr/>
        </p:nvSpPr>
        <p:spPr>
          <a:xfrm>
            <a:off x="1449262" y="4509296"/>
            <a:ext cx="2846485"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Force on q</a:t>
            </a:r>
            <a:r>
              <a:rPr lang="en-US" sz="2400" b="1" baseline="-25000" dirty="0">
                <a:latin typeface="Times New Roman" panose="02020603050405020304" pitchFamily="18" charset="0"/>
                <a:cs typeface="Times New Roman" panose="02020603050405020304" pitchFamily="18" charset="0"/>
              </a:rPr>
              <a:t>1</a:t>
            </a:r>
            <a:r>
              <a:rPr lang="en-US" sz="2400" b="1" dirty="0">
                <a:latin typeface="Times New Roman" panose="02020603050405020304" pitchFamily="18" charset="0"/>
                <a:cs typeface="Times New Roman" panose="02020603050405020304" pitchFamily="18" charset="0"/>
              </a:rPr>
              <a:t>due to q</a:t>
            </a:r>
            <a:r>
              <a:rPr lang="en-US" sz="2400" b="1" baseline="-25000" dirty="0">
                <a:latin typeface="Times New Roman" panose="02020603050405020304" pitchFamily="18" charset="0"/>
                <a:cs typeface="Times New Roman" panose="02020603050405020304" pitchFamily="18" charset="0"/>
              </a:rPr>
              <a:t>2</a:t>
            </a:r>
          </a:p>
        </p:txBody>
      </p:sp>
      <p:sp>
        <p:nvSpPr>
          <p:cNvPr id="3" name="Rectangle 2">
            <a:extLst>
              <a:ext uri="{FF2B5EF4-FFF2-40B4-BE49-F238E27FC236}">
                <a16:creationId xmlns:a16="http://schemas.microsoft.com/office/drawing/2014/main" id="{FE720B5C-4B7D-4E44-8046-A7868A4DE0F8}"/>
              </a:ext>
            </a:extLst>
          </p:cNvPr>
          <p:cNvSpPr/>
          <p:nvPr/>
        </p:nvSpPr>
        <p:spPr>
          <a:xfrm>
            <a:off x="8495733" y="4541301"/>
            <a:ext cx="3430133" cy="461665"/>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Force on q</a:t>
            </a:r>
            <a:r>
              <a:rPr lang="en-US" sz="2400" b="1" baseline="-25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due to q</a:t>
            </a:r>
            <a:r>
              <a:rPr lang="en-US" sz="2400" b="1" baseline="-25000" dirty="0">
                <a:latin typeface="Times New Roman" panose="02020603050405020304" pitchFamily="18" charset="0"/>
                <a:cs typeface="Times New Roman" panose="02020603050405020304" pitchFamily="18" charset="0"/>
              </a:rPr>
              <a:t>1</a:t>
            </a:r>
          </a:p>
        </p:txBody>
      </p:sp>
      <p:sp>
        <p:nvSpPr>
          <p:cNvPr id="27" name="Rectangle 26">
            <a:extLst>
              <a:ext uri="{FF2B5EF4-FFF2-40B4-BE49-F238E27FC236}">
                <a16:creationId xmlns:a16="http://schemas.microsoft.com/office/drawing/2014/main" id="{C3CE0E22-5271-4FC0-AAD0-98EFC2A8E323}"/>
              </a:ext>
            </a:extLst>
          </p:cNvPr>
          <p:cNvSpPr/>
          <p:nvPr/>
        </p:nvSpPr>
        <p:spPr>
          <a:xfrm>
            <a:off x="1981200" y="6398696"/>
            <a:ext cx="8701311" cy="461665"/>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The two Forces F</a:t>
            </a:r>
            <a:r>
              <a:rPr lang="en-US" sz="2400" b="1" baseline="-25000" dirty="0">
                <a:latin typeface="Times New Roman" panose="02020603050405020304" pitchFamily="18" charset="0"/>
                <a:cs typeface="Times New Roman" panose="02020603050405020304" pitchFamily="18" charset="0"/>
              </a:rPr>
              <a:t>12  </a:t>
            </a:r>
            <a:r>
              <a:rPr lang="en-US" sz="2400" b="1" dirty="0">
                <a:latin typeface="Times New Roman" panose="02020603050405020304" pitchFamily="18" charset="0"/>
                <a:cs typeface="Times New Roman" panose="02020603050405020304" pitchFamily="18" charset="0"/>
              </a:rPr>
              <a:t>and F</a:t>
            </a:r>
            <a:r>
              <a:rPr lang="en-US" sz="2400" b="1" baseline="-25000" dirty="0">
                <a:latin typeface="Times New Roman" panose="02020603050405020304" pitchFamily="18" charset="0"/>
                <a:cs typeface="Times New Roman" panose="02020603050405020304" pitchFamily="18" charset="0"/>
              </a:rPr>
              <a:t>21</a:t>
            </a:r>
            <a:r>
              <a:rPr lang="en-US" sz="2400" b="1" baseline="30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are equal but opposite in direction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C34B27-A122-4BB5-9BF6-D1EB80497562}"/>
              </a:ext>
            </a:extLst>
          </p:cNvPr>
          <p:cNvSpPr>
            <a:spLocks noGrp="1"/>
          </p:cNvSpPr>
          <p:nvPr>
            <p:ph idx="1"/>
          </p:nvPr>
        </p:nvSpPr>
        <p:spPr>
          <a:xfrm>
            <a:off x="232229" y="838200"/>
            <a:ext cx="11654971" cy="4241800"/>
          </a:xfrm>
        </p:spPr>
        <p:txBody>
          <a:bodyPr>
            <a:noAutofit/>
          </a:bodyPr>
          <a:lstStyle/>
          <a:p>
            <a:endParaRPr lang="en-US" sz="2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 </a:t>
            </a:r>
            <a:r>
              <a:rPr lang="en-US" b="1" dirty="0">
                <a:latin typeface="Times New Roman" panose="02020603050405020304" pitchFamily="18" charset="0"/>
                <a:cs typeface="Times New Roman" panose="02020603050405020304" pitchFamily="18" charset="0"/>
              </a:rPr>
              <a:t>ε = ε</a:t>
            </a:r>
            <a:r>
              <a:rPr lang="en-US" b="1" baseline="-25000" dirty="0">
                <a:latin typeface="Times New Roman" panose="02020603050405020304" pitchFamily="18" charset="0"/>
                <a:cs typeface="Times New Roman" panose="02020603050405020304" pitchFamily="18" charset="0"/>
              </a:rPr>
              <a:t>0</a:t>
            </a:r>
            <a:r>
              <a:rPr lang="en-US" b="1" dirty="0">
                <a:latin typeface="Times New Roman" panose="02020603050405020304" pitchFamily="18" charset="0"/>
                <a:cs typeface="Times New Roman" panose="02020603050405020304" pitchFamily="18" charset="0"/>
              </a:rPr>
              <a:t>ε</a:t>
            </a:r>
            <a:r>
              <a:rPr lang="en-US" b="1" baseline="-25000" dirty="0">
                <a:latin typeface="Times New Roman" panose="02020603050405020304" pitchFamily="18" charset="0"/>
                <a:cs typeface="Times New Roman" panose="02020603050405020304" pitchFamily="18" charset="0"/>
              </a:rPr>
              <a:t>r</a:t>
            </a:r>
            <a:r>
              <a:rPr lang="en-US" b="1"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ε</a:t>
            </a:r>
            <a:r>
              <a:rPr lang="en-US" sz="2400" b="1"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permittivity of vacuum = </a:t>
            </a:r>
            <a:r>
              <a:rPr lang="en-US" sz="2400" b="1" dirty="0">
                <a:latin typeface="Times New Roman" panose="02020603050405020304" pitchFamily="18" charset="0"/>
                <a:cs typeface="Times New Roman" panose="02020603050405020304" pitchFamily="18" charset="0"/>
              </a:rPr>
              <a:t>8.854 x 10</a:t>
            </a:r>
            <a:r>
              <a:rPr lang="en-US" sz="2400" b="1" baseline="30000" dirty="0">
                <a:latin typeface="Times New Roman" panose="02020603050405020304" pitchFamily="18" charset="0"/>
                <a:cs typeface="Times New Roman" panose="02020603050405020304" pitchFamily="18" charset="0"/>
              </a:rPr>
              <a:t>-12</a:t>
            </a:r>
            <a:r>
              <a:rPr lang="en-US" sz="2400" b="1" dirty="0">
                <a:latin typeface="Times New Roman" panose="02020603050405020304" pitchFamily="18" charset="0"/>
                <a:cs typeface="Times New Roman" panose="02020603050405020304" pitchFamily="18" charset="0"/>
              </a:rPr>
              <a:t> F/m</a:t>
            </a:r>
          </a:p>
          <a:p>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ε</a:t>
            </a:r>
            <a:r>
              <a:rPr lang="en-US" sz="2400" b="1" baseline="-25000" dirty="0" err="1">
                <a:latin typeface="Times New Roman" panose="02020603050405020304" pitchFamily="18" charset="0"/>
                <a:cs typeface="Times New Roman" panose="02020603050405020304" pitchFamily="18" charset="0"/>
              </a:rPr>
              <a:t>r</a:t>
            </a:r>
            <a:r>
              <a:rPr lang="en-US" sz="2400" dirty="0">
                <a:latin typeface="Times New Roman" panose="02020603050405020304" pitchFamily="18" charset="0"/>
                <a:cs typeface="Times New Roman" panose="02020603050405020304" pitchFamily="18" charset="0"/>
              </a:rPr>
              <a:t> = relative permittivity of medium with respect to free space.</a:t>
            </a:r>
          </a:p>
          <a:p>
            <a:r>
              <a:rPr lang="en-US" sz="2400" dirty="0">
                <a:latin typeface="Times New Roman" panose="02020603050405020304" pitchFamily="18" charset="0"/>
                <a:cs typeface="Times New Roman" panose="02020603050405020304" pitchFamily="18" charset="0"/>
              </a:rPr>
              <a:t>For vacuum, the relative permittivity </a:t>
            </a:r>
            <a:r>
              <a:rPr lang="en-US" sz="2400" b="1" dirty="0" err="1">
                <a:latin typeface="Times New Roman" panose="02020603050405020304" pitchFamily="18" charset="0"/>
                <a:cs typeface="Times New Roman" panose="02020603050405020304" pitchFamily="18" charset="0"/>
              </a:rPr>
              <a:t>ε</a:t>
            </a:r>
            <a:r>
              <a:rPr lang="en-US" sz="2400" b="1" baseline="-25000" dirty="0" err="1">
                <a:latin typeface="Times New Roman" panose="02020603050405020304" pitchFamily="18" charset="0"/>
                <a:cs typeface="Times New Roman" panose="02020603050405020304" pitchFamily="18" charset="0"/>
              </a:rPr>
              <a:t>r</a:t>
            </a:r>
            <a:r>
              <a:rPr lang="en-US" sz="2400" b="1" dirty="0">
                <a:latin typeface="Times New Roman" panose="02020603050405020304" pitchFamily="18" charset="0"/>
                <a:cs typeface="Times New Roman" panose="02020603050405020304" pitchFamily="18" charset="0"/>
              </a:rPr>
              <a:t> = 1</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Hence </a:t>
            </a:r>
            <a:r>
              <a:rPr lang="en-US" sz="2400" b="1" dirty="0">
                <a:latin typeface="Times New Roman" panose="02020603050405020304" pitchFamily="18" charset="0"/>
                <a:cs typeface="Times New Roman" panose="02020603050405020304" pitchFamily="18" charset="0"/>
              </a:rPr>
              <a:t>ε = ε</a:t>
            </a:r>
            <a:r>
              <a:rPr lang="en-US" sz="2400" b="1" baseline="-25000" dirty="0">
                <a:latin typeface="Times New Roman" panose="02020603050405020304" pitchFamily="18" charset="0"/>
                <a:cs typeface="Times New Roman" panose="02020603050405020304" pitchFamily="18" charset="0"/>
              </a:rPr>
              <a:t>0</a:t>
            </a:r>
            <a:r>
              <a:rPr lang="en-US" sz="2400" baseline="-250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Therefore, the force of attraction or repulsion between two electric charges that are placed in vacuum and medium is given by</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p>
        </p:txBody>
      </p:sp>
      <p:pic>
        <p:nvPicPr>
          <p:cNvPr id="9" name="Picture 8">
            <a:extLst>
              <a:ext uri="{FF2B5EF4-FFF2-40B4-BE49-F238E27FC236}">
                <a16:creationId xmlns:a16="http://schemas.microsoft.com/office/drawing/2014/main" id="{4FCC3D65-D1F1-43FA-AAE2-6DB555C3763B}"/>
              </a:ext>
            </a:extLst>
          </p:cNvPr>
          <p:cNvPicPr>
            <a:picLocks noChangeAspect="1"/>
          </p:cNvPicPr>
          <p:nvPr/>
        </p:nvPicPr>
        <p:blipFill>
          <a:blip r:embed="rId2"/>
          <a:stretch>
            <a:fillRect/>
          </a:stretch>
        </p:blipFill>
        <p:spPr>
          <a:xfrm>
            <a:off x="9561285" y="1186543"/>
            <a:ext cx="1890485" cy="874486"/>
          </a:xfrm>
          <a:prstGeom prst="rect">
            <a:avLst/>
          </a:prstGeom>
        </p:spPr>
      </p:pic>
      <p:pic>
        <p:nvPicPr>
          <p:cNvPr id="10" name="Picture 9">
            <a:extLst>
              <a:ext uri="{FF2B5EF4-FFF2-40B4-BE49-F238E27FC236}">
                <a16:creationId xmlns:a16="http://schemas.microsoft.com/office/drawing/2014/main" id="{70085467-6B60-4973-A65E-E2E7AE3A93F7}"/>
              </a:ext>
            </a:extLst>
          </p:cNvPr>
          <p:cNvPicPr>
            <a:picLocks noChangeAspect="1"/>
          </p:cNvPicPr>
          <p:nvPr/>
        </p:nvPicPr>
        <p:blipFill>
          <a:blip r:embed="rId3"/>
          <a:stretch>
            <a:fillRect/>
          </a:stretch>
        </p:blipFill>
        <p:spPr>
          <a:xfrm>
            <a:off x="7227206" y="4318000"/>
            <a:ext cx="4355194" cy="1320800"/>
          </a:xfrm>
          <a:prstGeom prst="rect">
            <a:avLst/>
          </a:prstGeom>
        </p:spPr>
      </p:pic>
      <p:pic>
        <p:nvPicPr>
          <p:cNvPr id="11" name="Picture 10">
            <a:extLst>
              <a:ext uri="{FF2B5EF4-FFF2-40B4-BE49-F238E27FC236}">
                <a16:creationId xmlns:a16="http://schemas.microsoft.com/office/drawing/2014/main" id="{ED114F42-510F-43E2-BDEB-B04B9C7942DC}"/>
              </a:ext>
            </a:extLst>
          </p:cNvPr>
          <p:cNvPicPr>
            <a:picLocks noChangeAspect="1"/>
          </p:cNvPicPr>
          <p:nvPr/>
        </p:nvPicPr>
        <p:blipFill>
          <a:blip r:embed="rId4"/>
          <a:stretch>
            <a:fillRect/>
          </a:stretch>
        </p:blipFill>
        <p:spPr>
          <a:xfrm>
            <a:off x="711200" y="4424362"/>
            <a:ext cx="4717143" cy="1320800"/>
          </a:xfrm>
          <a:prstGeom prst="rect">
            <a:avLst/>
          </a:prstGeom>
        </p:spPr>
      </p:pic>
      <p:sp>
        <p:nvSpPr>
          <p:cNvPr id="12" name="Title 1">
            <a:extLst>
              <a:ext uri="{FF2B5EF4-FFF2-40B4-BE49-F238E27FC236}">
                <a16:creationId xmlns:a16="http://schemas.microsoft.com/office/drawing/2014/main" id="{CE6000E2-A55B-41D5-9BFF-9D8EE5FB8301}"/>
              </a:ext>
            </a:extLst>
          </p:cNvPr>
          <p:cNvSpPr txBox="1">
            <a:spLocks noGrp="1"/>
          </p:cNvSpPr>
          <p:nvPr>
            <p:ph type="title"/>
          </p:nvPr>
        </p:nvSpPr>
        <p:spPr>
          <a:xfrm>
            <a:off x="1981200" y="274638"/>
            <a:ext cx="8229600" cy="457200"/>
          </a:xfrm>
          <a:prstGeom prst="rect">
            <a:avLst/>
          </a:prstGeom>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6700" dirty="0">
                <a:latin typeface="Algerian" panose="04020705040A02060702" pitchFamily="82" charset="0"/>
              </a:rPr>
              <a:t>Coulomb’s law</a:t>
            </a:r>
            <a:r>
              <a:rPr lang="en-US" dirty="0">
                <a:latin typeface="Algerian" panose="04020705040A02060702" pitchFamily="82" charset="0"/>
              </a:rPr>
              <a:t>.</a:t>
            </a:r>
          </a:p>
        </p:txBody>
      </p:sp>
    </p:spTree>
    <p:extLst>
      <p:ext uri="{BB962C8B-B14F-4D97-AF65-F5344CB8AC3E}">
        <p14:creationId xmlns:p14="http://schemas.microsoft.com/office/powerpoint/2010/main" val="727091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7CD2AEA1-995A-47BD-9EA5-78A28A14E34B}"/>
              </a:ext>
            </a:extLst>
          </p:cNvPr>
          <p:cNvPicPr>
            <a:picLocks noChangeAspect="1"/>
          </p:cNvPicPr>
          <p:nvPr/>
        </p:nvPicPr>
        <p:blipFill>
          <a:blip r:embed="rId3"/>
          <a:stretch>
            <a:fillRect/>
          </a:stretch>
        </p:blipFill>
        <p:spPr>
          <a:xfrm>
            <a:off x="260303" y="2166546"/>
            <a:ext cx="3426325" cy="2764051"/>
          </a:xfrm>
          <a:prstGeom prst="rect">
            <a:avLst/>
          </a:prstGeom>
        </p:spPr>
      </p:pic>
      <p:pic>
        <p:nvPicPr>
          <p:cNvPr id="7" name="Picture 6">
            <a:extLst>
              <a:ext uri="{FF2B5EF4-FFF2-40B4-BE49-F238E27FC236}">
                <a16:creationId xmlns:a16="http://schemas.microsoft.com/office/drawing/2014/main" id="{C91C94AF-774D-4AFD-998F-F2895277C002}"/>
              </a:ext>
            </a:extLst>
          </p:cNvPr>
          <p:cNvPicPr>
            <a:picLocks noChangeAspect="1"/>
          </p:cNvPicPr>
          <p:nvPr/>
        </p:nvPicPr>
        <p:blipFill>
          <a:blip r:embed="rId4"/>
          <a:stretch>
            <a:fillRect/>
          </a:stretch>
        </p:blipFill>
        <p:spPr>
          <a:xfrm>
            <a:off x="8702176" y="4615544"/>
            <a:ext cx="3229519" cy="1532212"/>
          </a:xfrm>
          <a:prstGeom prst="rect">
            <a:avLst/>
          </a:prstGeom>
        </p:spPr>
      </p:pic>
      <p:pic>
        <p:nvPicPr>
          <p:cNvPr id="8" name="Picture 7">
            <a:extLst>
              <a:ext uri="{FF2B5EF4-FFF2-40B4-BE49-F238E27FC236}">
                <a16:creationId xmlns:a16="http://schemas.microsoft.com/office/drawing/2014/main" id="{65DF1389-8E3C-4A50-B43C-91A8B501829F}"/>
              </a:ext>
            </a:extLst>
          </p:cNvPr>
          <p:cNvPicPr>
            <a:picLocks noChangeAspect="1"/>
          </p:cNvPicPr>
          <p:nvPr/>
        </p:nvPicPr>
        <p:blipFill>
          <a:blip r:embed="rId5"/>
          <a:stretch>
            <a:fillRect/>
          </a:stretch>
        </p:blipFill>
        <p:spPr>
          <a:xfrm>
            <a:off x="3580283" y="1981363"/>
            <a:ext cx="3552825" cy="2949235"/>
          </a:xfrm>
          <a:prstGeom prst="rect">
            <a:avLst/>
          </a:prstGeom>
        </p:spPr>
      </p:pic>
      <p:pic>
        <p:nvPicPr>
          <p:cNvPr id="9" name="Picture 8">
            <a:extLst>
              <a:ext uri="{FF2B5EF4-FFF2-40B4-BE49-F238E27FC236}">
                <a16:creationId xmlns:a16="http://schemas.microsoft.com/office/drawing/2014/main" id="{613A37BA-FFDE-4B5D-A58F-D5020F4D58DD}"/>
              </a:ext>
            </a:extLst>
          </p:cNvPr>
          <p:cNvPicPr>
            <a:picLocks noChangeAspect="1"/>
          </p:cNvPicPr>
          <p:nvPr/>
        </p:nvPicPr>
        <p:blipFill>
          <a:blip r:embed="rId6"/>
          <a:stretch>
            <a:fillRect/>
          </a:stretch>
        </p:blipFill>
        <p:spPr>
          <a:xfrm>
            <a:off x="4778851" y="5099027"/>
            <a:ext cx="3160463" cy="1373633"/>
          </a:xfrm>
          <a:prstGeom prst="rect">
            <a:avLst/>
          </a:prstGeom>
        </p:spPr>
      </p:pic>
      <p:sp>
        <p:nvSpPr>
          <p:cNvPr id="11" name="Content Placeholder 10">
            <a:extLst>
              <a:ext uri="{FF2B5EF4-FFF2-40B4-BE49-F238E27FC236}">
                <a16:creationId xmlns:a16="http://schemas.microsoft.com/office/drawing/2014/main" id="{18D6D957-739B-4095-A189-C8CA473E8B2D}"/>
              </a:ext>
            </a:extLst>
          </p:cNvPr>
          <p:cNvSpPr>
            <a:spLocks noGrp="1"/>
          </p:cNvSpPr>
          <p:nvPr>
            <p:ph idx="1"/>
          </p:nvPr>
        </p:nvSpPr>
        <p:spPr>
          <a:xfrm>
            <a:off x="260304" y="808038"/>
            <a:ext cx="8229600" cy="5165725"/>
          </a:xfrm>
        </p:spPr>
        <p:txBody>
          <a:bodyPr/>
          <a:lstStyle/>
          <a:p>
            <a:r>
              <a:rPr lang="en-US" dirty="0"/>
              <a:t>Force on q</a:t>
            </a:r>
            <a:r>
              <a:rPr lang="en-US" baseline="-25000" dirty="0"/>
              <a:t>1</a:t>
            </a:r>
            <a:r>
              <a:rPr lang="en-US" dirty="0"/>
              <a:t>due to q</a:t>
            </a:r>
            <a:r>
              <a:rPr lang="en-US" baseline="-25000" dirty="0"/>
              <a:t>2</a:t>
            </a:r>
          </a:p>
          <a:p>
            <a:endParaRPr lang="en-US" dirty="0"/>
          </a:p>
        </p:txBody>
      </p:sp>
      <p:pic>
        <p:nvPicPr>
          <p:cNvPr id="12" name="Picture 11">
            <a:extLst>
              <a:ext uri="{FF2B5EF4-FFF2-40B4-BE49-F238E27FC236}">
                <a16:creationId xmlns:a16="http://schemas.microsoft.com/office/drawing/2014/main" id="{55793C4F-01C2-46E5-B971-74E405A1CE10}"/>
              </a:ext>
            </a:extLst>
          </p:cNvPr>
          <p:cNvPicPr>
            <a:picLocks noChangeAspect="1"/>
          </p:cNvPicPr>
          <p:nvPr/>
        </p:nvPicPr>
        <p:blipFill>
          <a:blip r:embed="rId7"/>
          <a:stretch>
            <a:fillRect/>
          </a:stretch>
        </p:blipFill>
        <p:spPr>
          <a:xfrm>
            <a:off x="260304" y="1306936"/>
            <a:ext cx="8608298" cy="859611"/>
          </a:xfrm>
          <a:prstGeom prst="rect">
            <a:avLst/>
          </a:prstGeom>
        </p:spPr>
      </p:pic>
      <p:sp>
        <p:nvSpPr>
          <p:cNvPr id="13" name="Title 1">
            <a:extLst>
              <a:ext uri="{FF2B5EF4-FFF2-40B4-BE49-F238E27FC236}">
                <a16:creationId xmlns:a16="http://schemas.microsoft.com/office/drawing/2014/main" id="{80D4A836-7DC3-4A5D-B2AE-E71073AFEF64}"/>
              </a:ext>
            </a:extLst>
          </p:cNvPr>
          <p:cNvSpPr>
            <a:spLocks noGrp="1"/>
          </p:cNvSpPr>
          <p:nvPr>
            <p:ph type="title"/>
          </p:nvPr>
        </p:nvSpPr>
        <p:spPr>
          <a:xfrm>
            <a:off x="769257" y="274638"/>
            <a:ext cx="11162439" cy="533400"/>
          </a:xfrm>
        </p:spPr>
        <p:txBody>
          <a:bodyPr>
            <a:noAutofit/>
          </a:bodyPr>
          <a:lstStyle/>
          <a:p>
            <a:r>
              <a:rPr lang="en-US" sz="4800" dirty="0">
                <a:latin typeface="Algerian" panose="04020705040A02060702" pitchFamily="82" charset="0"/>
              </a:rPr>
              <a:t>Vector form of Coulomb’s law</a:t>
            </a:r>
          </a:p>
        </p:txBody>
      </p:sp>
      <p:graphicFrame>
        <p:nvGraphicFramePr>
          <p:cNvPr id="2" name="Object 1">
            <a:extLst>
              <a:ext uri="{FF2B5EF4-FFF2-40B4-BE49-F238E27FC236}">
                <a16:creationId xmlns:a16="http://schemas.microsoft.com/office/drawing/2014/main" id="{D95D8F07-F722-11F4-A662-94D147EA3A58}"/>
              </a:ext>
            </a:extLst>
          </p:cNvPr>
          <p:cNvGraphicFramePr>
            <a:graphicFrameLocks noChangeAspect="1"/>
          </p:cNvGraphicFramePr>
          <p:nvPr>
            <p:extLst>
              <p:ext uri="{D42A27DB-BD31-4B8C-83A1-F6EECF244321}">
                <p14:modId xmlns:p14="http://schemas.microsoft.com/office/powerpoint/2010/main" val="2098146402"/>
              </p:ext>
            </p:extLst>
          </p:nvPr>
        </p:nvGraphicFramePr>
        <p:xfrm>
          <a:off x="7567321" y="2166546"/>
          <a:ext cx="4087649" cy="2115167"/>
        </p:xfrm>
        <a:graphic>
          <a:graphicData uri="http://schemas.openxmlformats.org/presentationml/2006/ole">
            <mc:AlternateContent xmlns:mc="http://schemas.openxmlformats.org/markup-compatibility/2006">
              <mc:Choice xmlns:v="urn:schemas-microsoft-com:vml" Requires="v">
                <p:oleObj spid="_x0000_s2050" name="Equation" r:id="rId8" imgW="1549080" imgH="990360" progId="Equation.DSMT4">
                  <p:embed/>
                </p:oleObj>
              </mc:Choice>
              <mc:Fallback>
                <p:oleObj name="Equation" r:id="rId8" imgW="1549080" imgH="990360" progId="Equation.DSMT4">
                  <p:embed/>
                  <p:pic>
                    <p:nvPicPr>
                      <p:cNvPr id="2" name="Object 1">
                        <a:extLst>
                          <a:ext uri="{FF2B5EF4-FFF2-40B4-BE49-F238E27FC236}">
                            <a16:creationId xmlns:a16="http://schemas.microsoft.com/office/drawing/2014/main" id="{D95D8F07-F722-11F4-A662-94D147EA3A58}"/>
                          </a:ext>
                        </a:extLst>
                      </p:cNvPr>
                      <p:cNvPicPr/>
                      <p:nvPr/>
                    </p:nvPicPr>
                    <p:blipFill>
                      <a:blip r:embed="rId9"/>
                      <a:stretch>
                        <a:fillRect/>
                      </a:stretch>
                    </p:blipFill>
                    <p:spPr>
                      <a:xfrm>
                        <a:off x="7567321" y="2166546"/>
                        <a:ext cx="4087649" cy="2115167"/>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3754FEA-88F5-FFAF-4F60-2FD26D3F15AD}"/>
              </a:ext>
            </a:extLst>
          </p:cNvPr>
          <p:cNvGraphicFramePr>
            <a:graphicFrameLocks noChangeAspect="1"/>
          </p:cNvGraphicFramePr>
          <p:nvPr>
            <p:extLst>
              <p:ext uri="{D42A27DB-BD31-4B8C-83A1-F6EECF244321}">
                <p14:modId xmlns:p14="http://schemas.microsoft.com/office/powerpoint/2010/main" val="140339331"/>
              </p:ext>
            </p:extLst>
          </p:nvPr>
        </p:nvGraphicFramePr>
        <p:xfrm>
          <a:off x="321787" y="5459740"/>
          <a:ext cx="3258496" cy="1373633"/>
        </p:xfrm>
        <a:graphic>
          <a:graphicData uri="http://schemas.openxmlformats.org/presentationml/2006/ole">
            <mc:AlternateContent xmlns:mc="http://schemas.openxmlformats.org/markup-compatibility/2006">
              <mc:Choice xmlns:v="urn:schemas-microsoft-com:vml" Requires="v">
                <p:oleObj spid="_x0000_s2051" name="Equation" r:id="rId10" imgW="1206360" imgH="482400" progId="Equation.DSMT4">
                  <p:embed/>
                </p:oleObj>
              </mc:Choice>
              <mc:Fallback>
                <p:oleObj name="Equation" r:id="rId10" imgW="1206360" imgH="482400" progId="Equation.DSMT4">
                  <p:embed/>
                  <p:pic>
                    <p:nvPicPr>
                      <p:cNvPr id="3" name="Object 2">
                        <a:extLst>
                          <a:ext uri="{FF2B5EF4-FFF2-40B4-BE49-F238E27FC236}">
                            <a16:creationId xmlns:a16="http://schemas.microsoft.com/office/drawing/2014/main" id="{C3754FEA-88F5-FFAF-4F60-2FD26D3F15AD}"/>
                          </a:ext>
                        </a:extLst>
                      </p:cNvPr>
                      <p:cNvPicPr/>
                      <p:nvPr/>
                    </p:nvPicPr>
                    <p:blipFill>
                      <a:blip r:embed="rId11"/>
                      <a:stretch>
                        <a:fillRect/>
                      </a:stretch>
                    </p:blipFill>
                    <p:spPr>
                      <a:xfrm>
                        <a:off x="321787" y="5459740"/>
                        <a:ext cx="3258496" cy="1373633"/>
                      </a:xfrm>
                      <a:prstGeom prst="rect">
                        <a:avLst/>
                      </a:prstGeom>
                    </p:spPr>
                  </p:pic>
                </p:oleObj>
              </mc:Fallback>
            </mc:AlternateContent>
          </a:graphicData>
        </a:graphic>
      </p:graphicFrame>
    </p:spTree>
    <p:extLst>
      <p:ext uri="{BB962C8B-B14F-4D97-AF65-F5344CB8AC3E}">
        <p14:creationId xmlns:p14="http://schemas.microsoft.com/office/powerpoint/2010/main" val="46675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439977-F9EB-D934-6FF8-C42D3052BD5D}"/>
              </a:ext>
            </a:extLst>
          </p:cNvPr>
          <p:cNvPicPr>
            <a:picLocks noChangeAspect="1"/>
          </p:cNvPicPr>
          <p:nvPr/>
        </p:nvPicPr>
        <p:blipFill>
          <a:blip r:embed="rId2"/>
          <a:stretch>
            <a:fillRect/>
          </a:stretch>
        </p:blipFill>
        <p:spPr>
          <a:xfrm>
            <a:off x="477078" y="0"/>
            <a:ext cx="10601739" cy="6858000"/>
          </a:xfrm>
          <a:prstGeom prst="rect">
            <a:avLst/>
          </a:prstGeom>
        </p:spPr>
      </p:pic>
    </p:spTree>
    <p:extLst>
      <p:ext uri="{BB962C8B-B14F-4D97-AF65-F5344CB8AC3E}">
        <p14:creationId xmlns:p14="http://schemas.microsoft.com/office/powerpoint/2010/main" val="3168865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33643-8288-4AB3-A7FE-CF2F3EF4C6AC}"/>
              </a:ext>
            </a:extLst>
          </p:cNvPr>
          <p:cNvSpPr>
            <a:spLocks noGrp="1"/>
          </p:cNvSpPr>
          <p:nvPr>
            <p:ph type="title"/>
          </p:nvPr>
        </p:nvSpPr>
        <p:spPr>
          <a:xfrm>
            <a:off x="1981200" y="255844"/>
            <a:ext cx="8229600" cy="513413"/>
          </a:xfrm>
        </p:spPr>
        <p:txBody>
          <a:bodyPr>
            <a:normAutofit fontScale="90000"/>
          </a:bodyPr>
          <a:lstStyle/>
          <a:p>
            <a:r>
              <a:rPr lang="en-US" dirty="0">
                <a:latin typeface="Algerian" panose="04020705040A02060702" pitchFamily="82" charset="0"/>
              </a:rPr>
              <a:t>Limitations of Coulomb’s law </a:t>
            </a:r>
          </a:p>
        </p:txBody>
      </p:sp>
      <p:sp>
        <p:nvSpPr>
          <p:cNvPr id="7" name="Content Placeholder 6">
            <a:extLst>
              <a:ext uri="{FF2B5EF4-FFF2-40B4-BE49-F238E27FC236}">
                <a16:creationId xmlns:a16="http://schemas.microsoft.com/office/drawing/2014/main" id="{DCD01287-A980-42E1-AFD6-EF3AAFCF9E84}"/>
              </a:ext>
            </a:extLst>
          </p:cNvPr>
          <p:cNvSpPr>
            <a:spLocks noGrp="1"/>
          </p:cNvSpPr>
          <p:nvPr>
            <p:ph idx="1"/>
          </p:nvPr>
        </p:nvSpPr>
        <p:spPr>
          <a:xfrm>
            <a:off x="203199" y="769257"/>
            <a:ext cx="11814629" cy="4572000"/>
          </a:xfrm>
        </p:spPr>
        <p:txBody>
          <a:bodyPr>
            <a:no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Coulomb’s Law is applied to point charges. If charged bodies are of limited dimension such that they can’t be regarded as a point charge, then Coulomb’s Law is not valid. So, Coulomb’s law is not valid for distance less than 10</a:t>
            </a:r>
            <a:r>
              <a:rPr lang="en-US" baseline="30000" dirty="0">
                <a:latin typeface="Times New Roman" panose="02020603050405020304" pitchFamily="18" charset="0"/>
                <a:cs typeface="Times New Roman" panose="02020603050405020304" pitchFamily="18" charset="0"/>
              </a:rPr>
              <a:t>-15</a:t>
            </a:r>
          </a:p>
          <a:p>
            <a:r>
              <a:rPr lang="en-US" dirty="0">
                <a:latin typeface="Times New Roman" panose="02020603050405020304" pitchFamily="18" charset="0"/>
                <a:cs typeface="Times New Roman" panose="02020603050405020304" pitchFamily="18" charset="0"/>
              </a:rPr>
              <a:t>Coulomb’s law obeys inverse square law. It’s only appropriate in those cases where inverse square law is obeyed.</a:t>
            </a:r>
          </a:p>
          <a:p>
            <a:r>
              <a:rPr lang="en-US" dirty="0">
                <a:latin typeface="Times New Roman" panose="02020603050405020304" pitchFamily="18" charset="0"/>
                <a:cs typeface="Times New Roman" panose="02020603050405020304" pitchFamily="18" charset="0"/>
              </a:rPr>
              <a:t>It is only applicable for point charges at rest. If a charge is in motion Coulomb’s law of electrostatics is not valid</a:t>
            </a:r>
          </a:p>
          <a:p>
            <a:r>
              <a:rPr lang="en-US" dirty="0">
                <a:latin typeface="Times New Roman" panose="02020603050405020304" pitchFamily="18" charset="0"/>
                <a:cs typeface="Times New Roman" panose="02020603050405020304" pitchFamily="18" charset="0"/>
              </a:rPr>
              <a:t>It is difficult to apply Coulomb’s law when the charges are in an arbitrary shape. Hence, we cannot determine the value of distance ‘d’ between the charges when they are in an arbitrary shape. Here, the distance, r cannot be resolved correctly as the centers of arbitrarily shaped charged bodies cannot be recognized exactly.</a:t>
            </a:r>
          </a:p>
        </p:txBody>
      </p:sp>
    </p:spTree>
    <p:extLst>
      <p:ext uri="{BB962C8B-B14F-4D97-AF65-F5344CB8AC3E}">
        <p14:creationId xmlns:p14="http://schemas.microsoft.com/office/powerpoint/2010/main" val="1262682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06176-E1A9-4CED-9E0F-D2C4EF2080FF}"/>
              </a:ext>
            </a:extLst>
          </p:cNvPr>
          <p:cNvSpPr>
            <a:spLocks noGrp="1"/>
          </p:cNvSpPr>
          <p:nvPr>
            <p:ph type="title"/>
          </p:nvPr>
        </p:nvSpPr>
        <p:spPr>
          <a:xfrm>
            <a:off x="1981200" y="274638"/>
            <a:ext cx="9310914" cy="715962"/>
          </a:xfrm>
        </p:spPr>
        <p:txBody>
          <a:bodyPr>
            <a:normAutofit/>
          </a:bodyPr>
          <a:lstStyle/>
          <a:p>
            <a:r>
              <a:rPr lang="en-US" dirty="0">
                <a:latin typeface="Algerian" panose="04020705040A02060702" pitchFamily="82" charset="0"/>
              </a:rPr>
              <a:t>Conclusion from Coulomb’s law</a:t>
            </a:r>
          </a:p>
        </p:txBody>
      </p:sp>
      <p:sp>
        <p:nvSpPr>
          <p:cNvPr id="3" name="Content Placeholder 2">
            <a:extLst>
              <a:ext uri="{FF2B5EF4-FFF2-40B4-BE49-F238E27FC236}">
                <a16:creationId xmlns:a16="http://schemas.microsoft.com/office/drawing/2014/main" id="{E8F1FF1C-01EF-47F6-82BD-219221443347}"/>
              </a:ext>
            </a:extLst>
          </p:cNvPr>
          <p:cNvSpPr>
            <a:spLocks noGrp="1"/>
          </p:cNvSpPr>
          <p:nvPr>
            <p:ph idx="1"/>
          </p:nvPr>
        </p:nvSpPr>
        <p:spPr>
          <a:xfrm>
            <a:off x="478971" y="1143000"/>
            <a:ext cx="11422743" cy="5440362"/>
          </a:xfrm>
        </p:spPr>
        <p:txBody>
          <a:bodyPr>
            <a:normAutofit/>
          </a:bodyPr>
          <a:lstStyle/>
          <a:p>
            <a:r>
              <a:rPr lang="en-US" dirty="0">
                <a:latin typeface="Times New Roman" panose="02020603050405020304" pitchFamily="18" charset="0"/>
                <a:cs typeface="Times New Roman" panose="02020603050405020304" pitchFamily="18" charset="0"/>
              </a:rPr>
              <a:t>Coulomb’s law agrees with Newton’s third law.</a:t>
            </a:r>
          </a:p>
          <a:p>
            <a:pPr marL="0" indent="0">
              <a:buNone/>
            </a:pPr>
            <a:r>
              <a:rPr lang="en-US" b="1" dirty="0">
                <a:latin typeface="Times New Roman" panose="02020603050405020304" pitchFamily="18" charset="0"/>
                <a:cs typeface="Times New Roman" panose="02020603050405020304" pitchFamily="18" charset="0"/>
              </a:rPr>
              <a:t>The two Forces F</a:t>
            </a:r>
            <a:r>
              <a:rPr lang="en-US" b="1" baseline="-25000" dirty="0">
                <a:latin typeface="Times New Roman" panose="02020603050405020304" pitchFamily="18" charset="0"/>
                <a:cs typeface="Times New Roman" panose="02020603050405020304" pitchFamily="18" charset="0"/>
              </a:rPr>
              <a:t>12  </a:t>
            </a:r>
            <a:r>
              <a:rPr lang="en-US" b="1" dirty="0">
                <a:latin typeface="Times New Roman" panose="02020603050405020304" pitchFamily="18" charset="0"/>
                <a:cs typeface="Times New Roman" panose="02020603050405020304" pitchFamily="18" charset="0"/>
              </a:rPr>
              <a:t>and F</a:t>
            </a:r>
            <a:r>
              <a:rPr lang="en-US" b="1" baseline="-25000" dirty="0">
                <a:latin typeface="Times New Roman" panose="02020603050405020304" pitchFamily="18" charset="0"/>
                <a:cs typeface="Times New Roman" panose="02020603050405020304" pitchFamily="18" charset="0"/>
              </a:rPr>
              <a:t>21</a:t>
            </a:r>
            <a:r>
              <a:rPr lang="en-US" b="1" baseline="300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are equal but opposite in direction. “To every action there is equal and opposite reaction” </a:t>
            </a:r>
          </a:p>
          <a:p>
            <a:r>
              <a:rPr lang="en-US" dirty="0">
                <a:latin typeface="Times New Roman" panose="02020603050405020304" pitchFamily="18" charset="0"/>
                <a:cs typeface="Times New Roman" panose="02020603050405020304" pitchFamily="18" charset="0"/>
              </a:rPr>
              <a:t>Like charges repel and unlike charges attract.</a:t>
            </a:r>
          </a:p>
          <a:p>
            <a:pPr marL="0" indent="0">
              <a:buNone/>
            </a:pPr>
            <a:r>
              <a:rPr lang="en-US" b="1" dirty="0">
                <a:latin typeface="Times New Roman" panose="02020603050405020304" pitchFamily="18" charset="0"/>
                <a:cs typeface="Times New Roman" panose="02020603050405020304" pitchFamily="18" charset="0"/>
              </a:rPr>
              <a:t>Forces on q</a:t>
            </a:r>
            <a:r>
              <a:rPr lang="en-US" b="1" baseline="-25000"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due to q</a:t>
            </a:r>
            <a:r>
              <a:rPr lang="en-US" b="1" baseline="-25000"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 will act away from each other if the charges are the same and will move towards each other if the charges are not the same.</a:t>
            </a:r>
          </a:p>
        </p:txBody>
      </p:sp>
      <p:pic>
        <p:nvPicPr>
          <p:cNvPr id="4" name="Picture 3">
            <a:extLst>
              <a:ext uri="{FF2B5EF4-FFF2-40B4-BE49-F238E27FC236}">
                <a16:creationId xmlns:a16="http://schemas.microsoft.com/office/drawing/2014/main" id="{B94EF19C-A99E-4C52-9DF3-8067A82BE8E5}"/>
              </a:ext>
            </a:extLst>
          </p:cNvPr>
          <p:cNvPicPr>
            <a:picLocks noChangeAspect="1"/>
          </p:cNvPicPr>
          <p:nvPr/>
        </p:nvPicPr>
        <p:blipFill>
          <a:blip r:embed="rId2"/>
          <a:stretch>
            <a:fillRect/>
          </a:stretch>
        </p:blipFill>
        <p:spPr>
          <a:xfrm>
            <a:off x="2583543" y="4119684"/>
            <a:ext cx="6821713" cy="1453802"/>
          </a:xfrm>
          <a:prstGeom prst="rect">
            <a:avLst/>
          </a:prstGeom>
        </p:spPr>
      </p:pic>
    </p:spTree>
    <p:extLst>
      <p:ext uri="{BB962C8B-B14F-4D97-AF65-F5344CB8AC3E}">
        <p14:creationId xmlns:p14="http://schemas.microsoft.com/office/powerpoint/2010/main" val="3786212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D7CFB-EB65-4A02-A287-6B7BF8D64B37}"/>
              </a:ext>
            </a:extLst>
          </p:cNvPr>
          <p:cNvSpPr>
            <a:spLocks noGrp="1"/>
          </p:cNvSpPr>
          <p:nvPr>
            <p:ph type="title"/>
          </p:nvPr>
        </p:nvSpPr>
        <p:spPr>
          <a:xfrm>
            <a:off x="275771" y="104375"/>
            <a:ext cx="11625943" cy="1325563"/>
          </a:xfrm>
        </p:spPr>
        <p:txBody>
          <a:bodyPr>
            <a:normAutofit/>
          </a:bodyPr>
          <a:lstStyle/>
          <a:p>
            <a:r>
              <a:rPr lang="en-US" dirty="0">
                <a:latin typeface="Algerian" panose="04020705040A02060702" pitchFamily="82" charset="0"/>
              </a:rPr>
              <a:t>Principle of superposition of charges</a:t>
            </a:r>
          </a:p>
        </p:txBody>
      </p:sp>
      <p:sp>
        <p:nvSpPr>
          <p:cNvPr id="3" name="Content Placeholder 2">
            <a:extLst>
              <a:ext uri="{FF2B5EF4-FFF2-40B4-BE49-F238E27FC236}">
                <a16:creationId xmlns:a16="http://schemas.microsoft.com/office/drawing/2014/main" id="{7CE4461A-1C7C-461A-9C4A-97CD1D9878F1}"/>
              </a:ext>
            </a:extLst>
          </p:cNvPr>
          <p:cNvSpPr>
            <a:spLocks noGrp="1"/>
          </p:cNvSpPr>
          <p:nvPr>
            <p:ph idx="1"/>
          </p:nvPr>
        </p:nvSpPr>
        <p:spPr>
          <a:xfrm>
            <a:off x="275770" y="1339450"/>
            <a:ext cx="11625943" cy="4983162"/>
          </a:xfrm>
        </p:spPr>
        <p:txBody>
          <a:bodyPr/>
          <a:lstStyle/>
          <a:p>
            <a:pPr algn="just"/>
            <a:r>
              <a:rPr lang="en-US" dirty="0">
                <a:latin typeface="Times New Roman" panose="02020603050405020304" pitchFamily="18" charset="0"/>
                <a:cs typeface="Times New Roman" panose="02020603050405020304" pitchFamily="18" charset="0"/>
              </a:rPr>
              <a:t>It states that the total force on a given charge due to a few other charges is the vector sum of the individual forces acting on that charge by the other charges.</a:t>
            </a:r>
          </a:p>
          <a:p>
            <a:r>
              <a:rPr lang="en-US" dirty="0">
                <a:latin typeface="Times New Roman" panose="02020603050405020304" pitchFamily="18" charset="0"/>
                <a:cs typeface="Times New Roman" panose="02020603050405020304" pitchFamily="18" charset="0"/>
              </a:rPr>
              <a:t>Suppose there are q</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,q</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,q</a:t>
            </a:r>
            <a:r>
              <a:rPr lang="en-US" baseline="-25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,q</a:t>
            </a:r>
            <a:r>
              <a:rPr lang="en-US" baseline="-25000"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and q</a:t>
            </a:r>
            <a:r>
              <a:rPr lang="en-US" baseline="-25000" dirty="0">
                <a:latin typeface="Times New Roman" panose="02020603050405020304" pitchFamily="18" charset="0"/>
                <a:cs typeface="Times New Roman" panose="02020603050405020304" pitchFamily="18" charset="0"/>
              </a:rPr>
              <a:t>5</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force on q</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due to the other charges is given as</a:t>
            </a:r>
          </a:p>
          <a:p>
            <a:r>
              <a:rPr lang="en-US" dirty="0">
                <a:latin typeface="Times New Roman" panose="02020603050405020304" pitchFamily="18" charset="0"/>
                <a:cs typeface="Times New Roman" panose="02020603050405020304" pitchFamily="18" charset="0"/>
              </a:rPr>
              <a:t>If                               then,</a:t>
            </a:r>
          </a:p>
        </p:txBody>
      </p:sp>
      <p:pic>
        <p:nvPicPr>
          <p:cNvPr id="4" name="Picture 3">
            <a:extLst>
              <a:ext uri="{FF2B5EF4-FFF2-40B4-BE49-F238E27FC236}">
                <a16:creationId xmlns:a16="http://schemas.microsoft.com/office/drawing/2014/main" id="{E2D98F2C-2906-4551-B488-76C8AA58E3E4}"/>
              </a:ext>
            </a:extLst>
          </p:cNvPr>
          <p:cNvPicPr>
            <a:picLocks noChangeAspect="1"/>
          </p:cNvPicPr>
          <p:nvPr/>
        </p:nvPicPr>
        <p:blipFill>
          <a:blip r:embed="rId2"/>
          <a:stretch>
            <a:fillRect/>
          </a:stretch>
        </p:blipFill>
        <p:spPr>
          <a:xfrm>
            <a:off x="3955142" y="4209998"/>
            <a:ext cx="5508171" cy="1000125"/>
          </a:xfrm>
          <a:prstGeom prst="rect">
            <a:avLst/>
          </a:prstGeom>
        </p:spPr>
      </p:pic>
      <p:pic>
        <p:nvPicPr>
          <p:cNvPr id="5" name="Picture 4">
            <a:extLst>
              <a:ext uri="{FF2B5EF4-FFF2-40B4-BE49-F238E27FC236}">
                <a16:creationId xmlns:a16="http://schemas.microsoft.com/office/drawing/2014/main" id="{DB33AE83-D8EE-4518-9C3A-63E5DF4615B9}"/>
              </a:ext>
            </a:extLst>
          </p:cNvPr>
          <p:cNvPicPr>
            <a:picLocks noChangeAspect="1"/>
          </p:cNvPicPr>
          <p:nvPr/>
        </p:nvPicPr>
        <p:blipFill>
          <a:blip r:embed="rId3"/>
          <a:stretch>
            <a:fillRect/>
          </a:stretch>
        </p:blipFill>
        <p:spPr>
          <a:xfrm>
            <a:off x="6586538" y="5412975"/>
            <a:ext cx="2992891" cy="1191025"/>
          </a:xfrm>
          <a:prstGeom prst="rect">
            <a:avLst/>
          </a:prstGeom>
        </p:spPr>
      </p:pic>
      <p:pic>
        <p:nvPicPr>
          <p:cNvPr id="6" name="Picture 5">
            <a:extLst>
              <a:ext uri="{FF2B5EF4-FFF2-40B4-BE49-F238E27FC236}">
                <a16:creationId xmlns:a16="http://schemas.microsoft.com/office/drawing/2014/main" id="{D97506A6-0389-4168-A53D-B0409077FB62}"/>
              </a:ext>
            </a:extLst>
          </p:cNvPr>
          <p:cNvPicPr>
            <a:picLocks noChangeAspect="1"/>
          </p:cNvPicPr>
          <p:nvPr/>
        </p:nvPicPr>
        <p:blipFill>
          <a:blip r:embed="rId4"/>
          <a:stretch>
            <a:fillRect/>
          </a:stretch>
        </p:blipFill>
        <p:spPr>
          <a:xfrm>
            <a:off x="2438401" y="5503462"/>
            <a:ext cx="3396342" cy="1100538"/>
          </a:xfrm>
          <a:prstGeom prst="rect">
            <a:avLst/>
          </a:prstGeom>
        </p:spPr>
      </p:pic>
    </p:spTree>
    <p:extLst>
      <p:ext uri="{BB962C8B-B14F-4D97-AF65-F5344CB8AC3E}">
        <p14:creationId xmlns:p14="http://schemas.microsoft.com/office/powerpoint/2010/main" val="4004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E63251-48BB-95B6-646F-92A21DB7E28A}"/>
              </a:ext>
            </a:extLst>
          </p:cNvPr>
          <p:cNvSpPr txBox="1"/>
          <p:nvPr/>
        </p:nvSpPr>
        <p:spPr>
          <a:xfrm>
            <a:off x="2438400" y="0"/>
            <a:ext cx="6081486" cy="1077218"/>
          </a:xfrm>
          <a:prstGeom prst="rect">
            <a:avLst/>
          </a:prstGeom>
          <a:noFill/>
        </p:spPr>
        <p:txBody>
          <a:bodyPr wrap="square">
            <a:spAutoFit/>
          </a:bodyPr>
          <a:lstStyle/>
          <a:p>
            <a:pPr>
              <a:buNone/>
            </a:pPr>
            <a:r>
              <a:rPr lang="en-US" sz="3200" b="1" dirty="0">
                <a:solidFill>
                  <a:srgbClr val="FF0000"/>
                </a:solidFill>
                <a:effectLst/>
                <a:latin typeface="Algerian" panose="04020705040A02060702" pitchFamily="82" charset="0"/>
              </a:rPr>
              <a:t>Solving Problems Involving </a:t>
            </a:r>
            <a:endParaRPr lang="en-US" sz="3200" dirty="0">
              <a:solidFill>
                <a:srgbClr val="FF0000"/>
              </a:solidFill>
              <a:latin typeface="Algerian" panose="04020705040A02060702" pitchFamily="82" charset="0"/>
            </a:endParaRPr>
          </a:p>
          <a:p>
            <a:pPr>
              <a:buNone/>
            </a:pPr>
            <a:r>
              <a:rPr lang="en-US" sz="3200" b="1" dirty="0">
                <a:solidFill>
                  <a:srgbClr val="FF0000"/>
                </a:solidFill>
                <a:effectLst/>
                <a:latin typeface="Algerian" panose="04020705040A02060702" pitchFamily="82" charset="0"/>
              </a:rPr>
              <a:t>Coulomb’s Law and Vectors</a:t>
            </a:r>
            <a:endParaRPr lang="en-NG" sz="3200" dirty="0">
              <a:solidFill>
                <a:srgbClr val="FF0000"/>
              </a:solidFill>
              <a:latin typeface="Algerian" panose="04020705040A02060702" pitchFamily="82" charset="0"/>
            </a:endParaRPr>
          </a:p>
        </p:txBody>
      </p:sp>
      <p:pic>
        <p:nvPicPr>
          <p:cNvPr id="5" name="Picture 4">
            <a:extLst>
              <a:ext uri="{FF2B5EF4-FFF2-40B4-BE49-F238E27FC236}">
                <a16:creationId xmlns:a16="http://schemas.microsoft.com/office/drawing/2014/main" id="{02D5B91C-B520-B813-7790-3B64909F34A1}"/>
              </a:ext>
            </a:extLst>
          </p:cNvPr>
          <p:cNvPicPr>
            <a:picLocks noChangeAspect="1"/>
          </p:cNvPicPr>
          <p:nvPr/>
        </p:nvPicPr>
        <p:blipFill>
          <a:blip r:embed="rId2"/>
          <a:stretch>
            <a:fillRect/>
          </a:stretch>
        </p:blipFill>
        <p:spPr>
          <a:xfrm>
            <a:off x="1" y="1077218"/>
            <a:ext cx="3047998" cy="5570325"/>
          </a:xfrm>
          <a:prstGeom prst="rect">
            <a:avLst/>
          </a:prstGeom>
        </p:spPr>
      </p:pic>
      <p:pic>
        <p:nvPicPr>
          <p:cNvPr id="7" name="Picture 6">
            <a:extLst>
              <a:ext uri="{FF2B5EF4-FFF2-40B4-BE49-F238E27FC236}">
                <a16:creationId xmlns:a16="http://schemas.microsoft.com/office/drawing/2014/main" id="{ABC06BBC-2E81-6DA0-E4EE-E4AC92916136}"/>
              </a:ext>
            </a:extLst>
          </p:cNvPr>
          <p:cNvPicPr>
            <a:picLocks noChangeAspect="1"/>
          </p:cNvPicPr>
          <p:nvPr/>
        </p:nvPicPr>
        <p:blipFill>
          <a:blip r:embed="rId3"/>
          <a:stretch>
            <a:fillRect/>
          </a:stretch>
        </p:blipFill>
        <p:spPr>
          <a:xfrm>
            <a:off x="9061904" y="159658"/>
            <a:ext cx="3130095" cy="6487886"/>
          </a:xfrm>
          <a:prstGeom prst="rect">
            <a:avLst/>
          </a:prstGeom>
        </p:spPr>
      </p:pic>
      <p:pic>
        <p:nvPicPr>
          <p:cNvPr id="9" name="Picture 8">
            <a:extLst>
              <a:ext uri="{FF2B5EF4-FFF2-40B4-BE49-F238E27FC236}">
                <a16:creationId xmlns:a16="http://schemas.microsoft.com/office/drawing/2014/main" id="{B1EE53DD-4D4A-01D9-A99F-3A17F6BE85D0}"/>
              </a:ext>
            </a:extLst>
          </p:cNvPr>
          <p:cNvPicPr>
            <a:picLocks noChangeAspect="1"/>
          </p:cNvPicPr>
          <p:nvPr/>
        </p:nvPicPr>
        <p:blipFill>
          <a:blip r:embed="rId4"/>
          <a:stretch>
            <a:fillRect/>
          </a:stretch>
        </p:blipFill>
        <p:spPr>
          <a:xfrm>
            <a:off x="2160133" y="1077218"/>
            <a:ext cx="7247619" cy="1549867"/>
          </a:xfrm>
          <a:prstGeom prst="rect">
            <a:avLst/>
          </a:prstGeom>
        </p:spPr>
      </p:pic>
      <p:pic>
        <p:nvPicPr>
          <p:cNvPr id="11" name="Picture 10">
            <a:extLst>
              <a:ext uri="{FF2B5EF4-FFF2-40B4-BE49-F238E27FC236}">
                <a16:creationId xmlns:a16="http://schemas.microsoft.com/office/drawing/2014/main" id="{0FAE355F-2600-3F4B-B106-F02445CBB7D3}"/>
              </a:ext>
            </a:extLst>
          </p:cNvPr>
          <p:cNvPicPr>
            <a:picLocks noChangeAspect="1"/>
          </p:cNvPicPr>
          <p:nvPr/>
        </p:nvPicPr>
        <p:blipFill>
          <a:blip r:embed="rId5"/>
          <a:stretch>
            <a:fillRect/>
          </a:stretch>
        </p:blipFill>
        <p:spPr>
          <a:xfrm>
            <a:off x="3047999" y="2627085"/>
            <a:ext cx="6013905" cy="4248572"/>
          </a:xfrm>
          <a:prstGeom prst="rect">
            <a:avLst/>
          </a:prstGeom>
        </p:spPr>
      </p:pic>
    </p:spTree>
    <p:extLst>
      <p:ext uri="{BB962C8B-B14F-4D97-AF65-F5344CB8AC3E}">
        <p14:creationId xmlns:p14="http://schemas.microsoft.com/office/powerpoint/2010/main" val="29745533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ext Box 3">
            <a:extLst>
              <a:ext uri="{FF2B5EF4-FFF2-40B4-BE49-F238E27FC236}">
                <a16:creationId xmlns:a16="http://schemas.microsoft.com/office/drawing/2014/main" id="{CB4A1D57-D818-445C-AD61-E2D84A539CB8}"/>
              </a:ext>
            </a:extLst>
          </p:cNvPr>
          <p:cNvSpPr txBox="1">
            <a:spLocks noChangeArrowheads="1"/>
          </p:cNvSpPr>
          <p:nvPr/>
        </p:nvSpPr>
        <p:spPr bwMode="auto">
          <a:xfrm>
            <a:off x="239486" y="1245382"/>
            <a:ext cx="1171302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sz="2800" dirty="0">
                <a:latin typeface="Times New Roman" panose="02020603050405020304" pitchFamily="18" charset="0"/>
                <a:cs typeface="Times New Roman" panose="02020603050405020304" pitchFamily="18" charset="0"/>
              </a:rPr>
              <a:t>If there are </a:t>
            </a:r>
            <a:r>
              <a:rPr lang="en-US" altLang="en-US" sz="2800" b="1" dirty="0">
                <a:solidFill>
                  <a:srgbClr val="0000FF"/>
                </a:solidFill>
                <a:latin typeface="Times New Roman" panose="02020603050405020304" pitchFamily="18" charset="0"/>
                <a:cs typeface="Times New Roman" panose="02020603050405020304" pitchFamily="18" charset="0"/>
              </a:rPr>
              <a:t>multiple point charges</a:t>
            </a:r>
            <a:r>
              <a:rPr lang="en-US" altLang="en-US" sz="2800" dirty="0">
                <a:latin typeface="Times New Roman" panose="02020603050405020304" pitchFamily="18" charset="0"/>
                <a:cs typeface="Times New Roman" panose="02020603050405020304" pitchFamily="18" charset="0"/>
              </a:rPr>
              <a:t>, the force </a:t>
            </a:r>
            <a:r>
              <a:rPr lang="en-US" altLang="en-US" sz="2800" u="sng" dirty="0">
                <a:latin typeface="Times New Roman" panose="02020603050405020304" pitchFamily="18" charset="0"/>
                <a:cs typeface="Times New Roman" panose="02020603050405020304" pitchFamily="18" charset="0"/>
              </a:rPr>
              <a:t>vectors must be added to get the net force</a:t>
            </a:r>
            <a:r>
              <a:rPr lang="en-US" altLang="en-US" sz="2800" dirty="0">
                <a:latin typeface="Times New Roman" panose="02020603050405020304" pitchFamily="18" charset="0"/>
                <a:cs typeface="Times New Roman" panose="02020603050405020304" pitchFamily="18" charset="0"/>
              </a:rPr>
              <a:t>.</a:t>
            </a:r>
          </a:p>
        </p:txBody>
      </p:sp>
      <p:graphicFrame>
        <p:nvGraphicFramePr>
          <p:cNvPr id="3074" name="Object 4">
            <a:extLst>
              <a:ext uri="{FF2B5EF4-FFF2-40B4-BE49-F238E27FC236}">
                <a16:creationId xmlns:a16="http://schemas.microsoft.com/office/drawing/2014/main" id="{A76984FD-DE3C-4902-8244-0535DA4D1BCA}"/>
              </a:ext>
            </a:extLst>
          </p:cNvPr>
          <p:cNvGraphicFramePr>
            <a:graphicFrameLocks noChangeAspect="1"/>
          </p:cNvGraphicFramePr>
          <p:nvPr>
            <p:extLst>
              <p:ext uri="{D42A27DB-BD31-4B8C-83A1-F6EECF244321}">
                <p14:modId xmlns:p14="http://schemas.microsoft.com/office/powerpoint/2010/main" val="1475936494"/>
              </p:ext>
            </p:extLst>
          </p:nvPr>
        </p:nvGraphicFramePr>
        <p:xfrm>
          <a:off x="1088571" y="2467429"/>
          <a:ext cx="10334172" cy="3439885"/>
        </p:xfrm>
        <a:graphic>
          <a:graphicData uri="http://schemas.openxmlformats.org/presentationml/2006/ole">
            <mc:AlternateContent xmlns:mc="http://schemas.openxmlformats.org/markup-compatibility/2006">
              <mc:Choice xmlns:v="urn:schemas-microsoft-com:vml" Requires="v">
                <p:oleObj spid="_x0000_s3074" name="Bitmap Image" r:id="rId3" imgW="7571429" imgH="2200582" progId="PBrush">
                  <p:embed/>
                </p:oleObj>
              </mc:Choice>
              <mc:Fallback>
                <p:oleObj name="Bitmap Image" r:id="rId3" imgW="7571429" imgH="2200582" progId="PBrush">
                  <p:embed/>
                  <p:pic>
                    <p:nvPicPr>
                      <p:cNvPr id="3074" name="Object 4">
                        <a:extLst>
                          <a:ext uri="{FF2B5EF4-FFF2-40B4-BE49-F238E27FC236}">
                            <a16:creationId xmlns:a16="http://schemas.microsoft.com/office/drawing/2014/main" id="{A76984FD-DE3C-4902-8244-0535DA4D1B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571" y="2467429"/>
                        <a:ext cx="10334172" cy="3439885"/>
                      </a:xfrm>
                      <a:prstGeom prst="rect">
                        <a:avLst/>
                      </a:prstGeom>
                      <a:noFill/>
                      <a:ln>
                        <a:noFill/>
                      </a:ln>
                      <a:effectLst/>
                    </p:spPr>
                  </p:pic>
                </p:oleObj>
              </mc:Fallback>
            </mc:AlternateContent>
          </a:graphicData>
        </a:graphic>
      </p:graphicFrame>
      <p:sp>
        <p:nvSpPr>
          <p:cNvPr id="8" name="Title 1">
            <a:extLst>
              <a:ext uri="{FF2B5EF4-FFF2-40B4-BE49-F238E27FC236}">
                <a16:creationId xmlns:a16="http://schemas.microsoft.com/office/drawing/2014/main" id="{0D45295F-3E01-42C5-9159-284C343CE5CB}"/>
              </a:ext>
            </a:extLst>
          </p:cNvPr>
          <p:cNvSpPr txBox="1">
            <a:spLocks/>
          </p:cNvSpPr>
          <p:nvPr/>
        </p:nvSpPr>
        <p:spPr>
          <a:xfrm>
            <a:off x="1571171" y="34940"/>
            <a:ext cx="9325429" cy="1143000"/>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latin typeface="Algerian" panose="04020705040A02060702" pitchFamily="82" charset="0"/>
              </a:rPr>
              <a:t>Principle of superposition of charges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a:extLst>
              <a:ext uri="{FF2B5EF4-FFF2-40B4-BE49-F238E27FC236}">
                <a16:creationId xmlns:a16="http://schemas.microsoft.com/office/drawing/2014/main" id="{3368CF73-EF77-4525-8510-DE7CA5054371}"/>
              </a:ext>
            </a:extLst>
          </p:cNvPr>
          <p:cNvSpPr txBox="1">
            <a:spLocks noChangeArrowheads="1"/>
          </p:cNvSpPr>
          <p:nvPr/>
        </p:nvSpPr>
        <p:spPr bwMode="auto">
          <a:xfrm>
            <a:off x="203206" y="2309813"/>
            <a:ext cx="11747492"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pPr>
            <a:r>
              <a:rPr lang="en-US" altLang="en-US" sz="2800" dirty="0">
                <a:latin typeface="Times New Roman" panose="02020603050405020304" pitchFamily="18" charset="0"/>
                <a:cs typeface="Times New Roman" panose="02020603050405020304" pitchFamily="18" charset="0"/>
              </a:rPr>
              <a:t>(a) Two-point charges of -1.0nC and +2.0nC are separated by a distance of 0.3m, what is the electric force on each particle?</a:t>
            </a:r>
          </a:p>
        </p:txBody>
      </p:sp>
      <p:grpSp>
        <p:nvGrpSpPr>
          <p:cNvPr id="34820" name="Group 4">
            <a:extLst>
              <a:ext uri="{FF2B5EF4-FFF2-40B4-BE49-F238E27FC236}">
                <a16:creationId xmlns:a16="http://schemas.microsoft.com/office/drawing/2014/main" id="{ABE63EFE-4293-497D-B3CB-5C9CC5A5EA42}"/>
              </a:ext>
            </a:extLst>
          </p:cNvPr>
          <p:cNvGrpSpPr>
            <a:grpSpLocks/>
          </p:cNvGrpSpPr>
          <p:nvPr/>
        </p:nvGrpSpPr>
        <p:grpSpPr bwMode="auto">
          <a:xfrm>
            <a:off x="870857" y="1066800"/>
            <a:ext cx="10232571" cy="1282700"/>
            <a:chOff x="1467" y="1851"/>
            <a:chExt cx="2419" cy="808"/>
          </a:xfrm>
        </p:grpSpPr>
        <p:sp>
          <p:nvSpPr>
            <p:cNvPr id="34845" name="Oval 5">
              <a:extLst>
                <a:ext uri="{FF2B5EF4-FFF2-40B4-BE49-F238E27FC236}">
                  <a16:creationId xmlns:a16="http://schemas.microsoft.com/office/drawing/2014/main" id="{D4853085-BA98-442D-BA2D-1781C4556847}"/>
                </a:ext>
              </a:extLst>
            </p:cNvPr>
            <p:cNvSpPr>
              <a:spLocks noChangeArrowheads="1"/>
            </p:cNvSpPr>
            <p:nvPr/>
          </p:nvSpPr>
          <p:spPr bwMode="auto">
            <a:xfrm>
              <a:off x="1987" y="2128"/>
              <a:ext cx="79" cy="76"/>
            </a:xfrm>
            <a:prstGeom prst="ellipse">
              <a:avLst/>
            </a:prstGeom>
            <a:solidFill>
              <a:srgbClr val="3333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34846" name="Oval 6">
              <a:extLst>
                <a:ext uri="{FF2B5EF4-FFF2-40B4-BE49-F238E27FC236}">
                  <a16:creationId xmlns:a16="http://schemas.microsoft.com/office/drawing/2014/main" id="{B0D502DC-BC1C-4509-A3AF-13411EDC34FC}"/>
                </a:ext>
              </a:extLst>
            </p:cNvPr>
            <p:cNvSpPr>
              <a:spLocks noChangeArrowheads="1"/>
            </p:cNvSpPr>
            <p:nvPr/>
          </p:nvSpPr>
          <p:spPr bwMode="auto">
            <a:xfrm>
              <a:off x="3267" y="2128"/>
              <a:ext cx="79" cy="76"/>
            </a:xfrm>
            <a:prstGeom prst="ellipse">
              <a:avLst/>
            </a:prstGeom>
            <a:solidFill>
              <a:srgbClr val="3333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34847" name="Line 7">
              <a:extLst>
                <a:ext uri="{FF2B5EF4-FFF2-40B4-BE49-F238E27FC236}">
                  <a16:creationId xmlns:a16="http://schemas.microsoft.com/office/drawing/2014/main" id="{C617B6B3-0CA8-4CB8-B395-D44865CF9AB6}"/>
                </a:ext>
              </a:extLst>
            </p:cNvPr>
            <p:cNvSpPr>
              <a:spLocks noChangeShapeType="1"/>
            </p:cNvSpPr>
            <p:nvPr/>
          </p:nvSpPr>
          <p:spPr bwMode="auto">
            <a:xfrm>
              <a:off x="2031" y="2166"/>
              <a:ext cx="33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8" name="Line 8">
              <a:extLst>
                <a:ext uri="{FF2B5EF4-FFF2-40B4-BE49-F238E27FC236}">
                  <a16:creationId xmlns:a16="http://schemas.microsoft.com/office/drawing/2014/main" id="{928E28A8-DFA6-4BDE-BD31-3AB25CE45459}"/>
                </a:ext>
              </a:extLst>
            </p:cNvPr>
            <p:cNvSpPr>
              <a:spLocks noChangeShapeType="1"/>
            </p:cNvSpPr>
            <p:nvPr/>
          </p:nvSpPr>
          <p:spPr bwMode="auto">
            <a:xfrm flipH="1">
              <a:off x="2972" y="2165"/>
              <a:ext cx="30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9" name="Line 9">
              <a:extLst>
                <a:ext uri="{FF2B5EF4-FFF2-40B4-BE49-F238E27FC236}">
                  <a16:creationId xmlns:a16="http://schemas.microsoft.com/office/drawing/2014/main" id="{4ABC4D7B-DFD0-4295-8CC3-67AAA085B157}"/>
                </a:ext>
              </a:extLst>
            </p:cNvPr>
            <p:cNvSpPr>
              <a:spLocks noChangeShapeType="1"/>
            </p:cNvSpPr>
            <p:nvPr/>
          </p:nvSpPr>
          <p:spPr bwMode="auto">
            <a:xfrm>
              <a:off x="2047" y="2348"/>
              <a:ext cx="0" cy="1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0" name="Line 10">
              <a:extLst>
                <a:ext uri="{FF2B5EF4-FFF2-40B4-BE49-F238E27FC236}">
                  <a16:creationId xmlns:a16="http://schemas.microsoft.com/office/drawing/2014/main" id="{758DBA35-5F18-4C90-BE3B-2649870D7759}"/>
                </a:ext>
              </a:extLst>
            </p:cNvPr>
            <p:cNvSpPr>
              <a:spLocks noChangeShapeType="1"/>
            </p:cNvSpPr>
            <p:nvPr/>
          </p:nvSpPr>
          <p:spPr bwMode="auto">
            <a:xfrm>
              <a:off x="3303" y="2348"/>
              <a:ext cx="0" cy="1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1" name="Line 11">
              <a:extLst>
                <a:ext uri="{FF2B5EF4-FFF2-40B4-BE49-F238E27FC236}">
                  <a16:creationId xmlns:a16="http://schemas.microsoft.com/office/drawing/2014/main" id="{4CD44C7F-6E22-4B44-9EC8-5249E3B71F12}"/>
                </a:ext>
              </a:extLst>
            </p:cNvPr>
            <p:cNvSpPr>
              <a:spLocks noChangeShapeType="1"/>
            </p:cNvSpPr>
            <p:nvPr/>
          </p:nvSpPr>
          <p:spPr bwMode="auto">
            <a:xfrm>
              <a:off x="2062" y="2439"/>
              <a:ext cx="1221" cy="0"/>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34852" name="Text Box 12">
              <a:extLst>
                <a:ext uri="{FF2B5EF4-FFF2-40B4-BE49-F238E27FC236}">
                  <a16:creationId xmlns:a16="http://schemas.microsoft.com/office/drawing/2014/main" id="{9E69FB1B-2363-4C8C-B984-A93C05B021FD}"/>
                </a:ext>
              </a:extLst>
            </p:cNvPr>
            <p:cNvSpPr txBox="1">
              <a:spLocks noChangeArrowheads="1"/>
            </p:cNvSpPr>
            <p:nvPr/>
          </p:nvSpPr>
          <p:spPr bwMode="auto">
            <a:xfrm>
              <a:off x="2446" y="2428"/>
              <a:ext cx="4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alibri" panose="020F0502020204030204" pitchFamily="34" charset="0"/>
                </a:rPr>
                <a:t>0.3m</a:t>
              </a:r>
            </a:p>
          </p:txBody>
        </p:sp>
        <p:sp>
          <p:nvSpPr>
            <p:cNvPr id="34853" name="Text Box 13">
              <a:extLst>
                <a:ext uri="{FF2B5EF4-FFF2-40B4-BE49-F238E27FC236}">
                  <a16:creationId xmlns:a16="http://schemas.microsoft.com/office/drawing/2014/main" id="{1B2E50B4-FFB7-46FA-A80E-43888A5B9EB7}"/>
                </a:ext>
              </a:extLst>
            </p:cNvPr>
            <p:cNvSpPr txBox="1">
              <a:spLocks noChangeArrowheads="1"/>
            </p:cNvSpPr>
            <p:nvPr/>
          </p:nvSpPr>
          <p:spPr bwMode="auto">
            <a:xfrm>
              <a:off x="3205" y="1851"/>
              <a:ext cx="6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alibri" panose="020F0502020204030204" pitchFamily="34" charset="0"/>
                </a:rPr>
                <a:t>q</a:t>
              </a:r>
              <a:r>
                <a:rPr lang="en-US" altLang="en-US" baseline="-25000">
                  <a:latin typeface="Calibri" panose="020F0502020204030204" pitchFamily="34" charset="0"/>
                </a:rPr>
                <a:t>2</a:t>
              </a:r>
              <a:r>
                <a:rPr lang="en-US" altLang="en-US">
                  <a:latin typeface="Calibri" panose="020F0502020204030204" pitchFamily="34" charset="0"/>
                </a:rPr>
                <a:t> = +2nC</a:t>
              </a:r>
              <a:endParaRPr lang="en-US" altLang="en-US" i="1">
                <a:latin typeface="Calibri" panose="020F0502020204030204" pitchFamily="34" charset="0"/>
              </a:endParaRPr>
            </a:p>
          </p:txBody>
        </p:sp>
        <p:sp>
          <p:nvSpPr>
            <p:cNvPr id="34854" name="Text Box 14">
              <a:extLst>
                <a:ext uri="{FF2B5EF4-FFF2-40B4-BE49-F238E27FC236}">
                  <a16:creationId xmlns:a16="http://schemas.microsoft.com/office/drawing/2014/main" id="{B7205023-8FFA-471D-ABDD-6F9ADE256E57}"/>
                </a:ext>
              </a:extLst>
            </p:cNvPr>
            <p:cNvSpPr txBox="1">
              <a:spLocks noChangeArrowheads="1"/>
            </p:cNvSpPr>
            <p:nvPr/>
          </p:nvSpPr>
          <p:spPr bwMode="auto">
            <a:xfrm>
              <a:off x="2247" y="1922"/>
              <a:ext cx="2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alibri" panose="020F0502020204030204" pitchFamily="34" charset="0"/>
                </a:rPr>
                <a:t>F</a:t>
              </a:r>
              <a:r>
                <a:rPr lang="en-US" altLang="en-US" baseline="-25000">
                  <a:latin typeface="Calibri" panose="020F0502020204030204" pitchFamily="34" charset="0"/>
                </a:rPr>
                <a:t>12</a:t>
              </a:r>
              <a:endParaRPr lang="en-US" altLang="en-US" i="1">
                <a:latin typeface="Calibri" panose="020F0502020204030204" pitchFamily="34" charset="0"/>
              </a:endParaRPr>
            </a:p>
          </p:txBody>
        </p:sp>
        <p:sp>
          <p:nvSpPr>
            <p:cNvPr id="34855" name="Text Box 15">
              <a:extLst>
                <a:ext uri="{FF2B5EF4-FFF2-40B4-BE49-F238E27FC236}">
                  <a16:creationId xmlns:a16="http://schemas.microsoft.com/office/drawing/2014/main" id="{4FB3557F-94DF-4600-99F3-3E96A85DBA79}"/>
                </a:ext>
              </a:extLst>
            </p:cNvPr>
            <p:cNvSpPr txBox="1">
              <a:spLocks noChangeArrowheads="1"/>
            </p:cNvSpPr>
            <p:nvPr/>
          </p:nvSpPr>
          <p:spPr bwMode="auto">
            <a:xfrm>
              <a:off x="2832" y="1901"/>
              <a:ext cx="2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a:latin typeface="Calibri" panose="020F0502020204030204" pitchFamily="34" charset="0"/>
                </a:rPr>
                <a:t>F</a:t>
              </a:r>
              <a:r>
                <a:rPr lang="en-US" altLang="en-US" baseline="-25000">
                  <a:latin typeface="Calibri" panose="020F0502020204030204" pitchFamily="34" charset="0"/>
                </a:rPr>
                <a:t>21</a:t>
              </a:r>
              <a:endParaRPr lang="en-US" altLang="en-US" i="1">
                <a:latin typeface="Calibri" panose="020F0502020204030204" pitchFamily="34" charset="0"/>
              </a:endParaRPr>
            </a:p>
          </p:txBody>
        </p:sp>
        <p:sp>
          <p:nvSpPr>
            <p:cNvPr id="34856" name="Text Box 16">
              <a:extLst>
                <a:ext uri="{FF2B5EF4-FFF2-40B4-BE49-F238E27FC236}">
                  <a16:creationId xmlns:a16="http://schemas.microsoft.com/office/drawing/2014/main" id="{B5AE78A8-1037-45FB-8FDB-E97103219595}"/>
                </a:ext>
              </a:extLst>
            </p:cNvPr>
            <p:cNvSpPr txBox="1">
              <a:spLocks noChangeArrowheads="1"/>
            </p:cNvSpPr>
            <p:nvPr/>
          </p:nvSpPr>
          <p:spPr bwMode="auto">
            <a:xfrm>
              <a:off x="1467" y="1863"/>
              <a:ext cx="6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dirty="0">
                  <a:latin typeface="Calibri" panose="020F0502020204030204" pitchFamily="34" charset="0"/>
                </a:rPr>
                <a:t>q</a:t>
              </a:r>
              <a:r>
                <a:rPr lang="en-US" altLang="en-US" baseline="-25000" dirty="0">
                  <a:latin typeface="Calibri" panose="020F0502020204030204" pitchFamily="34" charset="0"/>
                </a:rPr>
                <a:t>1</a:t>
              </a:r>
              <a:r>
                <a:rPr lang="en-US" altLang="en-US" dirty="0">
                  <a:latin typeface="Calibri" panose="020F0502020204030204" pitchFamily="34" charset="0"/>
                </a:rPr>
                <a:t> = -1nC</a:t>
              </a:r>
              <a:endParaRPr lang="en-US" altLang="en-US" i="1" dirty="0">
                <a:latin typeface="Calibri" panose="020F0502020204030204" pitchFamily="34" charset="0"/>
              </a:endParaRPr>
            </a:p>
          </p:txBody>
        </p:sp>
      </p:grpSp>
      <p:grpSp>
        <p:nvGrpSpPr>
          <p:cNvPr id="34821" name="Group 17">
            <a:extLst>
              <a:ext uri="{FF2B5EF4-FFF2-40B4-BE49-F238E27FC236}">
                <a16:creationId xmlns:a16="http://schemas.microsoft.com/office/drawing/2014/main" id="{564BC6E6-87E2-4BF8-AAA7-996F1C2A862F}"/>
              </a:ext>
            </a:extLst>
          </p:cNvPr>
          <p:cNvGrpSpPr>
            <a:grpSpLocks/>
          </p:cNvGrpSpPr>
          <p:nvPr/>
        </p:nvGrpSpPr>
        <p:grpSpPr bwMode="auto">
          <a:xfrm>
            <a:off x="203206" y="3479244"/>
            <a:ext cx="6084677" cy="3150156"/>
            <a:chOff x="887" y="2204"/>
            <a:chExt cx="3291" cy="1669"/>
          </a:xfrm>
        </p:grpSpPr>
        <p:sp>
          <p:nvSpPr>
            <p:cNvPr id="34824" name="Line 18">
              <a:extLst>
                <a:ext uri="{FF2B5EF4-FFF2-40B4-BE49-F238E27FC236}">
                  <a16:creationId xmlns:a16="http://schemas.microsoft.com/office/drawing/2014/main" id="{8E7BCB0F-2647-4C7F-A03D-D7FF0BE9E900}"/>
                </a:ext>
              </a:extLst>
            </p:cNvPr>
            <p:cNvSpPr>
              <a:spLocks noChangeShapeType="1"/>
            </p:cNvSpPr>
            <p:nvPr/>
          </p:nvSpPr>
          <p:spPr bwMode="auto">
            <a:xfrm>
              <a:off x="1629" y="2365"/>
              <a:ext cx="0" cy="1508"/>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en-US"/>
            </a:p>
          </p:txBody>
        </p:sp>
        <p:sp>
          <p:nvSpPr>
            <p:cNvPr id="34825" name="Line 19">
              <a:extLst>
                <a:ext uri="{FF2B5EF4-FFF2-40B4-BE49-F238E27FC236}">
                  <a16:creationId xmlns:a16="http://schemas.microsoft.com/office/drawing/2014/main" id="{4882E554-F160-439C-A879-A5370578675E}"/>
                </a:ext>
              </a:extLst>
            </p:cNvPr>
            <p:cNvSpPr>
              <a:spLocks noChangeShapeType="1"/>
            </p:cNvSpPr>
            <p:nvPr/>
          </p:nvSpPr>
          <p:spPr bwMode="auto">
            <a:xfrm>
              <a:off x="955" y="3115"/>
              <a:ext cx="3024"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34826" name="Oval 20">
              <a:extLst>
                <a:ext uri="{FF2B5EF4-FFF2-40B4-BE49-F238E27FC236}">
                  <a16:creationId xmlns:a16="http://schemas.microsoft.com/office/drawing/2014/main" id="{D52C47DA-D9D3-4D47-A680-E633C3DAACEE}"/>
                </a:ext>
              </a:extLst>
            </p:cNvPr>
            <p:cNvSpPr>
              <a:spLocks noChangeArrowheads="1"/>
            </p:cNvSpPr>
            <p:nvPr/>
          </p:nvSpPr>
          <p:spPr bwMode="auto">
            <a:xfrm>
              <a:off x="1585" y="3517"/>
              <a:ext cx="76" cy="90"/>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34827" name="Oval 21">
              <a:extLst>
                <a:ext uri="{FF2B5EF4-FFF2-40B4-BE49-F238E27FC236}">
                  <a16:creationId xmlns:a16="http://schemas.microsoft.com/office/drawing/2014/main" id="{8D9E74D9-A272-466B-A02C-C9C9F9621E27}"/>
                </a:ext>
              </a:extLst>
            </p:cNvPr>
            <p:cNvSpPr>
              <a:spLocks noChangeArrowheads="1"/>
            </p:cNvSpPr>
            <p:nvPr/>
          </p:nvSpPr>
          <p:spPr bwMode="auto">
            <a:xfrm>
              <a:off x="1589" y="2605"/>
              <a:ext cx="76" cy="90"/>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34828" name="Oval 22">
              <a:extLst>
                <a:ext uri="{FF2B5EF4-FFF2-40B4-BE49-F238E27FC236}">
                  <a16:creationId xmlns:a16="http://schemas.microsoft.com/office/drawing/2014/main" id="{A59D0A4E-82F5-4B17-BAEB-76ADFECBB4CA}"/>
                </a:ext>
              </a:extLst>
            </p:cNvPr>
            <p:cNvSpPr>
              <a:spLocks noChangeArrowheads="1"/>
            </p:cNvSpPr>
            <p:nvPr/>
          </p:nvSpPr>
          <p:spPr bwMode="auto">
            <a:xfrm>
              <a:off x="3221" y="3067"/>
              <a:ext cx="76" cy="90"/>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34829" name="Line 23">
              <a:extLst>
                <a:ext uri="{FF2B5EF4-FFF2-40B4-BE49-F238E27FC236}">
                  <a16:creationId xmlns:a16="http://schemas.microsoft.com/office/drawing/2014/main" id="{8DD3B5E0-7B63-4527-BBB3-2F440F897B5A}"/>
                </a:ext>
              </a:extLst>
            </p:cNvPr>
            <p:cNvSpPr>
              <a:spLocks noChangeShapeType="1"/>
            </p:cNvSpPr>
            <p:nvPr/>
          </p:nvSpPr>
          <p:spPr bwMode="auto">
            <a:xfrm flipV="1">
              <a:off x="1645" y="3123"/>
              <a:ext cx="1622" cy="42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30" name="Line 24">
              <a:extLst>
                <a:ext uri="{FF2B5EF4-FFF2-40B4-BE49-F238E27FC236}">
                  <a16:creationId xmlns:a16="http://schemas.microsoft.com/office/drawing/2014/main" id="{866C667B-66A9-470E-AF2D-F0057506E07C}"/>
                </a:ext>
              </a:extLst>
            </p:cNvPr>
            <p:cNvSpPr>
              <a:spLocks noChangeShapeType="1"/>
            </p:cNvSpPr>
            <p:nvPr/>
          </p:nvSpPr>
          <p:spPr bwMode="auto">
            <a:xfrm>
              <a:off x="1629" y="2645"/>
              <a:ext cx="1653" cy="44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Text Box 25">
              <a:extLst>
                <a:ext uri="{FF2B5EF4-FFF2-40B4-BE49-F238E27FC236}">
                  <a16:creationId xmlns:a16="http://schemas.microsoft.com/office/drawing/2014/main" id="{FF0AA5A3-0C3F-417C-9CBA-27F7C6FD61BC}"/>
                </a:ext>
              </a:extLst>
            </p:cNvPr>
            <p:cNvSpPr txBox="1">
              <a:spLocks noChangeArrowheads="1"/>
            </p:cNvSpPr>
            <p:nvPr/>
          </p:nvSpPr>
          <p:spPr bwMode="auto">
            <a:xfrm>
              <a:off x="890" y="3460"/>
              <a:ext cx="62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Calibri" panose="020F0502020204030204" pitchFamily="34" charset="0"/>
                </a:rPr>
                <a:t>(0, -0.3m)</a:t>
              </a:r>
            </a:p>
          </p:txBody>
        </p:sp>
        <p:sp>
          <p:nvSpPr>
            <p:cNvPr id="34832" name="Text Box 26">
              <a:extLst>
                <a:ext uri="{FF2B5EF4-FFF2-40B4-BE49-F238E27FC236}">
                  <a16:creationId xmlns:a16="http://schemas.microsoft.com/office/drawing/2014/main" id="{A761D93D-B2F4-475E-9AA2-5183A5642EAD}"/>
                </a:ext>
              </a:extLst>
            </p:cNvPr>
            <p:cNvSpPr txBox="1">
              <a:spLocks noChangeArrowheads="1"/>
            </p:cNvSpPr>
            <p:nvPr/>
          </p:nvSpPr>
          <p:spPr bwMode="auto">
            <a:xfrm>
              <a:off x="887" y="2518"/>
              <a:ext cx="65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Calibri" panose="020F0502020204030204" pitchFamily="34" charset="0"/>
                </a:rPr>
                <a:t>(0, +0.3m)</a:t>
              </a:r>
            </a:p>
          </p:txBody>
        </p:sp>
        <p:sp>
          <p:nvSpPr>
            <p:cNvPr id="34833" name="Text Box 27">
              <a:extLst>
                <a:ext uri="{FF2B5EF4-FFF2-40B4-BE49-F238E27FC236}">
                  <a16:creationId xmlns:a16="http://schemas.microsoft.com/office/drawing/2014/main" id="{36F46184-6816-442D-8F09-2E3CFEA48DBF}"/>
                </a:ext>
              </a:extLst>
            </p:cNvPr>
            <p:cNvSpPr txBox="1">
              <a:spLocks noChangeArrowheads="1"/>
            </p:cNvSpPr>
            <p:nvPr/>
          </p:nvSpPr>
          <p:spPr bwMode="auto">
            <a:xfrm>
              <a:off x="3153" y="3177"/>
              <a:ext cx="6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dirty="0">
                  <a:latin typeface="Calibri" panose="020F0502020204030204" pitchFamily="34" charset="0"/>
                </a:rPr>
                <a:t>(0.4m, 0m)</a:t>
              </a:r>
            </a:p>
          </p:txBody>
        </p:sp>
        <p:sp>
          <p:nvSpPr>
            <p:cNvPr id="34834" name="Text Box 28">
              <a:extLst>
                <a:ext uri="{FF2B5EF4-FFF2-40B4-BE49-F238E27FC236}">
                  <a16:creationId xmlns:a16="http://schemas.microsoft.com/office/drawing/2014/main" id="{2FD4F70B-498E-4095-9B58-D2656A42F454}"/>
                </a:ext>
              </a:extLst>
            </p:cNvPr>
            <p:cNvSpPr txBox="1">
              <a:spLocks noChangeArrowheads="1"/>
            </p:cNvSpPr>
            <p:nvPr/>
          </p:nvSpPr>
          <p:spPr bwMode="auto">
            <a:xfrm>
              <a:off x="1684" y="2427"/>
              <a:ext cx="7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q</a:t>
              </a:r>
              <a:r>
                <a:rPr lang="en-US" altLang="en-US" sz="1600" baseline="-25000">
                  <a:latin typeface="Calibri" panose="020F0502020204030204" pitchFamily="34" charset="0"/>
                </a:rPr>
                <a:t>1 </a:t>
              </a:r>
              <a:r>
                <a:rPr lang="en-US" altLang="en-US" sz="1600">
                  <a:latin typeface="Calibri" panose="020F0502020204030204" pitchFamily="34" charset="0"/>
                </a:rPr>
                <a:t>= +2.5nC</a:t>
              </a:r>
              <a:endParaRPr lang="en-US" altLang="en-US" sz="1600" baseline="-25000">
                <a:latin typeface="Calibri" panose="020F0502020204030204" pitchFamily="34" charset="0"/>
              </a:endParaRPr>
            </a:p>
          </p:txBody>
        </p:sp>
        <p:sp>
          <p:nvSpPr>
            <p:cNvPr id="34835" name="Text Box 29">
              <a:extLst>
                <a:ext uri="{FF2B5EF4-FFF2-40B4-BE49-F238E27FC236}">
                  <a16:creationId xmlns:a16="http://schemas.microsoft.com/office/drawing/2014/main" id="{61BB40F2-E844-4A3A-9623-C160C50C9679}"/>
                </a:ext>
              </a:extLst>
            </p:cNvPr>
            <p:cNvSpPr txBox="1">
              <a:spLocks noChangeArrowheads="1"/>
            </p:cNvSpPr>
            <p:nvPr/>
          </p:nvSpPr>
          <p:spPr bwMode="auto">
            <a:xfrm>
              <a:off x="1682" y="3569"/>
              <a:ext cx="7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q</a:t>
              </a:r>
              <a:r>
                <a:rPr lang="en-US" altLang="en-US" sz="1600" baseline="-25000">
                  <a:latin typeface="Calibri" panose="020F0502020204030204" pitchFamily="34" charset="0"/>
                </a:rPr>
                <a:t>2 </a:t>
              </a:r>
              <a:r>
                <a:rPr lang="en-US" altLang="en-US" sz="1600">
                  <a:latin typeface="Calibri" panose="020F0502020204030204" pitchFamily="34" charset="0"/>
                </a:rPr>
                <a:t>= +2.5nC</a:t>
              </a:r>
              <a:endParaRPr lang="en-US" altLang="en-US" sz="1600" baseline="-25000">
                <a:latin typeface="Calibri" panose="020F0502020204030204" pitchFamily="34" charset="0"/>
              </a:endParaRPr>
            </a:p>
          </p:txBody>
        </p:sp>
        <p:sp>
          <p:nvSpPr>
            <p:cNvPr id="34836" name="Text Box 30">
              <a:extLst>
                <a:ext uri="{FF2B5EF4-FFF2-40B4-BE49-F238E27FC236}">
                  <a16:creationId xmlns:a16="http://schemas.microsoft.com/office/drawing/2014/main" id="{749FF686-5223-435A-B4B3-414A1A54EEC8}"/>
                </a:ext>
              </a:extLst>
            </p:cNvPr>
            <p:cNvSpPr txBox="1">
              <a:spLocks noChangeArrowheads="1"/>
            </p:cNvSpPr>
            <p:nvPr/>
          </p:nvSpPr>
          <p:spPr bwMode="auto">
            <a:xfrm>
              <a:off x="1488" y="2204"/>
              <a:ext cx="17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i="1">
                  <a:latin typeface="Calibri" panose="020F0502020204030204" pitchFamily="34" charset="0"/>
                </a:rPr>
                <a:t>y</a:t>
              </a:r>
            </a:p>
          </p:txBody>
        </p:sp>
        <p:sp>
          <p:nvSpPr>
            <p:cNvPr id="34837" name="Text Box 31">
              <a:extLst>
                <a:ext uri="{FF2B5EF4-FFF2-40B4-BE49-F238E27FC236}">
                  <a16:creationId xmlns:a16="http://schemas.microsoft.com/office/drawing/2014/main" id="{4D55A4DE-DDCE-4113-ABF8-4D00D8747E27}"/>
                </a:ext>
              </a:extLst>
            </p:cNvPr>
            <p:cNvSpPr txBox="1">
              <a:spLocks noChangeArrowheads="1"/>
            </p:cNvSpPr>
            <p:nvPr/>
          </p:nvSpPr>
          <p:spPr bwMode="auto">
            <a:xfrm>
              <a:off x="4002" y="2997"/>
              <a:ext cx="17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i="1">
                  <a:latin typeface="Calibri" panose="020F0502020204030204" pitchFamily="34" charset="0"/>
                </a:rPr>
                <a:t>x</a:t>
              </a:r>
            </a:p>
          </p:txBody>
        </p:sp>
        <p:sp>
          <p:nvSpPr>
            <p:cNvPr id="34838" name="Text Box 32">
              <a:extLst>
                <a:ext uri="{FF2B5EF4-FFF2-40B4-BE49-F238E27FC236}">
                  <a16:creationId xmlns:a16="http://schemas.microsoft.com/office/drawing/2014/main" id="{1C2526AC-4456-436D-8B7A-2BD0FDCA5925}"/>
                </a:ext>
              </a:extLst>
            </p:cNvPr>
            <p:cNvSpPr txBox="1">
              <a:spLocks noChangeArrowheads="1"/>
            </p:cNvSpPr>
            <p:nvPr/>
          </p:nvSpPr>
          <p:spPr bwMode="auto">
            <a:xfrm>
              <a:off x="3242" y="2864"/>
              <a:ext cx="70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q</a:t>
              </a:r>
              <a:r>
                <a:rPr lang="en-US" altLang="en-US" sz="1600" baseline="-25000">
                  <a:latin typeface="Calibri" panose="020F0502020204030204" pitchFamily="34" charset="0"/>
                </a:rPr>
                <a:t>3 </a:t>
              </a:r>
              <a:r>
                <a:rPr lang="en-US" altLang="en-US" sz="1600">
                  <a:latin typeface="Calibri" panose="020F0502020204030204" pitchFamily="34" charset="0"/>
                </a:rPr>
                <a:t>= +3.0nC</a:t>
              </a:r>
              <a:endParaRPr lang="en-US" altLang="en-US" sz="1600" baseline="-25000">
                <a:latin typeface="Calibri" panose="020F0502020204030204" pitchFamily="34" charset="0"/>
              </a:endParaRPr>
            </a:p>
          </p:txBody>
        </p:sp>
        <p:sp>
          <p:nvSpPr>
            <p:cNvPr id="34839" name="Text Box 33">
              <a:extLst>
                <a:ext uri="{FF2B5EF4-FFF2-40B4-BE49-F238E27FC236}">
                  <a16:creationId xmlns:a16="http://schemas.microsoft.com/office/drawing/2014/main" id="{C47A9FDD-3552-4787-B122-B648F2108E64}"/>
                </a:ext>
              </a:extLst>
            </p:cNvPr>
            <p:cNvSpPr txBox="1">
              <a:spLocks noChangeArrowheads="1"/>
            </p:cNvSpPr>
            <p:nvPr/>
          </p:nvSpPr>
          <p:spPr bwMode="auto">
            <a:xfrm>
              <a:off x="2477" y="2681"/>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r</a:t>
              </a:r>
              <a:r>
                <a:rPr lang="en-US" altLang="en-US" sz="1600" baseline="-25000">
                  <a:latin typeface="Calibri" panose="020F0502020204030204" pitchFamily="34" charset="0"/>
                </a:rPr>
                <a:t>31</a:t>
              </a:r>
            </a:p>
          </p:txBody>
        </p:sp>
        <p:sp>
          <p:nvSpPr>
            <p:cNvPr id="34840" name="Text Box 34">
              <a:extLst>
                <a:ext uri="{FF2B5EF4-FFF2-40B4-BE49-F238E27FC236}">
                  <a16:creationId xmlns:a16="http://schemas.microsoft.com/office/drawing/2014/main" id="{996B2059-9849-4319-9AB8-4C87B8E3EE68}"/>
                </a:ext>
              </a:extLst>
            </p:cNvPr>
            <p:cNvSpPr txBox="1">
              <a:spLocks noChangeArrowheads="1"/>
            </p:cNvSpPr>
            <p:nvPr/>
          </p:nvSpPr>
          <p:spPr bwMode="auto">
            <a:xfrm>
              <a:off x="2512" y="3269"/>
              <a:ext cx="2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r</a:t>
              </a:r>
              <a:r>
                <a:rPr lang="en-US" altLang="en-US" sz="1600" baseline="-25000">
                  <a:latin typeface="Calibri" panose="020F0502020204030204" pitchFamily="34" charset="0"/>
                </a:rPr>
                <a:t>32</a:t>
              </a:r>
            </a:p>
          </p:txBody>
        </p:sp>
        <p:sp>
          <p:nvSpPr>
            <p:cNvPr id="34841" name="Arc 35">
              <a:extLst>
                <a:ext uri="{FF2B5EF4-FFF2-40B4-BE49-F238E27FC236}">
                  <a16:creationId xmlns:a16="http://schemas.microsoft.com/office/drawing/2014/main" id="{AF4B4865-991B-4814-8440-D1949A66114A}"/>
                </a:ext>
              </a:extLst>
            </p:cNvPr>
            <p:cNvSpPr>
              <a:spLocks/>
            </p:cNvSpPr>
            <p:nvPr/>
          </p:nvSpPr>
          <p:spPr bwMode="auto">
            <a:xfrm flipH="1">
              <a:off x="2794" y="2971"/>
              <a:ext cx="56"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34842" name="Arc 36">
              <a:extLst>
                <a:ext uri="{FF2B5EF4-FFF2-40B4-BE49-F238E27FC236}">
                  <a16:creationId xmlns:a16="http://schemas.microsoft.com/office/drawing/2014/main" id="{7EACB560-9B77-43DD-AB6A-0688F684D012}"/>
                </a:ext>
              </a:extLst>
            </p:cNvPr>
            <p:cNvSpPr>
              <a:spLocks/>
            </p:cNvSpPr>
            <p:nvPr/>
          </p:nvSpPr>
          <p:spPr bwMode="auto">
            <a:xfrm flipH="1">
              <a:off x="2834" y="3091"/>
              <a:ext cx="56" cy="15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34843" name="Text Box 37">
              <a:extLst>
                <a:ext uri="{FF2B5EF4-FFF2-40B4-BE49-F238E27FC236}">
                  <a16:creationId xmlns:a16="http://schemas.microsoft.com/office/drawing/2014/main" id="{2D2E4535-F6B8-412F-B098-E50B0274AFD3}"/>
                </a:ext>
              </a:extLst>
            </p:cNvPr>
            <p:cNvSpPr txBox="1">
              <a:spLocks noChangeArrowheads="1"/>
            </p:cNvSpPr>
            <p:nvPr/>
          </p:nvSpPr>
          <p:spPr bwMode="auto">
            <a:xfrm>
              <a:off x="2611" y="3064"/>
              <a:ext cx="1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alibri" panose="020F0502020204030204" pitchFamily="34" charset="0"/>
                  <a:sym typeface="Symbol" panose="05050102010706020507" pitchFamily="18" charset="2"/>
                </a:rPr>
                <a:t></a:t>
              </a:r>
            </a:p>
          </p:txBody>
        </p:sp>
        <p:sp>
          <p:nvSpPr>
            <p:cNvPr id="34844" name="Text Box 38">
              <a:extLst>
                <a:ext uri="{FF2B5EF4-FFF2-40B4-BE49-F238E27FC236}">
                  <a16:creationId xmlns:a16="http://schemas.microsoft.com/office/drawing/2014/main" id="{AC8591EE-B3D9-4139-9172-70D2264CB33E}"/>
                </a:ext>
              </a:extLst>
            </p:cNvPr>
            <p:cNvSpPr txBox="1">
              <a:spLocks noChangeArrowheads="1"/>
            </p:cNvSpPr>
            <p:nvPr/>
          </p:nvSpPr>
          <p:spPr bwMode="auto">
            <a:xfrm>
              <a:off x="2602" y="2910"/>
              <a:ext cx="1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alibri" panose="020F0502020204030204" pitchFamily="34" charset="0"/>
                  <a:sym typeface="Symbol" panose="05050102010706020507" pitchFamily="18" charset="2"/>
                </a:rPr>
                <a:t></a:t>
              </a:r>
            </a:p>
          </p:txBody>
        </p:sp>
      </p:grpSp>
      <p:sp>
        <p:nvSpPr>
          <p:cNvPr id="34822" name="Text Box 39">
            <a:extLst>
              <a:ext uri="{FF2B5EF4-FFF2-40B4-BE49-F238E27FC236}">
                <a16:creationId xmlns:a16="http://schemas.microsoft.com/office/drawing/2014/main" id="{6646574D-BDD1-4169-AD3F-1BEB1798DEA3}"/>
              </a:ext>
            </a:extLst>
          </p:cNvPr>
          <p:cNvSpPr txBox="1">
            <a:spLocks noChangeArrowheads="1"/>
          </p:cNvSpPr>
          <p:nvPr/>
        </p:nvSpPr>
        <p:spPr bwMode="auto">
          <a:xfrm>
            <a:off x="6287883" y="4379558"/>
            <a:ext cx="59041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dirty="0">
                <a:latin typeface="Times New Roman" panose="02020603050405020304" pitchFamily="18" charset="0"/>
                <a:cs typeface="Times New Roman" panose="02020603050405020304" pitchFamily="18" charset="0"/>
              </a:rPr>
              <a:t>(b) What is the net electric force on </a:t>
            </a:r>
            <a:r>
              <a:rPr lang="en-US" altLang="en-US" sz="2800" i="1" dirty="0">
                <a:latin typeface="Times New Roman" panose="02020603050405020304" pitchFamily="18" charset="0"/>
                <a:cs typeface="Times New Roman" panose="02020603050405020304" pitchFamily="18" charset="0"/>
              </a:rPr>
              <a:t>q</a:t>
            </a:r>
            <a:r>
              <a:rPr lang="en-US" altLang="en-US" sz="2800" baseline="-25000" dirty="0">
                <a:latin typeface="Times New Roman" panose="02020603050405020304" pitchFamily="18" charset="0"/>
                <a:cs typeface="Times New Roman" panose="02020603050405020304" pitchFamily="18" charset="0"/>
              </a:rPr>
              <a:t>3</a:t>
            </a:r>
            <a:r>
              <a:rPr lang="en-US" altLang="en-US" sz="2800" dirty="0">
                <a:latin typeface="Times New Roman" panose="02020603050405020304" pitchFamily="18" charset="0"/>
                <a:cs typeface="Times New Roman" panose="02020603050405020304" pitchFamily="18" charset="0"/>
              </a:rPr>
              <a:t> ?</a:t>
            </a:r>
          </a:p>
        </p:txBody>
      </p:sp>
      <p:sp>
        <p:nvSpPr>
          <p:cNvPr id="45" name="Rectangle 2">
            <a:extLst>
              <a:ext uri="{FF2B5EF4-FFF2-40B4-BE49-F238E27FC236}">
                <a16:creationId xmlns:a16="http://schemas.microsoft.com/office/drawing/2014/main" id="{6B26F37D-CAA2-4B77-8962-14038F26CF5F}"/>
              </a:ext>
            </a:extLst>
          </p:cNvPr>
          <p:cNvSpPr txBox="1">
            <a:spLocks/>
          </p:cNvSpPr>
          <p:nvPr/>
        </p:nvSpPr>
        <p:spPr>
          <a:xfrm>
            <a:off x="2743200" y="228600"/>
            <a:ext cx="7391400" cy="457200"/>
          </a:xfrm>
          <a:prstGeom prst="rect">
            <a:avLst/>
          </a:prstGeom>
          <a:solidFill>
            <a:srgbClr val="98B5D8"/>
          </a:solidFill>
        </p:spPr>
        <p:txBody>
          <a:bodyPr anchor="ctr">
            <a:noAutofit/>
          </a:bodyPr>
          <a:lstStyle/>
          <a:p>
            <a:pPr algn="ctr">
              <a:defRPr/>
            </a:pPr>
            <a:r>
              <a:rPr lang="en-US" altLang="ja-JP" sz="5400" b="1" dirty="0">
                <a:latin typeface="Algerian" panose="04020705040A02060702" pitchFamily="82" charset="0"/>
                <a:ea typeface="+mj-ea"/>
                <a:cs typeface="+mj-cs"/>
              </a:rPr>
              <a:t>EXAMPLE 1</a:t>
            </a:r>
            <a:endParaRPr lang="en-US" sz="5400" b="1" dirty="0">
              <a:latin typeface="Algerian" panose="04020705040A02060702" pitchFamily="82" charset="0"/>
              <a:ea typeface="+mj-ea"/>
              <a:cs typeface="+mj-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9719DA97-A62B-498E-B631-31AA73BE0F04}"/>
              </a:ext>
            </a:extLst>
          </p:cNvPr>
          <p:cNvSpPr txBox="1">
            <a:spLocks noChangeArrowheads="1"/>
          </p:cNvSpPr>
          <p:nvPr/>
        </p:nvSpPr>
        <p:spPr>
          <a:xfrm>
            <a:off x="1043576" y="27897"/>
            <a:ext cx="8229600" cy="561975"/>
          </a:xfrm>
          <a:prstGeom prst="rect">
            <a:avLst/>
          </a:prstGeom>
        </p:spPr>
        <p:txBody>
          <a:bodyPr anchor="ctr">
            <a:noAutofit/>
          </a:bodyPr>
          <a:lstStyle/>
          <a:p>
            <a:pPr algn="ctr">
              <a:defRPr/>
            </a:pPr>
            <a:r>
              <a:rPr lang="en-US" sz="4000" b="1" dirty="0">
                <a:latin typeface="Algerian" panose="04020705040A02060702" pitchFamily="82" charset="0"/>
                <a:ea typeface="+mj-ea"/>
                <a:cs typeface="+mj-cs"/>
              </a:rPr>
              <a:t>Solution:</a:t>
            </a:r>
          </a:p>
        </p:txBody>
      </p:sp>
      <p:sp>
        <p:nvSpPr>
          <p:cNvPr id="8" name="Rectangle 3">
            <a:extLst>
              <a:ext uri="{FF2B5EF4-FFF2-40B4-BE49-F238E27FC236}">
                <a16:creationId xmlns:a16="http://schemas.microsoft.com/office/drawing/2014/main" id="{9F508CB1-33F6-49DD-A293-A36CEA816970}"/>
              </a:ext>
            </a:extLst>
          </p:cNvPr>
          <p:cNvSpPr txBox="1">
            <a:spLocks noChangeArrowheads="1"/>
          </p:cNvSpPr>
          <p:nvPr/>
        </p:nvSpPr>
        <p:spPr>
          <a:xfrm>
            <a:off x="159657" y="959305"/>
            <a:ext cx="580572" cy="448582"/>
          </a:xfrm>
          <a:prstGeom prst="rect">
            <a:avLst/>
          </a:prstGeom>
        </p:spPr>
        <p:txBody>
          <a:bodyPr>
            <a:normAutofit/>
          </a:bodyPr>
          <a:lstStyle/>
          <a:p>
            <a:pPr algn="ctr">
              <a:spcBef>
                <a:spcPct val="20000"/>
              </a:spcBef>
              <a:defRPr/>
            </a:pPr>
            <a:r>
              <a:rPr lang="en-US" dirty="0">
                <a:solidFill>
                  <a:schemeClr val="tx1">
                    <a:tint val="75000"/>
                  </a:schemeClr>
                </a:solidFill>
              </a:rPr>
              <a:t>(a) </a:t>
            </a:r>
          </a:p>
        </p:txBody>
      </p:sp>
      <p:graphicFrame>
        <p:nvGraphicFramePr>
          <p:cNvPr id="4098" name="Object 4">
            <a:extLst>
              <a:ext uri="{FF2B5EF4-FFF2-40B4-BE49-F238E27FC236}">
                <a16:creationId xmlns:a16="http://schemas.microsoft.com/office/drawing/2014/main" id="{51DD700C-FF13-483C-B7BE-B769E47276FA}"/>
              </a:ext>
            </a:extLst>
          </p:cNvPr>
          <p:cNvGraphicFramePr>
            <a:graphicFrameLocks noChangeAspect="1"/>
          </p:cNvGraphicFramePr>
          <p:nvPr>
            <p:extLst>
              <p:ext uri="{D42A27DB-BD31-4B8C-83A1-F6EECF244321}">
                <p14:modId xmlns:p14="http://schemas.microsoft.com/office/powerpoint/2010/main" val="3572032459"/>
              </p:ext>
            </p:extLst>
          </p:nvPr>
        </p:nvGraphicFramePr>
        <p:xfrm>
          <a:off x="1450974" y="841792"/>
          <a:ext cx="9217021" cy="2391945"/>
        </p:xfrm>
        <a:graphic>
          <a:graphicData uri="http://schemas.openxmlformats.org/presentationml/2006/ole">
            <mc:AlternateContent xmlns:mc="http://schemas.openxmlformats.org/markup-compatibility/2006">
              <mc:Choice xmlns:v="urn:schemas-microsoft-com:vml" Requires="v">
                <p:oleObj spid="_x0000_s4098" name="Equation" r:id="rId3" imgW="3022560" imgH="1104840" progId="Equation.3">
                  <p:embed/>
                </p:oleObj>
              </mc:Choice>
              <mc:Fallback>
                <p:oleObj name="Equation" r:id="rId3" imgW="3022560" imgH="1104840" progId="Equation.3">
                  <p:embed/>
                  <p:pic>
                    <p:nvPicPr>
                      <p:cNvPr id="4098" name="Object 4">
                        <a:extLst>
                          <a:ext uri="{FF2B5EF4-FFF2-40B4-BE49-F238E27FC236}">
                            <a16:creationId xmlns:a16="http://schemas.microsoft.com/office/drawing/2014/main" id="{51DD700C-FF13-483C-B7BE-B769E47276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0974" y="841792"/>
                        <a:ext cx="9217021" cy="2391945"/>
                      </a:xfrm>
                      <a:prstGeom prst="rect">
                        <a:avLst/>
                      </a:prstGeom>
                      <a:noFill/>
                    </p:spPr>
                  </p:pic>
                </p:oleObj>
              </mc:Fallback>
            </mc:AlternateContent>
          </a:graphicData>
        </a:graphic>
      </p:graphicFrame>
      <p:grpSp>
        <p:nvGrpSpPr>
          <p:cNvPr id="4102" name="Group 9">
            <a:extLst>
              <a:ext uri="{FF2B5EF4-FFF2-40B4-BE49-F238E27FC236}">
                <a16:creationId xmlns:a16="http://schemas.microsoft.com/office/drawing/2014/main" id="{89206BC3-1156-423F-ACED-87B7D96C0F93}"/>
              </a:ext>
            </a:extLst>
          </p:cNvPr>
          <p:cNvGrpSpPr>
            <a:grpSpLocks/>
          </p:cNvGrpSpPr>
          <p:nvPr/>
        </p:nvGrpSpPr>
        <p:grpSpPr bwMode="auto">
          <a:xfrm>
            <a:off x="740228" y="3624264"/>
            <a:ext cx="7895771" cy="2892650"/>
            <a:chOff x="2062163" y="3270250"/>
            <a:chExt cx="5365750" cy="2649538"/>
          </a:xfrm>
        </p:grpSpPr>
        <p:sp>
          <p:nvSpPr>
            <p:cNvPr id="4104" name="Line 5">
              <a:extLst>
                <a:ext uri="{FF2B5EF4-FFF2-40B4-BE49-F238E27FC236}">
                  <a16:creationId xmlns:a16="http://schemas.microsoft.com/office/drawing/2014/main" id="{F23CE021-D566-4E80-BD35-34F19A5E6786}"/>
                </a:ext>
              </a:extLst>
            </p:cNvPr>
            <p:cNvSpPr>
              <a:spLocks noChangeShapeType="1"/>
            </p:cNvSpPr>
            <p:nvPr/>
          </p:nvSpPr>
          <p:spPr bwMode="auto">
            <a:xfrm>
              <a:off x="3132138" y="3525838"/>
              <a:ext cx="0" cy="2393950"/>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en-US"/>
            </a:p>
          </p:txBody>
        </p:sp>
        <p:sp>
          <p:nvSpPr>
            <p:cNvPr id="4105" name="Line 6">
              <a:extLst>
                <a:ext uri="{FF2B5EF4-FFF2-40B4-BE49-F238E27FC236}">
                  <a16:creationId xmlns:a16="http://schemas.microsoft.com/office/drawing/2014/main" id="{5BFA4693-AAFA-40C1-9661-1853B34A3CE6}"/>
                </a:ext>
              </a:extLst>
            </p:cNvPr>
            <p:cNvSpPr>
              <a:spLocks noChangeShapeType="1"/>
            </p:cNvSpPr>
            <p:nvPr/>
          </p:nvSpPr>
          <p:spPr bwMode="auto">
            <a:xfrm>
              <a:off x="2062163" y="4716463"/>
              <a:ext cx="4800600" cy="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106" name="Oval 7">
              <a:extLst>
                <a:ext uri="{FF2B5EF4-FFF2-40B4-BE49-F238E27FC236}">
                  <a16:creationId xmlns:a16="http://schemas.microsoft.com/office/drawing/2014/main" id="{D2394929-008F-4A3C-B1AB-4C7BBFFB9F51}"/>
                </a:ext>
              </a:extLst>
            </p:cNvPr>
            <p:cNvSpPr>
              <a:spLocks noChangeArrowheads="1"/>
            </p:cNvSpPr>
            <p:nvPr/>
          </p:nvSpPr>
          <p:spPr bwMode="auto">
            <a:xfrm>
              <a:off x="3060700" y="4640263"/>
              <a:ext cx="120650" cy="142875"/>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4107" name="Text Box 8">
              <a:extLst>
                <a:ext uri="{FF2B5EF4-FFF2-40B4-BE49-F238E27FC236}">
                  <a16:creationId xmlns:a16="http://schemas.microsoft.com/office/drawing/2014/main" id="{F6117AE9-7623-4C20-839D-8A6B3A9A9AFB}"/>
                </a:ext>
              </a:extLst>
            </p:cNvPr>
            <p:cNvSpPr txBox="1">
              <a:spLocks noChangeArrowheads="1"/>
            </p:cNvSpPr>
            <p:nvPr/>
          </p:nvSpPr>
          <p:spPr bwMode="auto">
            <a:xfrm>
              <a:off x="3219450" y="3624263"/>
              <a:ext cx="11176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q</a:t>
              </a:r>
              <a:r>
                <a:rPr lang="en-US" altLang="en-US" sz="1600" baseline="-25000">
                  <a:latin typeface="Calibri" panose="020F0502020204030204" pitchFamily="34" charset="0"/>
                </a:rPr>
                <a:t>1 </a:t>
              </a:r>
              <a:r>
                <a:rPr lang="en-US" altLang="en-US" sz="1600">
                  <a:latin typeface="Calibri" panose="020F0502020204030204" pitchFamily="34" charset="0"/>
                </a:rPr>
                <a:t>= +2.5nC</a:t>
              </a:r>
              <a:endParaRPr lang="en-US" altLang="en-US" sz="1600" baseline="-25000">
                <a:latin typeface="Calibri" panose="020F0502020204030204" pitchFamily="34" charset="0"/>
              </a:endParaRPr>
            </a:p>
          </p:txBody>
        </p:sp>
        <p:sp>
          <p:nvSpPr>
            <p:cNvPr id="4108" name="Text Box 9">
              <a:extLst>
                <a:ext uri="{FF2B5EF4-FFF2-40B4-BE49-F238E27FC236}">
                  <a16:creationId xmlns:a16="http://schemas.microsoft.com/office/drawing/2014/main" id="{31B1F18A-34A6-4C49-88FF-60E20D1082A3}"/>
                </a:ext>
              </a:extLst>
            </p:cNvPr>
            <p:cNvSpPr txBox="1">
              <a:spLocks noChangeArrowheads="1"/>
            </p:cNvSpPr>
            <p:nvPr/>
          </p:nvSpPr>
          <p:spPr bwMode="auto">
            <a:xfrm>
              <a:off x="3216275" y="5437188"/>
              <a:ext cx="11176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q</a:t>
              </a:r>
              <a:r>
                <a:rPr lang="en-US" altLang="en-US" sz="1600" baseline="-25000">
                  <a:latin typeface="Calibri" panose="020F0502020204030204" pitchFamily="34" charset="0"/>
                </a:rPr>
                <a:t>2 </a:t>
              </a:r>
              <a:r>
                <a:rPr lang="en-US" altLang="en-US" sz="1600">
                  <a:latin typeface="Calibri" panose="020F0502020204030204" pitchFamily="34" charset="0"/>
                </a:rPr>
                <a:t>= +2.5nC</a:t>
              </a:r>
              <a:endParaRPr lang="en-US" altLang="en-US" sz="1600" baseline="-25000">
                <a:latin typeface="Calibri" panose="020F0502020204030204" pitchFamily="34" charset="0"/>
              </a:endParaRPr>
            </a:p>
          </p:txBody>
        </p:sp>
        <p:sp>
          <p:nvSpPr>
            <p:cNvPr id="4109" name="Text Box 10">
              <a:extLst>
                <a:ext uri="{FF2B5EF4-FFF2-40B4-BE49-F238E27FC236}">
                  <a16:creationId xmlns:a16="http://schemas.microsoft.com/office/drawing/2014/main" id="{31E4036F-DCA2-4F30-924B-3E6467754CEB}"/>
                </a:ext>
              </a:extLst>
            </p:cNvPr>
            <p:cNvSpPr txBox="1">
              <a:spLocks noChangeArrowheads="1"/>
            </p:cNvSpPr>
            <p:nvPr/>
          </p:nvSpPr>
          <p:spPr bwMode="auto">
            <a:xfrm>
              <a:off x="2908300" y="3270250"/>
              <a:ext cx="2808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i="1">
                  <a:latin typeface="Calibri" panose="020F0502020204030204" pitchFamily="34" charset="0"/>
                </a:rPr>
                <a:t>y</a:t>
              </a:r>
            </a:p>
          </p:txBody>
        </p:sp>
        <p:sp>
          <p:nvSpPr>
            <p:cNvPr id="4110" name="Text Box 11">
              <a:extLst>
                <a:ext uri="{FF2B5EF4-FFF2-40B4-BE49-F238E27FC236}">
                  <a16:creationId xmlns:a16="http://schemas.microsoft.com/office/drawing/2014/main" id="{D228A5D8-E768-4648-95E8-BEB09D836D5A}"/>
                </a:ext>
              </a:extLst>
            </p:cNvPr>
            <p:cNvSpPr txBox="1">
              <a:spLocks noChangeArrowheads="1"/>
            </p:cNvSpPr>
            <p:nvPr/>
          </p:nvSpPr>
          <p:spPr bwMode="auto">
            <a:xfrm>
              <a:off x="6899275" y="4529138"/>
              <a:ext cx="2792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i="1">
                  <a:latin typeface="Calibri" panose="020F0502020204030204" pitchFamily="34" charset="0"/>
                </a:rPr>
                <a:t>x</a:t>
              </a:r>
            </a:p>
          </p:txBody>
        </p:sp>
        <p:sp>
          <p:nvSpPr>
            <p:cNvPr id="4111" name="Text Box 12">
              <a:extLst>
                <a:ext uri="{FF2B5EF4-FFF2-40B4-BE49-F238E27FC236}">
                  <a16:creationId xmlns:a16="http://schemas.microsoft.com/office/drawing/2014/main" id="{1684B748-8A4F-481B-A442-01CAEE76ABAD}"/>
                </a:ext>
              </a:extLst>
            </p:cNvPr>
            <p:cNvSpPr txBox="1">
              <a:spLocks noChangeArrowheads="1"/>
            </p:cNvSpPr>
            <p:nvPr/>
          </p:nvSpPr>
          <p:spPr bwMode="auto">
            <a:xfrm>
              <a:off x="3430588" y="4016375"/>
              <a:ext cx="41710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F</a:t>
              </a:r>
              <a:r>
                <a:rPr lang="en-US" altLang="en-US" sz="1600" baseline="-25000">
                  <a:latin typeface="Calibri" panose="020F0502020204030204" pitchFamily="34" charset="0"/>
                </a:rPr>
                <a:t>32</a:t>
              </a:r>
            </a:p>
          </p:txBody>
        </p:sp>
        <p:sp>
          <p:nvSpPr>
            <p:cNvPr id="4112" name="Text Box 13">
              <a:extLst>
                <a:ext uri="{FF2B5EF4-FFF2-40B4-BE49-F238E27FC236}">
                  <a16:creationId xmlns:a16="http://schemas.microsoft.com/office/drawing/2014/main" id="{1CFF1D06-B87C-416A-BD7E-DA08BF895BBF}"/>
                </a:ext>
              </a:extLst>
            </p:cNvPr>
            <p:cNvSpPr txBox="1">
              <a:spLocks noChangeArrowheads="1"/>
            </p:cNvSpPr>
            <p:nvPr/>
          </p:nvSpPr>
          <p:spPr bwMode="auto">
            <a:xfrm>
              <a:off x="3425825" y="4973638"/>
              <a:ext cx="41710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F</a:t>
              </a:r>
              <a:r>
                <a:rPr lang="en-US" altLang="en-US" sz="1600" baseline="-25000">
                  <a:latin typeface="Calibri" panose="020F0502020204030204" pitchFamily="34" charset="0"/>
                </a:rPr>
                <a:t>31</a:t>
              </a:r>
            </a:p>
          </p:txBody>
        </p:sp>
        <p:sp>
          <p:nvSpPr>
            <p:cNvPr id="4113" name="Text Box 14">
              <a:extLst>
                <a:ext uri="{FF2B5EF4-FFF2-40B4-BE49-F238E27FC236}">
                  <a16:creationId xmlns:a16="http://schemas.microsoft.com/office/drawing/2014/main" id="{0629BC93-B375-44FF-B6EC-592EF66ECDA1}"/>
                </a:ext>
              </a:extLst>
            </p:cNvPr>
            <p:cNvSpPr txBox="1">
              <a:spLocks noChangeArrowheads="1"/>
            </p:cNvSpPr>
            <p:nvPr/>
          </p:nvSpPr>
          <p:spPr bwMode="auto">
            <a:xfrm>
              <a:off x="3789363" y="4695825"/>
              <a:ext cx="3032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alibri" panose="020F0502020204030204" pitchFamily="34" charset="0"/>
                  <a:sym typeface="Symbol" panose="05050102010706020507" pitchFamily="18" charset="2"/>
                </a:rPr>
                <a:t></a:t>
              </a:r>
            </a:p>
          </p:txBody>
        </p:sp>
        <p:sp>
          <p:nvSpPr>
            <p:cNvPr id="4114" name="Text Box 15">
              <a:extLst>
                <a:ext uri="{FF2B5EF4-FFF2-40B4-BE49-F238E27FC236}">
                  <a16:creationId xmlns:a16="http://schemas.microsoft.com/office/drawing/2014/main" id="{30770A6C-6F81-42C1-BA57-95EF144F7A77}"/>
                </a:ext>
              </a:extLst>
            </p:cNvPr>
            <p:cNvSpPr txBox="1">
              <a:spLocks noChangeArrowheads="1"/>
            </p:cNvSpPr>
            <p:nvPr/>
          </p:nvSpPr>
          <p:spPr bwMode="auto">
            <a:xfrm>
              <a:off x="3763963" y="4376738"/>
              <a:ext cx="3032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Calibri" panose="020F0502020204030204" pitchFamily="34" charset="0"/>
                  <a:sym typeface="Symbol" panose="05050102010706020507" pitchFamily="18" charset="2"/>
                </a:rPr>
                <a:t></a:t>
              </a:r>
            </a:p>
          </p:txBody>
        </p:sp>
        <p:sp>
          <p:nvSpPr>
            <p:cNvPr id="4115" name="Line 16">
              <a:extLst>
                <a:ext uri="{FF2B5EF4-FFF2-40B4-BE49-F238E27FC236}">
                  <a16:creationId xmlns:a16="http://schemas.microsoft.com/office/drawing/2014/main" id="{FD0A3D6E-78C6-40DB-ABE4-7EEC83367302}"/>
                </a:ext>
              </a:extLst>
            </p:cNvPr>
            <p:cNvSpPr>
              <a:spLocks noChangeShapeType="1"/>
            </p:cNvSpPr>
            <p:nvPr/>
          </p:nvSpPr>
          <p:spPr bwMode="auto">
            <a:xfrm flipV="1">
              <a:off x="3144838" y="3994150"/>
              <a:ext cx="1612900" cy="68580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6" name="Line 17">
              <a:extLst>
                <a:ext uri="{FF2B5EF4-FFF2-40B4-BE49-F238E27FC236}">
                  <a16:creationId xmlns:a16="http://schemas.microsoft.com/office/drawing/2014/main" id="{A197B01A-BB9D-4D5B-A393-3F622B72FFF0}"/>
                </a:ext>
              </a:extLst>
            </p:cNvPr>
            <p:cNvSpPr>
              <a:spLocks noChangeShapeType="1"/>
            </p:cNvSpPr>
            <p:nvPr/>
          </p:nvSpPr>
          <p:spPr bwMode="auto">
            <a:xfrm>
              <a:off x="3144838" y="4716463"/>
              <a:ext cx="1576387" cy="625475"/>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7" name="Line 18">
              <a:extLst>
                <a:ext uri="{FF2B5EF4-FFF2-40B4-BE49-F238E27FC236}">
                  <a16:creationId xmlns:a16="http://schemas.microsoft.com/office/drawing/2014/main" id="{23CE9566-B79F-496F-A26B-2FE8114E4B6B}"/>
                </a:ext>
              </a:extLst>
            </p:cNvPr>
            <p:cNvSpPr>
              <a:spLocks noChangeShapeType="1"/>
            </p:cNvSpPr>
            <p:nvPr/>
          </p:nvSpPr>
          <p:spPr bwMode="auto">
            <a:xfrm>
              <a:off x="3217863" y="4703763"/>
              <a:ext cx="1516062" cy="0"/>
            </a:xfrm>
            <a:prstGeom prst="line">
              <a:avLst/>
            </a:prstGeom>
            <a:noFill/>
            <a:ln w="76200">
              <a:solidFill>
                <a:srgbClr val="0000FF"/>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8" name="Arc 19">
              <a:extLst>
                <a:ext uri="{FF2B5EF4-FFF2-40B4-BE49-F238E27FC236}">
                  <a16:creationId xmlns:a16="http://schemas.microsoft.com/office/drawing/2014/main" id="{99AD5EC1-6231-4A59-B313-3B1A14C1EB15}"/>
                </a:ext>
              </a:extLst>
            </p:cNvPr>
            <p:cNvSpPr>
              <a:spLocks/>
            </p:cNvSpPr>
            <p:nvPr/>
          </p:nvSpPr>
          <p:spPr bwMode="auto">
            <a:xfrm>
              <a:off x="3698875" y="4451350"/>
              <a:ext cx="88900" cy="252413"/>
            </a:xfrm>
            <a:custGeom>
              <a:avLst/>
              <a:gdLst>
                <a:gd name="T0" fmla="*/ 0 w 21600"/>
                <a:gd name="T1" fmla="*/ 0 h 21600"/>
                <a:gd name="T2" fmla="*/ 1505904 w 21600"/>
                <a:gd name="T3" fmla="*/ 34468911 h 21600"/>
                <a:gd name="T4" fmla="*/ 0 w 21600"/>
                <a:gd name="T5" fmla="*/ 3446891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4119" name="Arc 20">
              <a:extLst>
                <a:ext uri="{FF2B5EF4-FFF2-40B4-BE49-F238E27FC236}">
                  <a16:creationId xmlns:a16="http://schemas.microsoft.com/office/drawing/2014/main" id="{9198A902-892D-425C-8DE8-E7132C7319D3}"/>
                </a:ext>
              </a:extLst>
            </p:cNvPr>
            <p:cNvSpPr>
              <a:spLocks/>
            </p:cNvSpPr>
            <p:nvPr/>
          </p:nvSpPr>
          <p:spPr bwMode="auto">
            <a:xfrm>
              <a:off x="3735388" y="4703763"/>
              <a:ext cx="88900" cy="241300"/>
            </a:xfrm>
            <a:custGeom>
              <a:avLst/>
              <a:gdLst>
                <a:gd name="T0" fmla="*/ 0 w 21600"/>
                <a:gd name="T1" fmla="*/ 0 h 21600"/>
                <a:gd name="T2" fmla="*/ 1505904 w 21600"/>
                <a:gd name="T3" fmla="*/ 30113726 h 21600"/>
                <a:gd name="T4" fmla="*/ 0 w 21600"/>
                <a:gd name="T5" fmla="*/ 3011372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MY" altLang="en-US">
                <a:latin typeface="Calibri" panose="020F0502020204030204" pitchFamily="34" charset="0"/>
              </a:endParaRPr>
            </a:p>
          </p:txBody>
        </p:sp>
        <p:sp>
          <p:nvSpPr>
            <p:cNvPr id="4120" name="Line 21">
              <a:extLst>
                <a:ext uri="{FF2B5EF4-FFF2-40B4-BE49-F238E27FC236}">
                  <a16:creationId xmlns:a16="http://schemas.microsoft.com/office/drawing/2014/main" id="{FCF45F3B-61B5-494E-8322-D93668F82533}"/>
                </a:ext>
              </a:extLst>
            </p:cNvPr>
            <p:cNvSpPr>
              <a:spLocks noChangeShapeType="1"/>
            </p:cNvSpPr>
            <p:nvPr/>
          </p:nvSpPr>
          <p:spPr bwMode="auto">
            <a:xfrm>
              <a:off x="4768850" y="4067175"/>
              <a:ext cx="0" cy="1190625"/>
            </a:xfrm>
            <a:prstGeom prst="line">
              <a:avLst/>
            </a:prstGeom>
            <a:noFill/>
            <a:ln w="28575">
              <a:solidFill>
                <a:srgbClr val="0000FF"/>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1" name="Line 22">
              <a:extLst>
                <a:ext uri="{FF2B5EF4-FFF2-40B4-BE49-F238E27FC236}">
                  <a16:creationId xmlns:a16="http://schemas.microsoft.com/office/drawing/2014/main" id="{BD5A7789-BAF5-46AF-9116-F61A8B0421DD}"/>
                </a:ext>
              </a:extLst>
            </p:cNvPr>
            <p:cNvSpPr>
              <a:spLocks noChangeShapeType="1"/>
            </p:cNvSpPr>
            <p:nvPr/>
          </p:nvSpPr>
          <p:spPr bwMode="auto">
            <a:xfrm>
              <a:off x="4240213" y="4718050"/>
              <a:ext cx="2249487"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22" name="Text Box 23">
              <a:extLst>
                <a:ext uri="{FF2B5EF4-FFF2-40B4-BE49-F238E27FC236}">
                  <a16:creationId xmlns:a16="http://schemas.microsoft.com/office/drawing/2014/main" id="{DB91281F-90CC-4DD6-B79E-F26716B074C1}"/>
                </a:ext>
              </a:extLst>
            </p:cNvPr>
            <p:cNvSpPr txBox="1">
              <a:spLocks noChangeArrowheads="1"/>
            </p:cNvSpPr>
            <p:nvPr/>
          </p:nvSpPr>
          <p:spPr bwMode="auto">
            <a:xfrm>
              <a:off x="6002338" y="4337050"/>
              <a:ext cx="1425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i="1">
                  <a:latin typeface="Calibri" panose="020F0502020204030204" pitchFamily="34" charset="0"/>
                </a:rPr>
                <a:t>F</a:t>
              </a:r>
              <a:r>
                <a:rPr lang="en-US" altLang="en-US" sz="1600" baseline="-25000">
                  <a:latin typeface="Calibri" panose="020F0502020204030204" pitchFamily="34" charset="0"/>
                </a:rPr>
                <a:t>net</a:t>
              </a:r>
              <a:r>
                <a:rPr lang="en-US" altLang="en-US" sz="1600">
                  <a:latin typeface="Calibri" panose="020F0502020204030204" pitchFamily="34" charset="0"/>
                </a:rPr>
                <a:t> = </a:t>
              </a:r>
              <a:r>
                <a:rPr lang="en-US" altLang="en-US" sz="1600" i="1">
                  <a:latin typeface="Calibri" panose="020F0502020204030204" pitchFamily="34" charset="0"/>
                </a:rPr>
                <a:t>F</a:t>
              </a:r>
              <a:r>
                <a:rPr lang="en-US" altLang="en-US" sz="1600" baseline="-25000">
                  <a:latin typeface="Calibri" panose="020F0502020204030204" pitchFamily="34" charset="0"/>
                </a:rPr>
                <a:t>3</a:t>
              </a:r>
            </a:p>
          </p:txBody>
        </p:sp>
      </p:grpSp>
      <p:sp>
        <p:nvSpPr>
          <p:cNvPr id="4103" name="Text Box 24">
            <a:extLst>
              <a:ext uri="{FF2B5EF4-FFF2-40B4-BE49-F238E27FC236}">
                <a16:creationId xmlns:a16="http://schemas.microsoft.com/office/drawing/2014/main" id="{9259BCE7-2695-40F0-9379-822CA953D98E}"/>
              </a:ext>
            </a:extLst>
          </p:cNvPr>
          <p:cNvSpPr txBox="1">
            <a:spLocks noChangeArrowheads="1"/>
          </p:cNvSpPr>
          <p:nvPr/>
        </p:nvSpPr>
        <p:spPr bwMode="auto">
          <a:xfrm>
            <a:off x="159657" y="4028168"/>
            <a:ext cx="423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b="1" dirty="0">
                <a:latin typeface="Calibri" panose="020F0502020204030204" pitchFamily="34" charset="0"/>
              </a:rPr>
              <a:t>(b)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C01EB869-95AD-4D69-804F-EEE9D1ACB658}"/>
              </a:ext>
            </a:extLst>
          </p:cNvPr>
          <p:cNvSpPr txBox="1">
            <a:spLocks noChangeArrowheads="1"/>
          </p:cNvSpPr>
          <p:nvPr/>
        </p:nvSpPr>
        <p:spPr>
          <a:xfrm>
            <a:off x="1981200" y="274638"/>
            <a:ext cx="8229600" cy="646331"/>
          </a:xfrm>
          <a:prstGeom prst="rect">
            <a:avLst/>
          </a:prstGeom>
        </p:spPr>
        <p:txBody>
          <a:bodyPr anchor="ctr">
            <a:noAutofit/>
          </a:bodyPr>
          <a:lstStyle/>
          <a:p>
            <a:pPr algn="ctr">
              <a:defRPr/>
            </a:pPr>
            <a:r>
              <a:rPr lang="en-US" sz="4800" b="1" dirty="0">
                <a:latin typeface="Algerian" panose="04020705040A02060702" pitchFamily="82" charset="0"/>
                <a:ea typeface="+mj-ea"/>
                <a:cs typeface="+mj-cs"/>
              </a:rPr>
              <a:t>Solution:</a:t>
            </a:r>
          </a:p>
        </p:txBody>
      </p:sp>
      <p:sp>
        <p:nvSpPr>
          <p:cNvPr id="5128" name="Rectangle 3">
            <a:extLst>
              <a:ext uri="{FF2B5EF4-FFF2-40B4-BE49-F238E27FC236}">
                <a16:creationId xmlns:a16="http://schemas.microsoft.com/office/drawing/2014/main" id="{2BB147B2-E0EB-4EEF-BA9A-828047605F08}"/>
              </a:ext>
            </a:extLst>
          </p:cNvPr>
          <p:cNvSpPr txBox="1">
            <a:spLocks noChangeArrowheads="1"/>
          </p:cNvSpPr>
          <p:nvPr/>
        </p:nvSpPr>
        <p:spPr bwMode="auto">
          <a:xfrm>
            <a:off x="264319" y="1036638"/>
            <a:ext cx="5339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dirty="0">
                <a:latin typeface="Calibri" panose="020F0502020204030204" pitchFamily="34" charset="0"/>
              </a:rPr>
              <a:t>(b)</a:t>
            </a:r>
          </a:p>
        </p:txBody>
      </p:sp>
      <p:graphicFrame>
        <p:nvGraphicFramePr>
          <p:cNvPr id="5122" name="Object 4">
            <a:extLst>
              <a:ext uri="{FF2B5EF4-FFF2-40B4-BE49-F238E27FC236}">
                <a16:creationId xmlns:a16="http://schemas.microsoft.com/office/drawing/2014/main" id="{3D211577-1CD5-4A94-9B63-A11019D6809D}"/>
              </a:ext>
            </a:extLst>
          </p:cNvPr>
          <p:cNvGraphicFramePr>
            <a:graphicFrameLocks noChangeAspect="1"/>
          </p:cNvGraphicFramePr>
          <p:nvPr>
            <p:extLst>
              <p:ext uri="{D42A27DB-BD31-4B8C-83A1-F6EECF244321}">
                <p14:modId xmlns:p14="http://schemas.microsoft.com/office/powerpoint/2010/main" val="3933213016"/>
              </p:ext>
            </p:extLst>
          </p:nvPr>
        </p:nvGraphicFramePr>
        <p:xfrm>
          <a:off x="3274218" y="1092993"/>
          <a:ext cx="7509895" cy="1386901"/>
        </p:xfrm>
        <a:graphic>
          <a:graphicData uri="http://schemas.openxmlformats.org/presentationml/2006/ole">
            <mc:AlternateContent xmlns:mc="http://schemas.openxmlformats.org/markup-compatibility/2006">
              <mc:Choice xmlns:v="urn:schemas-microsoft-com:vml" Requires="v">
                <p:oleObj spid="_x0000_s5122" name="Equation" r:id="rId3" imgW="3441600" imgH="660240" progId="Equation.3">
                  <p:embed/>
                </p:oleObj>
              </mc:Choice>
              <mc:Fallback>
                <p:oleObj name="Equation" r:id="rId3" imgW="3441600" imgH="660240" progId="Equation.3">
                  <p:embed/>
                  <p:pic>
                    <p:nvPicPr>
                      <p:cNvPr id="5122" name="Object 4">
                        <a:extLst>
                          <a:ext uri="{FF2B5EF4-FFF2-40B4-BE49-F238E27FC236}">
                            <a16:creationId xmlns:a16="http://schemas.microsoft.com/office/drawing/2014/main" id="{3D211577-1CD5-4A94-9B63-A11019D680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4218" y="1092993"/>
                        <a:ext cx="7509895" cy="1386901"/>
                      </a:xfrm>
                      <a:prstGeom prst="rect">
                        <a:avLst/>
                      </a:prstGeom>
                      <a:noFill/>
                    </p:spPr>
                  </p:pic>
                </p:oleObj>
              </mc:Fallback>
            </mc:AlternateContent>
          </a:graphicData>
        </a:graphic>
      </p:graphicFrame>
      <p:sp>
        <p:nvSpPr>
          <p:cNvPr id="5129" name="Text Box 5">
            <a:extLst>
              <a:ext uri="{FF2B5EF4-FFF2-40B4-BE49-F238E27FC236}">
                <a16:creationId xmlns:a16="http://schemas.microsoft.com/office/drawing/2014/main" id="{653526EA-0726-479A-A67C-EB7016428F8F}"/>
              </a:ext>
            </a:extLst>
          </p:cNvPr>
          <p:cNvSpPr txBox="1">
            <a:spLocks noChangeArrowheads="1"/>
          </p:cNvSpPr>
          <p:nvPr/>
        </p:nvSpPr>
        <p:spPr bwMode="auto">
          <a:xfrm>
            <a:off x="957941" y="1054781"/>
            <a:ext cx="24805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i="1" dirty="0">
                <a:latin typeface="Calibri" panose="020F0502020204030204" pitchFamily="34" charset="0"/>
              </a:rPr>
              <a:t>r</a:t>
            </a:r>
            <a:r>
              <a:rPr lang="en-US" altLang="en-US" baseline="-25000" dirty="0">
                <a:latin typeface="Calibri" panose="020F0502020204030204" pitchFamily="34" charset="0"/>
              </a:rPr>
              <a:t>31</a:t>
            </a:r>
            <a:r>
              <a:rPr lang="en-US" altLang="en-US" dirty="0">
                <a:latin typeface="Calibri" panose="020F0502020204030204" pitchFamily="34" charset="0"/>
              </a:rPr>
              <a:t> = </a:t>
            </a:r>
            <a:r>
              <a:rPr lang="en-US" altLang="en-US" i="1" dirty="0">
                <a:latin typeface="Calibri" panose="020F0502020204030204" pitchFamily="34" charset="0"/>
              </a:rPr>
              <a:t>r</a:t>
            </a:r>
            <a:r>
              <a:rPr lang="en-US" altLang="en-US" baseline="-25000" dirty="0">
                <a:latin typeface="Calibri" panose="020F0502020204030204" pitchFamily="34" charset="0"/>
              </a:rPr>
              <a:t>32</a:t>
            </a:r>
            <a:r>
              <a:rPr lang="en-US" altLang="en-US" dirty="0">
                <a:latin typeface="Calibri" panose="020F0502020204030204" pitchFamily="34" charset="0"/>
              </a:rPr>
              <a:t> = 0.5m</a:t>
            </a:r>
          </a:p>
        </p:txBody>
      </p:sp>
      <p:sp>
        <p:nvSpPr>
          <p:cNvPr id="5130" name="Text Box 6">
            <a:extLst>
              <a:ext uri="{FF2B5EF4-FFF2-40B4-BE49-F238E27FC236}">
                <a16:creationId xmlns:a16="http://schemas.microsoft.com/office/drawing/2014/main" id="{4DC8E400-A3F5-4B78-A3B8-C3AEAA1EB50E}"/>
              </a:ext>
            </a:extLst>
          </p:cNvPr>
          <p:cNvSpPr txBox="1">
            <a:spLocks noChangeArrowheads="1"/>
          </p:cNvSpPr>
          <p:nvPr/>
        </p:nvSpPr>
        <p:spPr bwMode="auto">
          <a:xfrm>
            <a:off x="143328" y="2584341"/>
            <a:ext cx="1183095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US" sz="2400" dirty="0">
                <a:latin typeface="Times New Roman" panose="02020603050405020304" pitchFamily="18" charset="0"/>
                <a:cs typeface="Times New Roman" panose="02020603050405020304" pitchFamily="18" charset="0"/>
              </a:rPr>
              <a:t>Taking into account the direction of </a:t>
            </a:r>
            <a:r>
              <a:rPr lang="en-US" altLang="en-US" sz="2400" b="1" i="1" dirty="0">
                <a:latin typeface="Times New Roman" panose="02020603050405020304" pitchFamily="18" charset="0"/>
                <a:cs typeface="Times New Roman" panose="02020603050405020304" pitchFamily="18" charset="0"/>
              </a:rPr>
              <a:t>F</a:t>
            </a:r>
            <a:r>
              <a:rPr lang="en-US" altLang="en-US" sz="2400" baseline="-25000" dirty="0">
                <a:latin typeface="Times New Roman" panose="02020603050405020304" pitchFamily="18" charset="0"/>
                <a:cs typeface="Times New Roman" panose="02020603050405020304" pitchFamily="18" charset="0"/>
              </a:rPr>
              <a:t>31</a:t>
            </a:r>
            <a:r>
              <a:rPr lang="en-US" altLang="en-US" sz="2400" dirty="0">
                <a:latin typeface="Times New Roman" panose="02020603050405020304" pitchFamily="18" charset="0"/>
                <a:cs typeface="Times New Roman" panose="02020603050405020304" pitchFamily="18" charset="0"/>
              </a:rPr>
              <a:t> and </a:t>
            </a:r>
            <a:r>
              <a:rPr lang="en-US" altLang="en-US" sz="2400" b="1" i="1" dirty="0">
                <a:latin typeface="Times New Roman" panose="02020603050405020304" pitchFamily="18" charset="0"/>
                <a:cs typeface="Times New Roman" panose="02020603050405020304" pitchFamily="18" charset="0"/>
              </a:rPr>
              <a:t>F</a:t>
            </a:r>
            <a:r>
              <a:rPr lang="en-US" altLang="en-US" sz="2400" baseline="-25000" dirty="0">
                <a:latin typeface="Times New Roman" panose="02020603050405020304" pitchFamily="18" charset="0"/>
                <a:cs typeface="Times New Roman" panose="02020603050405020304" pitchFamily="18" charset="0"/>
              </a:rPr>
              <a:t>32</a:t>
            </a:r>
            <a:r>
              <a:rPr lang="en-US" altLang="en-US" sz="2400" dirty="0">
                <a:latin typeface="Times New Roman" panose="02020603050405020304" pitchFamily="18" charset="0"/>
                <a:cs typeface="Times New Roman" panose="02020603050405020304" pitchFamily="18" charset="0"/>
              </a:rPr>
              <a:t> is symmetry – then </a:t>
            </a:r>
            <a:r>
              <a:rPr lang="en-US" altLang="en-US" sz="2400" i="1" dirty="0">
                <a:latin typeface="Times New Roman" panose="02020603050405020304" pitchFamily="18" charset="0"/>
                <a:cs typeface="Times New Roman" panose="02020603050405020304" pitchFamily="18" charset="0"/>
              </a:rPr>
              <a:t>y</a:t>
            </a:r>
            <a:r>
              <a:rPr lang="en-US" altLang="en-US" sz="2400" dirty="0">
                <a:latin typeface="Times New Roman" panose="02020603050405020304" pitchFamily="18" charset="0"/>
                <a:cs typeface="Times New Roman" panose="02020603050405020304" pitchFamily="18" charset="0"/>
              </a:rPr>
              <a:t> – components cancel. Thus, </a:t>
            </a:r>
            <a:r>
              <a:rPr lang="en-US" altLang="en-US" sz="2400" b="1" i="1" dirty="0">
                <a:latin typeface="Times New Roman" panose="02020603050405020304" pitchFamily="18" charset="0"/>
                <a:cs typeface="Times New Roman" panose="02020603050405020304" pitchFamily="18" charset="0"/>
              </a:rPr>
              <a:t>F</a:t>
            </a:r>
            <a:r>
              <a:rPr lang="en-US" altLang="en-US" sz="2400" baseline="-25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(the net force on </a:t>
            </a:r>
            <a:r>
              <a:rPr lang="en-US" altLang="en-US" sz="2400" i="1" dirty="0">
                <a:latin typeface="Times New Roman" panose="02020603050405020304" pitchFamily="18" charset="0"/>
                <a:cs typeface="Times New Roman" panose="02020603050405020304" pitchFamily="18" charset="0"/>
              </a:rPr>
              <a:t>q</a:t>
            </a:r>
            <a:r>
              <a:rPr lang="en-US" altLang="en-US" sz="2400" baseline="-25000" dirty="0">
                <a:latin typeface="Times New Roman" panose="02020603050405020304" pitchFamily="18" charset="0"/>
                <a:cs typeface="Times New Roman" panose="02020603050405020304" pitchFamily="18" charset="0"/>
              </a:rPr>
              <a:t>3</a:t>
            </a:r>
            <a:r>
              <a:rPr lang="en-US" altLang="en-US" sz="2400" dirty="0">
                <a:latin typeface="Times New Roman" panose="02020603050405020304" pitchFamily="18" charset="0"/>
                <a:cs typeface="Times New Roman" panose="02020603050405020304" pitchFamily="18" charset="0"/>
              </a:rPr>
              <a:t>) acts along the positive </a:t>
            </a:r>
            <a:r>
              <a:rPr lang="en-US" altLang="en-US" sz="2400" i="1" dirty="0">
                <a:latin typeface="Times New Roman" panose="02020603050405020304" pitchFamily="18" charset="0"/>
                <a:cs typeface="Times New Roman" panose="02020603050405020304" pitchFamily="18" charset="0"/>
              </a:rPr>
              <a:t>x</a:t>
            </a:r>
            <a:r>
              <a:rPr lang="en-US" altLang="en-US" sz="2400" dirty="0">
                <a:latin typeface="Times New Roman" panose="02020603050405020304" pitchFamily="18" charset="0"/>
                <a:cs typeface="Times New Roman" panose="02020603050405020304" pitchFamily="18" charset="0"/>
              </a:rPr>
              <a:t>-axis and has magnitude of</a:t>
            </a:r>
            <a:endParaRPr lang="en-US" altLang="en-US" sz="2400" baseline="-25000" dirty="0">
              <a:latin typeface="Times New Roman" panose="02020603050405020304" pitchFamily="18" charset="0"/>
              <a:cs typeface="Times New Roman" panose="02020603050405020304" pitchFamily="18" charset="0"/>
            </a:endParaRPr>
          </a:p>
        </p:txBody>
      </p:sp>
      <p:graphicFrame>
        <p:nvGraphicFramePr>
          <p:cNvPr id="5123" name="Object 7">
            <a:extLst>
              <a:ext uri="{FF2B5EF4-FFF2-40B4-BE49-F238E27FC236}">
                <a16:creationId xmlns:a16="http://schemas.microsoft.com/office/drawing/2014/main" id="{6A4C0794-ADEE-4307-B3A9-391D3B29B734}"/>
              </a:ext>
            </a:extLst>
          </p:cNvPr>
          <p:cNvGraphicFramePr>
            <a:graphicFrameLocks noChangeAspect="1"/>
          </p:cNvGraphicFramePr>
          <p:nvPr>
            <p:extLst>
              <p:ext uri="{D42A27DB-BD31-4B8C-83A1-F6EECF244321}">
                <p14:modId xmlns:p14="http://schemas.microsoft.com/office/powerpoint/2010/main" val="1414556013"/>
              </p:ext>
            </p:extLst>
          </p:nvPr>
        </p:nvGraphicFramePr>
        <p:xfrm>
          <a:off x="2037895" y="3475349"/>
          <a:ext cx="3796848" cy="830997"/>
        </p:xfrm>
        <a:graphic>
          <a:graphicData uri="http://schemas.openxmlformats.org/presentationml/2006/ole">
            <mc:AlternateContent xmlns:mc="http://schemas.openxmlformats.org/markup-compatibility/2006">
              <mc:Choice xmlns:v="urn:schemas-microsoft-com:vml" Requires="v">
                <p:oleObj spid="_x0000_s5123" name="Equation" r:id="rId5" imgW="1257120" imgH="241200" progId="Equation.3">
                  <p:embed/>
                </p:oleObj>
              </mc:Choice>
              <mc:Fallback>
                <p:oleObj name="Equation" r:id="rId5" imgW="1257120" imgH="241200" progId="Equation.3">
                  <p:embed/>
                  <p:pic>
                    <p:nvPicPr>
                      <p:cNvPr id="5123" name="Object 7">
                        <a:extLst>
                          <a:ext uri="{FF2B5EF4-FFF2-40B4-BE49-F238E27FC236}">
                            <a16:creationId xmlns:a16="http://schemas.microsoft.com/office/drawing/2014/main" id="{6A4C0794-ADEE-4307-B3A9-391D3B29B7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7895" y="3475349"/>
                        <a:ext cx="3796848" cy="830997"/>
                      </a:xfrm>
                      <a:prstGeom prst="rect">
                        <a:avLst/>
                      </a:prstGeom>
                      <a:noFill/>
                    </p:spPr>
                  </p:pic>
                </p:oleObj>
              </mc:Fallback>
            </mc:AlternateContent>
          </a:graphicData>
        </a:graphic>
      </p:graphicFrame>
      <p:graphicFrame>
        <p:nvGraphicFramePr>
          <p:cNvPr id="5124" name="Object 8">
            <a:extLst>
              <a:ext uri="{FF2B5EF4-FFF2-40B4-BE49-F238E27FC236}">
                <a16:creationId xmlns:a16="http://schemas.microsoft.com/office/drawing/2014/main" id="{93CBF99D-0704-422B-B46C-6C5211B8CC17}"/>
              </a:ext>
            </a:extLst>
          </p:cNvPr>
          <p:cNvGraphicFramePr>
            <a:graphicFrameLocks noChangeAspect="1"/>
          </p:cNvGraphicFramePr>
          <p:nvPr>
            <p:extLst>
              <p:ext uri="{D42A27DB-BD31-4B8C-83A1-F6EECF244321}">
                <p14:modId xmlns:p14="http://schemas.microsoft.com/office/powerpoint/2010/main" val="3414663648"/>
              </p:ext>
            </p:extLst>
          </p:nvPr>
        </p:nvGraphicFramePr>
        <p:xfrm>
          <a:off x="6640512" y="3514183"/>
          <a:ext cx="3316287" cy="1079525"/>
        </p:xfrm>
        <a:graphic>
          <a:graphicData uri="http://schemas.openxmlformats.org/presentationml/2006/ole">
            <mc:AlternateContent xmlns:mc="http://schemas.openxmlformats.org/markup-compatibility/2006">
              <mc:Choice xmlns:v="urn:schemas-microsoft-com:vml" Requires="v">
                <p:oleObj spid="_x0000_s5124" name="Equation" r:id="rId7" imgW="1422360" imgH="431640" progId="Equation.3">
                  <p:embed/>
                </p:oleObj>
              </mc:Choice>
              <mc:Fallback>
                <p:oleObj name="Equation" r:id="rId7" imgW="1422360" imgH="431640" progId="Equation.3">
                  <p:embed/>
                  <p:pic>
                    <p:nvPicPr>
                      <p:cNvPr id="5124" name="Object 8">
                        <a:extLst>
                          <a:ext uri="{FF2B5EF4-FFF2-40B4-BE49-F238E27FC236}">
                            <a16:creationId xmlns:a16="http://schemas.microsoft.com/office/drawing/2014/main" id="{93CBF99D-0704-422B-B46C-6C5211B8CC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0512" y="3514183"/>
                        <a:ext cx="3316287" cy="1079525"/>
                      </a:xfrm>
                      <a:prstGeom prst="rect">
                        <a:avLst/>
                      </a:prstGeom>
                      <a:noFill/>
                    </p:spPr>
                  </p:pic>
                </p:oleObj>
              </mc:Fallback>
            </mc:AlternateContent>
          </a:graphicData>
        </a:graphic>
      </p:graphicFrame>
      <p:graphicFrame>
        <p:nvGraphicFramePr>
          <p:cNvPr id="5125" name="Object 9">
            <a:extLst>
              <a:ext uri="{FF2B5EF4-FFF2-40B4-BE49-F238E27FC236}">
                <a16:creationId xmlns:a16="http://schemas.microsoft.com/office/drawing/2014/main" id="{2D227BE0-9C19-43BD-8075-3B4937A34933}"/>
              </a:ext>
            </a:extLst>
          </p:cNvPr>
          <p:cNvGraphicFramePr>
            <a:graphicFrameLocks noChangeAspect="1"/>
          </p:cNvGraphicFramePr>
          <p:nvPr>
            <p:extLst>
              <p:ext uri="{D42A27DB-BD31-4B8C-83A1-F6EECF244321}">
                <p14:modId xmlns:p14="http://schemas.microsoft.com/office/powerpoint/2010/main" val="4150928478"/>
              </p:ext>
            </p:extLst>
          </p:nvPr>
        </p:nvGraphicFramePr>
        <p:xfrm>
          <a:off x="2320809" y="4692552"/>
          <a:ext cx="8463303" cy="518077"/>
        </p:xfrm>
        <a:graphic>
          <a:graphicData uri="http://schemas.openxmlformats.org/presentationml/2006/ole">
            <mc:AlternateContent xmlns:mc="http://schemas.openxmlformats.org/markup-compatibility/2006">
              <mc:Choice xmlns:v="urn:schemas-microsoft-com:vml" Requires="v">
                <p:oleObj spid="_x0000_s5125" name="Equation" r:id="rId9" imgW="3200400" imgH="241200" progId="Equation.3">
                  <p:embed/>
                </p:oleObj>
              </mc:Choice>
              <mc:Fallback>
                <p:oleObj name="Equation" r:id="rId9" imgW="3200400" imgH="241200" progId="Equation.3">
                  <p:embed/>
                  <p:pic>
                    <p:nvPicPr>
                      <p:cNvPr id="5125" name="Object 9">
                        <a:extLst>
                          <a:ext uri="{FF2B5EF4-FFF2-40B4-BE49-F238E27FC236}">
                            <a16:creationId xmlns:a16="http://schemas.microsoft.com/office/drawing/2014/main" id="{2D227BE0-9C19-43BD-8075-3B4937A3493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0809" y="4692552"/>
                        <a:ext cx="8463303" cy="518077"/>
                      </a:xfrm>
                      <a:prstGeom prst="rect">
                        <a:avLst/>
                      </a:prstGeom>
                      <a:noFill/>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a:extLst>
              <a:ext uri="{FF2B5EF4-FFF2-40B4-BE49-F238E27FC236}">
                <a16:creationId xmlns:a16="http://schemas.microsoft.com/office/drawing/2014/main" id="{B4C0281E-BEF7-4BAE-B18A-A7F7A840F44D}"/>
              </a:ext>
            </a:extLst>
          </p:cNvPr>
          <p:cNvSpPr txBox="1">
            <a:spLocks noChangeArrowheads="1"/>
          </p:cNvSpPr>
          <p:nvPr/>
        </p:nvSpPr>
        <p:spPr bwMode="auto">
          <a:xfrm>
            <a:off x="174171" y="1295400"/>
            <a:ext cx="1184365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AutoNum type="alphaLcParenBoth"/>
            </a:pPr>
            <a:r>
              <a:rPr lang="en-US" altLang="en-US" sz="2800" dirty="0">
                <a:latin typeface="Times New Roman" panose="02020603050405020304" pitchFamily="18" charset="0"/>
                <a:cs typeface="Times New Roman" panose="02020603050405020304" pitchFamily="18" charset="0"/>
              </a:rPr>
              <a:t>What is the magnitude of the repulsive electrostatic force between two protons in a nucleus? Taking the distance from center to center of these protons to be 3 x 10</a:t>
            </a:r>
            <a:r>
              <a:rPr lang="en-US" altLang="en-US" sz="2800" baseline="30000" dirty="0">
                <a:latin typeface="Times New Roman" panose="02020603050405020304" pitchFamily="18" charset="0"/>
                <a:cs typeface="Times New Roman" panose="02020603050405020304" pitchFamily="18" charset="0"/>
              </a:rPr>
              <a:t>-15</a:t>
            </a:r>
            <a:r>
              <a:rPr lang="en-US" altLang="en-US" sz="2800" dirty="0">
                <a:latin typeface="Times New Roman" panose="02020603050405020304" pitchFamily="18" charset="0"/>
                <a:cs typeface="Times New Roman" panose="02020603050405020304" pitchFamily="18" charset="0"/>
              </a:rPr>
              <a:t>m.</a:t>
            </a:r>
          </a:p>
          <a:p>
            <a:pPr algn="just" eaLnBrk="1" hangingPunct="1">
              <a:spcBef>
                <a:spcPct val="20000"/>
              </a:spcBef>
            </a:pPr>
            <a:endParaRPr lang="en-US" altLang="en-US" sz="2800" dirty="0">
              <a:latin typeface="Times New Roman" panose="02020603050405020304" pitchFamily="18" charset="0"/>
              <a:cs typeface="Times New Roman" panose="02020603050405020304" pitchFamily="18" charset="0"/>
            </a:endParaRPr>
          </a:p>
          <a:p>
            <a:pPr algn="just" eaLnBrk="1" hangingPunct="1">
              <a:spcBef>
                <a:spcPct val="20000"/>
              </a:spcBef>
              <a:buFont typeface="Calibri" panose="020F0502020204030204" pitchFamily="34" charset="0"/>
              <a:buAutoNum type="alphaLcParenR" startAt="2"/>
            </a:pPr>
            <a:r>
              <a:rPr lang="en-US" altLang="en-US" sz="2800" dirty="0">
                <a:latin typeface="Times New Roman" panose="02020603050405020304" pitchFamily="18" charset="0"/>
                <a:cs typeface="Times New Roman" panose="02020603050405020304" pitchFamily="18" charset="0"/>
              </a:rPr>
              <a:t>If the protons were released from rest, how would the magnitude of their initial acceleration compare with that of the acceleration due to gravity on Earth’s surface, </a:t>
            </a:r>
            <a:r>
              <a:rPr lang="en-US" altLang="en-US" sz="2800" i="1" dirty="0">
                <a:latin typeface="Times New Roman" panose="02020603050405020304" pitchFamily="18" charset="0"/>
                <a:cs typeface="Times New Roman" panose="02020603050405020304" pitchFamily="18" charset="0"/>
              </a:rPr>
              <a:t>g </a:t>
            </a:r>
            <a:r>
              <a:rPr lang="en-US" altLang="en-US" sz="2800" dirty="0">
                <a:latin typeface="Times New Roman" panose="02020603050405020304" pitchFamily="18" charset="0"/>
                <a:cs typeface="Times New Roman" panose="02020603050405020304" pitchFamily="18" charset="0"/>
              </a:rPr>
              <a:t>?</a:t>
            </a:r>
          </a:p>
        </p:txBody>
      </p:sp>
      <p:sp>
        <p:nvSpPr>
          <p:cNvPr id="9" name="Rectangle 2">
            <a:extLst>
              <a:ext uri="{FF2B5EF4-FFF2-40B4-BE49-F238E27FC236}">
                <a16:creationId xmlns:a16="http://schemas.microsoft.com/office/drawing/2014/main" id="{0CC5FB64-9696-4086-A03A-DF50FCD737C8}"/>
              </a:ext>
            </a:extLst>
          </p:cNvPr>
          <p:cNvSpPr txBox="1">
            <a:spLocks/>
          </p:cNvSpPr>
          <p:nvPr/>
        </p:nvSpPr>
        <p:spPr>
          <a:xfrm>
            <a:off x="2743200" y="228600"/>
            <a:ext cx="7391400" cy="533400"/>
          </a:xfrm>
          <a:prstGeom prst="rect">
            <a:avLst/>
          </a:prstGeom>
          <a:solidFill>
            <a:srgbClr val="98B5D8"/>
          </a:solidFill>
        </p:spPr>
        <p:txBody>
          <a:bodyPr anchor="ctr">
            <a:noAutofit/>
          </a:bodyPr>
          <a:lstStyle/>
          <a:p>
            <a:pPr algn="ctr">
              <a:defRPr/>
            </a:pPr>
            <a:r>
              <a:rPr lang="en-US" altLang="ja-JP" sz="5400" b="1" dirty="0">
                <a:latin typeface="Algerian" panose="04020705040A02060702" pitchFamily="82" charset="0"/>
                <a:ea typeface="+mj-ea"/>
                <a:cs typeface="+mj-cs"/>
              </a:rPr>
              <a:t>EXAMPLE 2</a:t>
            </a:r>
            <a:endParaRPr lang="en-US" sz="5400" b="1" dirty="0">
              <a:latin typeface="Algerian" panose="04020705040A02060702" pitchFamily="82" charset="0"/>
              <a:ea typeface="+mj-ea"/>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53CA5A1A-0A4B-4DD8-BEEB-74FF0D3DAC99}"/>
              </a:ext>
            </a:extLst>
          </p:cNvPr>
          <p:cNvSpPr txBox="1">
            <a:spLocks noChangeArrowheads="1"/>
          </p:cNvSpPr>
          <p:nvPr/>
        </p:nvSpPr>
        <p:spPr>
          <a:xfrm>
            <a:off x="1981200" y="274638"/>
            <a:ext cx="8229600" cy="1143000"/>
          </a:xfrm>
          <a:prstGeom prst="rect">
            <a:avLst/>
          </a:prstGeom>
        </p:spPr>
        <p:txBody>
          <a:bodyPr anchor="ctr">
            <a:normAutofit/>
          </a:bodyPr>
          <a:lstStyle/>
          <a:p>
            <a:pPr algn="ctr">
              <a:defRPr/>
            </a:pPr>
            <a:r>
              <a:rPr lang="en-US" sz="5400" b="1" dirty="0">
                <a:latin typeface="Algerian" panose="04020705040A02060702" pitchFamily="82" charset="0"/>
                <a:ea typeface="+mj-ea"/>
                <a:cs typeface="+mj-cs"/>
              </a:rPr>
              <a:t>Solution:</a:t>
            </a:r>
          </a:p>
        </p:txBody>
      </p:sp>
      <p:sp>
        <p:nvSpPr>
          <p:cNvPr id="6151" name="Rectangle 3">
            <a:extLst>
              <a:ext uri="{FF2B5EF4-FFF2-40B4-BE49-F238E27FC236}">
                <a16:creationId xmlns:a16="http://schemas.microsoft.com/office/drawing/2014/main" id="{54771CE9-D355-4C18-AFE4-731CC24A2DA5}"/>
              </a:ext>
            </a:extLst>
          </p:cNvPr>
          <p:cNvSpPr txBox="1">
            <a:spLocks noChangeArrowheads="1"/>
          </p:cNvSpPr>
          <p:nvPr/>
        </p:nvSpPr>
        <p:spPr bwMode="auto">
          <a:xfrm>
            <a:off x="346076" y="1312863"/>
            <a:ext cx="1106215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2800" dirty="0">
                <a:latin typeface="Times New Roman" panose="02020603050405020304" pitchFamily="18" charset="0"/>
                <a:cs typeface="Times New Roman" panose="02020603050405020304" pitchFamily="18" charset="0"/>
              </a:rPr>
              <a:t>Given:  </a:t>
            </a:r>
            <a:r>
              <a:rPr lang="en-US" altLang="en-US" sz="2800" i="1" dirty="0">
                <a:latin typeface="Times New Roman" panose="02020603050405020304" pitchFamily="18" charset="0"/>
                <a:cs typeface="Times New Roman" panose="02020603050405020304" pitchFamily="18" charset="0"/>
              </a:rPr>
              <a:t>r</a:t>
            </a:r>
            <a:r>
              <a:rPr lang="en-US" altLang="en-US" sz="2800" dirty="0">
                <a:latin typeface="Times New Roman" panose="02020603050405020304" pitchFamily="18" charset="0"/>
                <a:cs typeface="Times New Roman" panose="02020603050405020304" pitchFamily="18" charset="0"/>
              </a:rPr>
              <a:t> = 3 x 10</a:t>
            </a:r>
            <a:r>
              <a:rPr lang="en-US" altLang="en-US" sz="2800" baseline="30000" dirty="0">
                <a:latin typeface="Times New Roman" panose="02020603050405020304" pitchFamily="18" charset="0"/>
                <a:cs typeface="Times New Roman" panose="02020603050405020304" pitchFamily="18" charset="0"/>
              </a:rPr>
              <a:t>-15</a:t>
            </a:r>
            <a:r>
              <a:rPr lang="en-US" altLang="en-US" sz="2800" dirty="0">
                <a:latin typeface="Times New Roman" panose="02020603050405020304" pitchFamily="18" charset="0"/>
                <a:cs typeface="Times New Roman" panose="02020603050405020304" pitchFamily="18" charset="0"/>
              </a:rPr>
              <a:t>m;  </a:t>
            </a:r>
            <a:r>
              <a:rPr lang="en-US" altLang="en-US" sz="2800" i="1" dirty="0">
                <a:latin typeface="Times New Roman" panose="02020603050405020304" pitchFamily="18" charset="0"/>
                <a:cs typeface="Times New Roman" panose="02020603050405020304" pitchFamily="18" charset="0"/>
              </a:rPr>
              <a:t>q</a:t>
            </a:r>
            <a:r>
              <a:rPr lang="en-US" altLang="en-US" sz="2800" i="1" baseline="-25000" dirty="0">
                <a:latin typeface="Times New Roman" panose="02020603050405020304" pitchFamily="18" charset="0"/>
                <a:cs typeface="Times New Roman" panose="02020603050405020304" pitchFamily="18" charset="0"/>
              </a:rPr>
              <a:t>1</a:t>
            </a:r>
            <a:r>
              <a:rPr lang="en-US" altLang="en-US" sz="2800" i="1" dirty="0">
                <a:latin typeface="Times New Roman" panose="02020603050405020304" pitchFamily="18" charset="0"/>
                <a:cs typeface="Times New Roman" panose="02020603050405020304" pitchFamily="18" charset="0"/>
              </a:rPr>
              <a:t>=q</a:t>
            </a:r>
            <a:r>
              <a:rPr lang="en-US" altLang="en-US" sz="2800" i="1" baseline="-25000" dirty="0">
                <a:latin typeface="Times New Roman" panose="02020603050405020304" pitchFamily="18" charset="0"/>
                <a:cs typeface="Times New Roman" panose="02020603050405020304" pitchFamily="18" charset="0"/>
              </a:rPr>
              <a:t>2</a:t>
            </a:r>
            <a:r>
              <a:rPr lang="en-US" altLang="en-US" sz="2800" i="1" dirty="0">
                <a:latin typeface="Times New Roman" panose="02020603050405020304" pitchFamily="18" charset="0"/>
                <a:cs typeface="Times New Roman" panose="02020603050405020304" pitchFamily="18" charset="0"/>
              </a:rPr>
              <a:t> = </a:t>
            </a:r>
            <a:r>
              <a:rPr lang="en-US" altLang="en-US" sz="2800" dirty="0">
                <a:latin typeface="Times New Roman" panose="02020603050405020304" pitchFamily="18" charset="0"/>
                <a:cs typeface="Times New Roman" panose="02020603050405020304" pitchFamily="18" charset="0"/>
              </a:rPr>
              <a:t>+1.6 x 10</a:t>
            </a:r>
            <a:r>
              <a:rPr lang="en-US" altLang="en-US" sz="2800" baseline="30000" dirty="0">
                <a:latin typeface="Times New Roman" panose="02020603050405020304" pitchFamily="18" charset="0"/>
                <a:cs typeface="Times New Roman" panose="02020603050405020304" pitchFamily="18" charset="0"/>
              </a:rPr>
              <a:t>-19</a:t>
            </a:r>
            <a:r>
              <a:rPr lang="en-US" altLang="en-US" sz="2800" dirty="0">
                <a:latin typeface="Times New Roman" panose="02020603050405020304" pitchFamily="18" charset="0"/>
                <a:cs typeface="Times New Roman" panose="02020603050405020304" pitchFamily="18" charset="0"/>
              </a:rPr>
              <a:t>C  ;  </a:t>
            </a:r>
            <a:r>
              <a:rPr lang="en-US" altLang="en-US" sz="2800" i="1" dirty="0" err="1">
                <a:latin typeface="Times New Roman" panose="02020603050405020304" pitchFamily="18" charset="0"/>
                <a:cs typeface="Times New Roman" panose="02020603050405020304" pitchFamily="18" charset="0"/>
              </a:rPr>
              <a:t>m</a:t>
            </a:r>
            <a:r>
              <a:rPr lang="en-US" altLang="en-US" sz="2800" baseline="-25000" dirty="0" err="1">
                <a:latin typeface="Times New Roman" panose="02020603050405020304" pitchFamily="18" charset="0"/>
                <a:cs typeface="Times New Roman" panose="02020603050405020304" pitchFamily="18" charset="0"/>
              </a:rPr>
              <a:t>p</a:t>
            </a:r>
            <a:r>
              <a:rPr lang="en-US" altLang="en-US" sz="2800" dirty="0">
                <a:latin typeface="Times New Roman" panose="02020603050405020304" pitchFamily="18" charset="0"/>
                <a:cs typeface="Times New Roman" panose="02020603050405020304" pitchFamily="18" charset="0"/>
              </a:rPr>
              <a:t> = 1.67 x 10</a:t>
            </a:r>
            <a:r>
              <a:rPr lang="en-US" altLang="en-US" sz="2800" baseline="30000" dirty="0">
                <a:latin typeface="Times New Roman" panose="02020603050405020304" pitchFamily="18" charset="0"/>
                <a:cs typeface="Times New Roman" panose="02020603050405020304" pitchFamily="18" charset="0"/>
              </a:rPr>
              <a:t>-27</a:t>
            </a:r>
            <a:r>
              <a:rPr lang="en-US" altLang="en-US" sz="2800" dirty="0">
                <a:latin typeface="Times New Roman" panose="02020603050405020304" pitchFamily="18" charset="0"/>
                <a:cs typeface="Times New Roman" panose="02020603050405020304" pitchFamily="18" charset="0"/>
              </a:rPr>
              <a:t>kg</a:t>
            </a:r>
          </a:p>
        </p:txBody>
      </p:sp>
      <p:graphicFrame>
        <p:nvGraphicFramePr>
          <p:cNvPr id="6146" name="Object 4">
            <a:extLst>
              <a:ext uri="{FF2B5EF4-FFF2-40B4-BE49-F238E27FC236}">
                <a16:creationId xmlns:a16="http://schemas.microsoft.com/office/drawing/2014/main" id="{6145C749-D305-4C87-A7AD-8CEA3A5EC5CB}"/>
              </a:ext>
            </a:extLst>
          </p:cNvPr>
          <p:cNvGraphicFramePr>
            <a:graphicFrameLocks noChangeAspect="1"/>
          </p:cNvGraphicFramePr>
          <p:nvPr>
            <p:extLst>
              <p:ext uri="{D42A27DB-BD31-4B8C-83A1-F6EECF244321}">
                <p14:modId xmlns:p14="http://schemas.microsoft.com/office/powerpoint/2010/main" val="3612871077"/>
              </p:ext>
            </p:extLst>
          </p:nvPr>
        </p:nvGraphicFramePr>
        <p:xfrm>
          <a:off x="4557713" y="2273301"/>
          <a:ext cx="7288211" cy="1110213"/>
        </p:xfrm>
        <a:graphic>
          <a:graphicData uri="http://schemas.openxmlformats.org/presentationml/2006/ole">
            <mc:AlternateContent xmlns:mc="http://schemas.openxmlformats.org/markup-compatibility/2006">
              <mc:Choice xmlns:v="urn:schemas-microsoft-com:vml" Requires="v">
                <p:oleObj spid="_x0000_s6146" name="Equation" r:id="rId3" imgW="3263760" imgH="444240" progId="Equation.3">
                  <p:embed/>
                </p:oleObj>
              </mc:Choice>
              <mc:Fallback>
                <p:oleObj name="Equation" r:id="rId3" imgW="3263760" imgH="444240" progId="Equation.3">
                  <p:embed/>
                  <p:pic>
                    <p:nvPicPr>
                      <p:cNvPr id="6146" name="Object 4">
                        <a:extLst>
                          <a:ext uri="{FF2B5EF4-FFF2-40B4-BE49-F238E27FC236}">
                            <a16:creationId xmlns:a16="http://schemas.microsoft.com/office/drawing/2014/main" id="{6145C749-D305-4C87-A7AD-8CEA3A5EC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7713" y="2273301"/>
                        <a:ext cx="7288211" cy="1110213"/>
                      </a:xfrm>
                      <a:prstGeom prst="rect">
                        <a:avLst/>
                      </a:prstGeom>
                      <a:noFill/>
                    </p:spPr>
                  </p:pic>
                </p:oleObj>
              </mc:Fallback>
            </mc:AlternateContent>
          </a:graphicData>
        </a:graphic>
      </p:graphicFrame>
      <p:sp>
        <p:nvSpPr>
          <p:cNvPr id="6152" name="Text Box 5">
            <a:extLst>
              <a:ext uri="{FF2B5EF4-FFF2-40B4-BE49-F238E27FC236}">
                <a16:creationId xmlns:a16="http://schemas.microsoft.com/office/drawing/2014/main" id="{B75B6771-972C-4368-954C-185DE92FFB66}"/>
              </a:ext>
            </a:extLst>
          </p:cNvPr>
          <p:cNvSpPr txBox="1">
            <a:spLocks noChangeArrowheads="1"/>
          </p:cNvSpPr>
          <p:nvPr/>
        </p:nvSpPr>
        <p:spPr bwMode="auto">
          <a:xfrm>
            <a:off x="346076" y="2056368"/>
            <a:ext cx="36068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latin typeface="Calibri" panose="020F0502020204030204" pitchFamily="34" charset="0"/>
              </a:rPr>
              <a:t>(</a:t>
            </a:r>
            <a:r>
              <a:rPr lang="en-US" altLang="en-US" sz="2400" b="1" dirty="0">
                <a:latin typeface="Times New Roman" panose="02020603050405020304" pitchFamily="18" charset="0"/>
                <a:cs typeface="Times New Roman" panose="02020603050405020304" pitchFamily="18" charset="0"/>
              </a:rPr>
              <a:t>a) Using Coulomb’s Law;</a:t>
            </a:r>
          </a:p>
        </p:txBody>
      </p:sp>
      <p:graphicFrame>
        <p:nvGraphicFramePr>
          <p:cNvPr id="6147" name="Object 6">
            <a:extLst>
              <a:ext uri="{FF2B5EF4-FFF2-40B4-BE49-F238E27FC236}">
                <a16:creationId xmlns:a16="http://schemas.microsoft.com/office/drawing/2014/main" id="{CB00CC0A-D65C-4A47-A177-9FCBB8D9BFCA}"/>
              </a:ext>
            </a:extLst>
          </p:cNvPr>
          <p:cNvGraphicFramePr>
            <a:graphicFrameLocks noChangeAspect="1"/>
          </p:cNvGraphicFramePr>
          <p:nvPr>
            <p:extLst>
              <p:ext uri="{D42A27DB-BD31-4B8C-83A1-F6EECF244321}">
                <p14:modId xmlns:p14="http://schemas.microsoft.com/office/powerpoint/2010/main" val="665235848"/>
              </p:ext>
            </p:extLst>
          </p:nvPr>
        </p:nvGraphicFramePr>
        <p:xfrm>
          <a:off x="1351756" y="3703510"/>
          <a:ext cx="7487443" cy="1115233"/>
        </p:xfrm>
        <a:graphic>
          <a:graphicData uri="http://schemas.openxmlformats.org/presentationml/2006/ole">
            <mc:AlternateContent xmlns:mc="http://schemas.openxmlformats.org/markup-compatibility/2006">
              <mc:Choice xmlns:v="urn:schemas-microsoft-com:vml" Requires="v">
                <p:oleObj spid="_x0000_s6147" name="Equation" r:id="rId5" imgW="2514600" imgH="444240" progId="Equation.3">
                  <p:embed/>
                </p:oleObj>
              </mc:Choice>
              <mc:Fallback>
                <p:oleObj name="Equation" r:id="rId5" imgW="2514600" imgH="444240" progId="Equation.3">
                  <p:embed/>
                  <p:pic>
                    <p:nvPicPr>
                      <p:cNvPr id="6147" name="Object 6">
                        <a:extLst>
                          <a:ext uri="{FF2B5EF4-FFF2-40B4-BE49-F238E27FC236}">
                            <a16:creationId xmlns:a16="http://schemas.microsoft.com/office/drawing/2014/main" id="{CB00CC0A-D65C-4A47-A177-9FCBB8D9BF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1756" y="3703510"/>
                        <a:ext cx="7487443" cy="1115233"/>
                      </a:xfrm>
                      <a:prstGeom prst="rect">
                        <a:avLst/>
                      </a:prstGeom>
                      <a:noFill/>
                    </p:spPr>
                  </p:pic>
                </p:oleObj>
              </mc:Fallback>
            </mc:AlternateContent>
          </a:graphicData>
        </a:graphic>
      </p:graphicFrame>
      <p:graphicFrame>
        <p:nvGraphicFramePr>
          <p:cNvPr id="6148" name="Object 7">
            <a:extLst>
              <a:ext uri="{FF2B5EF4-FFF2-40B4-BE49-F238E27FC236}">
                <a16:creationId xmlns:a16="http://schemas.microsoft.com/office/drawing/2014/main" id="{91F64C06-E863-4EAF-BAB9-80862505AD3A}"/>
              </a:ext>
            </a:extLst>
          </p:cNvPr>
          <p:cNvGraphicFramePr>
            <a:graphicFrameLocks noChangeAspect="1"/>
          </p:cNvGraphicFramePr>
          <p:nvPr>
            <p:extLst>
              <p:ext uri="{D42A27DB-BD31-4B8C-83A1-F6EECF244321}">
                <p14:modId xmlns:p14="http://schemas.microsoft.com/office/powerpoint/2010/main" val="122815166"/>
              </p:ext>
            </p:extLst>
          </p:nvPr>
        </p:nvGraphicFramePr>
        <p:xfrm>
          <a:off x="3018971" y="5138739"/>
          <a:ext cx="6502399" cy="1115233"/>
        </p:xfrm>
        <a:graphic>
          <a:graphicData uri="http://schemas.openxmlformats.org/presentationml/2006/ole">
            <mc:AlternateContent xmlns:mc="http://schemas.openxmlformats.org/markup-compatibility/2006">
              <mc:Choice xmlns:v="urn:schemas-microsoft-com:vml" Requires="v">
                <p:oleObj spid="_x0000_s6148" name="Equation" r:id="rId7" imgW="2006280" imgH="444240" progId="Equation.3">
                  <p:embed/>
                </p:oleObj>
              </mc:Choice>
              <mc:Fallback>
                <p:oleObj name="Equation" r:id="rId7" imgW="2006280" imgH="444240" progId="Equation.3">
                  <p:embed/>
                  <p:pic>
                    <p:nvPicPr>
                      <p:cNvPr id="6148" name="Object 7">
                        <a:extLst>
                          <a:ext uri="{FF2B5EF4-FFF2-40B4-BE49-F238E27FC236}">
                            <a16:creationId xmlns:a16="http://schemas.microsoft.com/office/drawing/2014/main" id="{91F64C06-E863-4EAF-BAB9-80862505AD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8971" y="5138739"/>
                        <a:ext cx="6502399" cy="1115233"/>
                      </a:xfrm>
                      <a:prstGeom prst="rect">
                        <a:avLst/>
                      </a:prstGeom>
                      <a:noFill/>
                    </p:spPr>
                  </p:pic>
                </p:oleObj>
              </mc:Fallback>
            </mc:AlternateContent>
          </a:graphicData>
        </a:graphic>
      </p:graphicFrame>
      <p:sp>
        <p:nvSpPr>
          <p:cNvPr id="6153" name="Text Box 8">
            <a:extLst>
              <a:ext uri="{FF2B5EF4-FFF2-40B4-BE49-F238E27FC236}">
                <a16:creationId xmlns:a16="http://schemas.microsoft.com/office/drawing/2014/main" id="{85953AFA-1966-4C9B-8E9F-8136D2C10E23}"/>
              </a:ext>
            </a:extLst>
          </p:cNvPr>
          <p:cNvSpPr txBox="1">
            <a:spLocks noChangeArrowheads="1"/>
          </p:cNvSpPr>
          <p:nvPr/>
        </p:nvSpPr>
        <p:spPr bwMode="auto">
          <a:xfrm>
            <a:off x="346076" y="3642520"/>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latin typeface="Calibri" panose="020F0502020204030204" pitchFamily="34" charset="0"/>
              </a:rPr>
              <a:t>(b)</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C89B0-7B84-9E34-8962-6D6B6D5497D3}"/>
              </a:ext>
            </a:extLst>
          </p:cNvPr>
          <p:cNvSpPr>
            <a:spLocks noGrp="1"/>
          </p:cNvSpPr>
          <p:nvPr>
            <p:ph type="title"/>
          </p:nvPr>
        </p:nvSpPr>
        <p:spPr>
          <a:xfrm>
            <a:off x="4112985" y="283028"/>
            <a:ext cx="3966029" cy="796018"/>
          </a:xfrm>
        </p:spPr>
        <p:txBody>
          <a:bodyPr>
            <a:normAutofit fontScale="90000"/>
          </a:bodyPr>
          <a:lstStyle/>
          <a:p>
            <a:r>
              <a:rPr lang="en-US" sz="5400" dirty="0">
                <a:latin typeface="Algerian" panose="04020705040A02060702" pitchFamily="82" charset="0"/>
              </a:rPr>
              <a:t>Example 3 </a:t>
            </a:r>
            <a:endParaRPr lang="en-NG" sz="5400" dirty="0">
              <a:latin typeface="Algerian" panose="04020705040A02060702" pitchFamily="82" charset="0"/>
            </a:endParaRPr>
          </a:p>
        </p:txBody>
      </p:sp>
      <p:sp>
        <p:nvSpPr>
          <p:cNvPr id="3" name="Content Placeholder 2">
            <a:extLst>
              <a:ext uri="{FF2B5EF4-FFF2-40B4-BE49-F238E27FC236}">
                <a16:creationId xmlns:a16="http://schemas.microsoft.com/office/drawing/2014/main" id="{8BA60E3A-E8F5-6BF3-7447-3479C9E47E48}"/>
              </a:ext>
            </a:extLst>
          </p:cNvPr>
          <p:cNvSpPr>
            <a:spLocks noGrp="1"/>
          </p:cNvSpPr>
          <p:nvPr>
            <p:ph idx="1"/>
          </p:nvPr>
        </p:nvSpPr>
        <p:spPr>
          <a:xfrm>
            <a:off x="185057" y="1253332"/>
            <a:ext cx="11774714" cy="1112498"/>
          </a:xfrm>
        </p:spPr>
        <p:txBody>
          <a:bodyPr>
            <a:normAutofit fontScale="92500"/>
          </a:bodyPr>
          <a:lstStyle/>
          <a:p>
            <a:pPr algn="just"/>
            <a:r>
              <a:rPr lang="en-US" dirty="0">
                <a:latin typeface="Times New Roman" panose="02020603050405020304" pitchFamily="18" charset="0"/>
                <a:cs typeface="Times New Roman" panose="02020603050405020304" pitchFamily="18" charset="0"/>
              </a:rPr>
              <a:t>A positive charge q exerts a force of magnitude - 0.20 N on another charge - 2q. Find the magnitude of each charge if the distance separating them is equal to 50 cm.</a:t>
            </a:r>
          </a:p>
          <a:p>
            <a:endParaRPr lang="en-NG" dirty="0"/>
          </a:p>
        </p:txBody>
      </p:sp>
      <p:sp>
        <p:nvSpPr>
          <p:cNvPr id="4" name="Content Placeholder 2">
            <a:extLst>
              <a:ext uri="{FF2B5EF4-FFF2-40B4-BE49-F238E27FC236}">
                <a16:creationId xmlns:a16="http://schemas.microsoft.com/office/drawing/2014/main" id="{A47C466A-4A96-BDB0-99A3-5305D125D958}"/>
              </a:ext>
            </a:extLst>
          </p:cNvPr>
          <p:cNvSpPr txBox="1">
            <a:spLocks/>
          </p:cNvSpPr>
          <p:nvPr/>
        </p:nvSpPr>
        <p:spPr>
          <a:xfrm>
            <a:off x="232229" y="2365830"/>
            <a:ext cx="11524342" cy="406399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The force that q exert on 2q is given by Coulomb's law:</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 = k (q) ( - 2q) / r</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r = 0.5 m , F = - 0.20 N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- 0.2 = - 2 q</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k / 0.5</a:t>
            </a:r>
            <a:r>
              <a:rPr lang="en-US" baseline="30000" dirty="0">
                <a:latin typeface="Times New Roman" panose="02020603050405020304" pitchFamily="18" charset="0"/>
                <a:cs typeface="Times New Roman" panose="02020603050405020304" pitchFamily="18" charset="0"/>
              </a:rPr>
              <a:t>2</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0.2 × 0.5</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(2 k)</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 = √ [ (0.2 × 0.5</a:t>
            </a:r>
            <a:r>
              <a:rPr lang="en-US" baseline="30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(2 × 9 × 10</a:t>
            </a:r>
            <a:r>
              <a:rPr lang="en-US" baseline="30000" dirty="0">
                <a:latin typeface="Times New Roman" panose="02020603050405020304" pitchFamily="18" charset="0"/>
                <a:cs typeface="Times New Roman" panose="02020603050405020304" pitchFamily="18" charset="0"/>
              </a:rPr>
              <a:t>9</a:t>
            </a:r>
            <a:r>
              <a:rPr lang="en-US" dirty="0">
                <a:latin typeface="Times New Roman" panose="02020603050405020304" pitchFamily="18" charset="0"/>
                <a:cs typeface="Times New Roman" panose="02020603050405020304" pitchFamily="18" charset="0"/>
              </a:rPr>
              <a:t>) ] = 1.66 × 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C</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 = 1.66 × 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C , -2 q = -3.32 × 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C</a:t>
            </a:r>
          </a:p>
          <a:p>
            <a:endParaRPr lang="en-NG" dirty="0"/>
          </a:p>
        </p:txBody>
      </p:sp>
    </p:spTree>
    <p:extLst>
      <p:ext uri="{BB962C8B-B14F-4D97-AF65-F5344CB8AC3E}">
        <p14:creationId xmlns:p14="http://schemas.microsoft.com/office/powerpoint/2010/main" val="144869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322D7-B4F4-CD26-35C5-E04D71C152D3}"/>
              </a:ext>
            </a:extLst>
          </p:cNvPr>
          <p:cNvSpPr>
            <a:spLocks noGrp="1"/>
          </p:cNvSpPr>
          <p:nvPr>
            <p:ph type="title"/>
          </p:nvPr>
        </p:nvSpPr>
        <p:spPr>
          <a:xfrm>
            <a:off x="4249057" y="253999"/>
            <a:ext cx="3414486" cy="854075"/>
          </a:xfrm>
        </p:spPr>
        <p:txBody>
          <a:bodyPr/>
          <a:lstStyle/>
          <a:p>
            <a:r>
              <a:rPr lang="en-US" dirty="0">
                <a:latin typeface="Algerian" panose="04020705040A02060702" pitchFamily="82" charset="0"/>
              </a:rPr>
              <a:t>Example 4</a:t>
            </a:r>
            <a:r>
              <a:rPr lang="en-US" dirty="0"/>
              <a:t> </a:t>
            </a:r>
            <a:endParaRPr lang="en-NG" dirty="0"/>
          </a:p>
        </p:txBody>
      </p:sp>
      <p:sp>
        <p:nvSpPr>
          <p:cNvPr id="3" name="Content Placeholder 2">
            <a:extLst>
              <a:ext uri="{FF2B5EF4-FFF2-40B4-BE49-F238E27FC236}">
                <a16:creationId xmlns:a16="http://schemas.microsoft.com/office/drawing/2014/main" id="{A1A91D82-7F5E-CF66-0700-A8F9AE357DED}"/>
              </a:ext>
            </a:extLst>
          </p:cNvPr>
          <p:cNvSpPr>
            <a:spLocks noGrp="1"/>
          </p:cNvSpPr>
          <p:nvPr>
            <p:ph idx="1"/>
          </p:nvPr>
        </p:nvSpPr>
        <p:spPr>
          <a:xfrm>
            <a:off x="257627" y="1108074"/>
            <a:ext cx="11702143" cy="996497"/>
          </a:xfrm>
        </p:spPr>
        <p:txBody>
          <a:bodyPr/>
          <a:lstStyle/>
          <a:p>
            <a:pPr algn="just"/>
            <a:r>
              <a:rPr lang="en-US" dirty="0">
                <a:effectLst/>
                <a:latin typeface="Times New Roman" panose="02020603050405020304" pitchFamily="18" charset="0"/>
                <a:cs typeface="Times New Roman" panose="02020603050405020304" pitchFamily="18" charset="0"/>
              </a:rPr>
              <a:t>What is the net force and its direction that the charges at the vertices A and C of the right triangle ABC exert on the charge in vertex B?</a:t>
            </a:r>
            <a:endParaRPr lang="en-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FCBDD9F-7D34-7611-CC85-BF9254BE2210}"/>
              </a:ext>
            </a:extLst>
          </p:cNvPr>
          <p:cNvPicPr>
            <a:picLocks noChangeAspect="1"/>
          </p:cNvPicPr>
          <p:nvPr/>
        </p:nvPicPr>
        <p:blipFill rotWithShape="1">
          <a:blip r:embed="rId2"/>
          <a:srcRect r="5048"/>
          <a:stretch/>
        </p:blipFill>
        <p:spPr>
          <a:xfrm>
            <a:off x="409632" y="2104571"/>
            <a:ext cx="5234609" cy="2877047"/>
          </a:xfrm>
          <a:prstGeom prst="rect">
            <a:avLst/>
          </a:prstGeom>
        </p:spPr>
      </p:pic>
      <p:pic>
        <p:nvPicPr>
          <p:cNvPr id="5" name="Picture 4">
            <a:extLst>
              <a:ext uri="{FF2B5EF4-FFF2-40B4-BE49-F238E27FC236}">
                <a16:creationId xmlns:a16="http://schemas.microsoft.com/office/drawing/2014/main" id="{931DDD9D-051E-F902-E593-2AAEA25CE62D}"/>
              </a:ext>
            </a:extLst>
          </p:cNvPr>
          <p:cNvPicPr>
            <a:picLocks noChangeAspect="1"/>
          </p:cNvPicPr>
          <p:nvPr/>
        </p:nvPicPr>
        <p:blipFill rotWithShape="1">
          <a:blip r:embed="rId3"/>
          <a:srcRect t="7386" r="4137"/>
          <a:stretch/>
        </p:blipFill>
        <p:spPr>
          <a:xfrm>
            <a:off x="7147702" y="2517913"/>
            <a:ext cx="4634666" cy="2235517"/>
          </a:xfrm>
          <a:prstGeom prst="rect">
            <a:avLst/>
          </a:prstGeom>
        </p:spPr>
      </p:pic>
    </p:spTree>
    <p:extLst>
      <p:ext uri="{BB962C8B-B14F-4D97-AF65-F5344CB8AC3E}">
        <p14:creationId xmlns:p14="http://schemas.microsoft.com/office/powerpoint/2010/main" val="324144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2D3A-BAA1-1AD8-D7C2-9BE4E520CED5}"/>
              </a:ext>
            </a:extLst>
          </p:cNvPr>
          <p:cNvSpPr>
            <a:spLocks noGrp="1"/>
          </p:cNvSpPr>
          <p:nvPr>
            <p:ph type="title"/>
          </p:nvPr>
        </p:nvSpPr>
        <p:spPr>
          <a:xfrm>
            <a:off x="944217" y="139839"/>
            <a:ext cx="10515600" cy="541198"/>
          </a:xfrm>
        </p:spPr>
        <p:txBody>
          <a:bodyPr>
            <a:normAutofit fontScale="90000"/>
          </a:bodyPr>
          <a:lstStyle/>
          <a:p>
            <a:r>
              <a:rPr lang="en-US" dirty="0"/>
              <a:t>Solution 4</a:t>
            </a:r>
            <a:endParaRPr lang="en-NG" dirty="0"/>
          </a:p>
        </p:txBody>
      </p:sp>
      <p:sp>
        <p:nvSpPr>
          <p:cNvPr id="3" name="Content Placeholder 2">
            <a:extLst>
              <a:ext uri="{FF2B5EF4-FFF2-40B4-BE49-F238E27FC236}">
                <a16:creationId xmlns:a16="http://schemas.microsoft.com/office/drawing/2014/main" id="{9E0CAC10-F557-C809-96EA-C8038601AE50}"/>
              </a:ext>
            </a:extLst>
          </p:cNvPr>
          <p:cNvSpPr>
            <a:spLocks noGrp="1"/>
          </p:cNvSpPr>
          <p:nvPr>
            <p:ph idx="1"/>
          </p:nvPr>
        </p:nvSpPr>
        <p:spPr>
          <a:xfrm>
            <a:off x="66263" y="681037"/>
            <a:ext cx="12072729" cy="5495927"/>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Let F</a:t>
            </a:r>
            <a:r>
              <a:rPr lang="en-US" sz="2400" baseline="-25000" dirty="0">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 be the force of repulsion exerted by the charge at A on the charge at B and F</a:t>
            </a:r>
            <a:r>
              <a:rPr lang="en-US" sz="2400" baseline="-25000" dirty="0">
                <a:latin typeface="Times New Roman" panose="02020603050405020304" pitchFamily="18" charset="0"/>
                <a:cs typeface="Times New Roman" panose="02020603050405020304" pitchFamily="18" charset="0"/>
              </a:rPr>
              <a:t>BC</a:t>
            </a:r>
            <a:r>
              <a:rPr lang="en-US" sz="2400" dirty="0">
                <a:latin typeface="Times New Roman" panose="02020603050405020304" pitchFamily="18" charset="0"/>
                <a:cs typeface="Times New Roman" panose="02020603050405020304" pitchFamily="18" charset="0"/>
              </a:rPr>
              <a:t> be the force exerted by the charge at point C on the charge at point B. The diagram below shows the direction of these two forces. We first use Coulomb's law (F = k q1 q2 / r</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to find the magnitude of these two forces</a:t>
            </a:r>
          </a:p>
          <a:p>
            <a:r>
              <a:rPr lang="en-US" sz="2400" dirty="0">
                <a:latin typeface="Times New Roman" panose="02020603050405020304" pitchFamily="18" charset="0"/>
                <a:cs typeface="Times New Roman" panose="02020603050405020304" pitchFamily="18" charset="0"/>
              </a:rPr>
              <a:t>|F</a:t>
            </a:r>
            <a:r>
              <a:rPr lang="en-US" sz="2400" baseline="-25000" dirty="0">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 = k (7 × 10</a:t>
            </a:r>
            <a:r>
              <a:rPr lang="en-US" sz="2400" baseline="30000" dirty="0">
                <a:latin typeface="Times New Roman" panose="02020603050405020304" pitchFamily="18" charset="0"/>
                <a:cs typeface="Times New Roman" panose="02020603050405020304" pitchFamily="18" charset="0"/>
              </a:rPr>
              <a:t>-6</a:t>
            </a:r>
            <a:r>
              <a:rPr lang="en-US" sz="2400" dirty="0">
                <a:latin typeface="Times New Roman" panose="02020603050405020304" pitchFamily="18" charset="0"/>
                <a:cs typeface="Times New Roman" panose="02020603050405020304" pitchFamily="18" charset="0"/>
              </a:rPr>
              <a:t>)((2× 10</a:t>
            </a:r>
            <a:r>
              <a:rPr lang="en-US" sz="2400" baseline="30000" dirty="0">
                <a:latin typeface="Times New Roman" panose="02020603050405020304" pitchFamily="18" charset="0"/>
                <a:cs typeface="Times New Roman" panose="02020603050405020304" pitchFamily="18" charset="0"/>
              </a:rPr>
              <a:t>-6</a:t>
            </a:r>
            <a:r>
              <a:rPr lang="en-US" sz="2400" dirty="0">
                <a:latin typeface="Times New Roman" panose="02020603050405020304" pitchFamily="18" charset="0"/>
                <a:cs typeface="Times New Roman" panose="02020603050405020304" pitchFamily="18" charset="0"/>
              </a:rPr>
              <a:t>) / (4 × 10</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14 × 10</a:t>
            </a:r>
            <a:r>
              <a:rPr lang="en-US" sz="2400" baseline="30000" dirty="0">
                <a:latin typeface="Times New Roman" panose="02020603050405020304" pitchFamily="18" charset="0"/>
                <a:cs typeface="Times New Roman" panose="02020603050405020304" pitchFamily="18" charset="0"/>
              </a:rPr>
              <a:t>-12</a:t>
            </a:r>
            <a:r>
              <a:rPr lang="en-US" sz="2400" dirty="0">
                <a:latin typeface="Times New Roman" panose="02020603050405020304" pitchFamily="18" charset="0"/>
                <a:cs typeface="Times New Roman" panose="02020603050405020304" pitchFamily="18" charset="0"/>
              </a:rPr>
              <a:t> k / (16 × 10</a:t>
            </a:r>
            <a:r>
              <a:rPr lang="en-US" sz="2400" baseline="300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 0.875 k × 10</a:t>
            </a:r>
            <a:r>
              <a:rPr lang="en-US" sz="2400" baseline="30000" dirty="0">
                <a:latin typeface="Times New Roman" panose="02020603050405020304" pitchFamily="18" charset="0"/>
                <a:cs typeface="Times New Roman" panose="02020603050405020304" pitchFamily="18" charset="0"/>
              </a:rPr>
              <a:t>-8</a:t>
            </a:r>
          </a:p>
          <a:p>
            <a:r>
              <a:rPr lang="en-US" sz="2400" dirty="0">
                <a:latin typeface="Times New Roman" panose="02020603050405020304" pitchFamily="18" charset="0"/>
                <a:cs typeface="Times New Roman" panose="02020603050405020304" pitchFamily="18" charset="0"/>
              </a:rPr>
              <a:t>|F</a:t>
            </a:r>
            <a:r>
              <a:rPr lang="en-US" sz="2400" baseline="-25000" dirty="0">
                <a:latin typeface="Times New Roman" panose="02020603050405020304" pitchFamily="18" charset="0"/>
                <a:cs typeface="Times New Roman" panose="02020603050405020304" pitchFamily="18" charset="0"/>
              </a:rPr>
              <a:t>BC</a:t>
            </a:r>
            <a:r>
              <a:rPr lang="en-US" sz="2400" dirty="0">
                <a:latin typeface="Times New Roman" panose="02020603050405020304" pitchFamily="18" charset="0"/>
                <a:cs typeface="Times New Roman" panose="02020603050405020304" pitchFamily="18" charset="0"/>
              </a:rPr>
              <a:t>| = k (2× 10</a:t>
            </a:r>
            <a:r>
              <a:rPr lang="en-US" sz="2400" baseline="30000" dirty="0">
                <a:latin typeface="Times New Roman" panose="02020603050405020304" pitchFamily="18" charset="0"/>
                <a:cs typeface="Times New Roman" panose="02020603050405020304" pitchFamily="18" charset="0"/>
              </a:rPr>
              <a:t>-6</a:t>
            </a:r>
            <a:r>
              <a:rPr lang="en-US" sz="2400" dirty="0">
                <a:latin typeface="Times New Roman" panose="02020603050405020304" pitchFamily="18" charset="0"/>
                <a:cs typeface="Times New Roman" panose="02020603050405020304" pitchFamily="18" charset="0"/>
              </a:rPr>
              <a:t>)(2× 10</a:t>
            </a:r>
            <a:r>
              <a:rPr lang="en-US" sz="2400" baseline="30000" dirty="0">
                <a:latin typeface="Times New Roman" panose="02020603050405020304" pitchFamily="18" charset="0"/>
                <a:cs typeface="Times New Roman" panose="02020603050405020304" pitchFamily="18" charset="0"/>
              </a:rPr>
              <a:t>-6</a:t>
            </a:r>
            <a:r>
              <a:rPr lang="en-US" sz="2400" dirty="0">
                <a:latin typeface="Times New Roman" panose="02020603050405020304" pitchFamily="18" charset="0"/>
                <a:cs typeface="Times New Roman" panose="02020603050405020304" pitchFamily="18" charset="0"/>
              </a:rPr>
              <a:t>) / (2 × 10</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k × 10</a:t>
            </a:r>
            <a:r>
              <a:rPr lang="en-US" sz="2400" baseline="30000" dirty="0">
                <a:latin typeface="Times New Roman" panose="02020603050405020304" pitchFamily="18" charset="0"/>
                <a:cs typeface="Times New Roman" panose="02020603050405020304" pitchFamily="18" charset="0"/>
              </a:rPr>
              <a:t>-8</a:t>
            </a:r>
          </a:p>
          <a:p>
            <a:r>
              <a:rPr lang="en-US" sz="2400" dirty="0">
                <a:latin typeface="Times New Roman" panose="02020603050405020304" pitchFamily="18" charset="0"/>
                <a:cs typeface="Times New Roman" panose="02020603050405020304" pitchFamily="18" charset="0"/>
              </a:rPr>
              <a:t>We now use </a:t>
            </a:r>
            <a:r>
              <a:rPr lang="en-US" sz="2400" dirty="0" err="1">
                <a:latin typeface="Times New Roman" panose="02020603050405020304" pitchFamily="18" charset="0"/>
                <a:cs typeface="Times New Roman" panose="02020603050405020304" pitchFamily="18" charset="0"/>
              </a:rPr>
              <a:t>Pythagora's</a:t>
            </a:r>
            <a:r>
              <a:rPr lang="en-US" sz="2400" dirty="0">
                <a:latin typeface="Times New Roman" panose="02020603050405020304" pitchFamily="18" charset="0"/>
                <a:cs typeface="Times New Roman" panose="02020603050405020304" pitchFamily="18" charset="0"/>
              </a:rPr>
              <a:t> theorem to find the magnitude of the resultant force F = F</a:t>
            </a:r>
            <a:r>
              <a:rPr lang="en-US" sz="2400" baseline="-25000" dirty="0">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 + F</a:t>
            </a:r>
            <a:r>
              <a:rPr lang="en-US" sz="2400" baseline="-25000" dirty="0">
                <a:latin typeface="Times New Roman" panose="02020603050405020304" pitchFamily="18" charset="0"/>
                <a:cs typeface="Times New Roman" panose="02020603050405020304" pitchFamily="18" charset="0"/>
              </a:rPr>
              <a:t>BC</a:t>
            </a:r>
            <a:r>
              <a:rPr lang="en-US" sz="2400" dirty="0">
                <a:latin typeface="Times New Roman" panose="02020603050405020304" pitchFamily="18" charset="0"/>
                <a:cs typeface="Times New Roman" panose="02020603050405020304" pitchFamily="18" charset="0"/>
              </a:rPr>
              <a:t> (a vector sum)</a:t>
            </a:r>
          </a:p>
          <a:p>
            <a:r>
              <a:rPr lang="en-US" sz="2400" dirty="0">
                <a:latin typeface="Times New Roman" panose="02020603050405020304" pitchFamily="18" charset="0"/>
                <a:cs typeface="Times New Roman" panose="02020603050405020304" pitchFamily="18" charset="0"/>
              </a:rPr>
              <a:t>|F| = √(|F</a:t>
            </a:r>
            <a:r>
              <a:rPr lang="en-US" sz="2400" baseline="-25000" dirty="0">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|F</a:t>
            </a:r>
            <a:r>
              <a:rPr lang="en-US" sz="2400" baseline="-25000" dirty="0">
                <a:latin typeface="Times New Roman" panose="02020603050405020304" pitchFamily="18" charset="0"/>
                <a:cs typeface="Times New Roman" panose="02020603050405020304" pitchFamily="18" charset="0"/>
              </a:rPr>
              <a:t>BC</a:t>
            </a:r>
            <a:r>
              <a:rPr lang="en-US" sz="2400" dirty="0">
                <a:latin typeface="Times New Roman" panose="02020603050405020304" pitchFamily="18" charset="0"/>
                <a:cs typeface="Times New Roman" panose="02020603050405020304" pitchFamily="18" charset="0"/>
              </a:rPr>
              <a:t>|</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k × 10</a:t>
            </a:r>
            <a:r>
              <a:rPr lang="en-US" sz="2400" baseline="30000" dirty="0">
                <a:latin typeface="Times New Roman" panose="02020603050405020304" pitchFamily="18" charset="0"/>
                <a:cs typeface="Times New Roman" panose="02020603050405020304" pitchFamily="18" charset="0"/>
              </a:rPr>
              <a:t>-8</a:t>
            </a:r>
            <a:r>
              <a:rPr lang="en-US" sz="2400" dirty="0">
                <a:latin typeface="Times New Roman" panose="02020603050405020304" pitchFamily="18" charset="0"/>
                <a:cs typeface="Times New Roman" panose="02020603050405020304" pitchFamily="18" charset="0"/>
              </a:rPr>
              <a:t> √( 0.875</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+ 1</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 9.00 × 10</a:t>
            </a:r>
            <a:r>
              <a:rPr lang="en-US" sz="2400" baseline="30000" dirty="0">
                <a:latin typeface="Times New Roman" panose="02020603050405020304" pitchFamily="18" charset="0"/>
                <a:cs typeface="Times New Roman" panose="02020603050405020304" pitchFamily="18" charset="0"/>
              </a:rPr>
              <a:t>9</a:t>
            </a:r>
            <a:r>
              <a:rPr lang="en-US" sz="2400" dirty="0">
                <a:latin typeface="Times New Roman" panose="02020603050405020304" pitchFamily="18" charset="0"/>
                <a:cs typeface="Times New Roman" panose="02020603050405020304" pitchFamily="18" charset="0"/>
              </a:rPr>
              <a:t> × 10</a:t>
            </a:r>
            <a:r>
              <a:rPr lang="en-US" sz="2400" baseline="30000" dirty="0">
                <a:latin typeface="Times New Roman" panose="02020603050405020304" pitchFamily="18" charset="0"/>
                <a:cs typeface="Times New Roman" panose="02020603050405020304" pitchFamily="18" charset="0"/>
              </a:rPr>
              <a:t>-8</a:t>
            </a:r>
            <a:r>
              <a:rPr lang="en-US" sz="2400" dirty="0">
                <a:latin typeface="Times New Roman" panose="02020603050405020304" pitchFamily="18" charset="0"/>
                <a:cs typeface="Times New Roman" panose="02020603050405020304" pitchFamily="18" charset="0"/>
              </a:rPr>
              <a:t> √( 0.875</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+ 1</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 1.20 × 10</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N</a:t>
            </a:r>
          </a:p>
          <a:p>
            <a:r>
              <a:rPr lang="en-US" sz="2400" dirty="0">
                <a:latin typeface="Times New Roman" panose="02020603050405020304" pitchFamily="18" charset="0"/>
                <a:cs typeface="Times New Roman" panose="02020603050405020304" pitchFamily="18" charset="0"/>
              </a:rPr>
              <a:t>θ = arctan(|F</a:t>
            </a:r>
            <a:r>
              <a:rPr lang="en-US" sz="2400" baseline="-25000" dirty="0">
                <a:latin typeface="Times New Roman" panose="02020603050405020304" pitchFamily="18" charset="0"/>
                <a:cs typeface="Times New Roman" panose="02020603050405020304" pitchFamily="18" charset="0"/>
              </a:rPr>
              <a:t>BC</a:t>
            </a:r>
            <a:r>
              <a:rPr lang="en-US" sz="2400" dirty="0">
                <a:latin typeface="Times New Roman" panose="02020603050405020304" pitchFamily="18" charset="0"/>
                <a:cs typeface="Times New Roman" panose="02020603050405020304" pitchFamily="18" charset="0"/>
              </a:rPr>
              <a:t>|/ |F</a:t>
            </a:r>
            <a:r>
              <a:rPr lang="en-US" sz="2400" baseline="-25000" dirty="0">
                <a:latin typeface="Times New Roman" panose="02020603050405020304" pitchFamily="18" charset="0"/>
                <a:cs typeface="Times New Roman" panose="02020603050405020304" pitchFamily="18" charset="0"/>
              </a:rPr>
              <a:t>BA</a:t>
            </a:r>
            <a:r>
              <a:rPr lang="en-US" sz="2400" dirty="0">
                <a:latin typeface="Times New Roman" panose="02020603050405020304" pitchFamily="18" charset="0"/>
                <a:cs typeface="Times New Roman" panose="02020603050405020304" pitchFamily="18" charset="0"/>
              </a:rPr>
              <a:t>| ) = arctan( k × 10</a:t>
            </a:r>
            <a:r>
              <a:rPr lang="en-US" sz="2400" baseline="30000" dirty="0">
                <a:latin typeface="Times New Roman" panose="02020603050405020304" pitchFamily="18" charset="0"/>
                <a:cs typeface="Times New Roman" panose="02020603050405020304" pitchFamily="18" charset="0"/>
              </a:rPr>
              <a:t>-8</a:t>
            </a:r>
            <a:r>
              <a:rPr lang="en-US" sz="2400" dirty="0">
                <a:latin typeface="Times New Roman" panose="02020603050405020304" pitchFamily="18" charset="0"/>
                <a:cs typeface="Times New Roman" panose="02020603050405020304" pitchFamily="18" charset="0"/>
              </a:rPr>
              <a:t> / 0.875 k × 10</a:t>
            </a:r>
            <a:r>
              <a:rPr lang="en-US" sz="2400" baseline="30000" dirty="0">
                <a:latin typeface="Times New Roman" panose="02020603050405020304" pitchFamily="18" charset="0"/>
                <a:cs typeface="Times New Roman" panose="02020603050405020304" pitchFamily="18" charset="0"/>
              </a:rPr>
              <a:t>-8</a:t>
            </a:r>
            <a:r>
              <a:rPr lang="en-US" sz="2400" dirty="0">
                <a:latin typeface="Times New Roman" panose="02020603050405020304" pitchFamily="18" charset="0"/>
                <a:cs typeface="Times New Roman" panose="02020603050405020304" pitchFamily="18" charset="0"/>
              </a:rPr>
              <a:t>) = 48.8°</a:t>
            </a:r>
          </a:p>
          <a:p>
            <a:r>
              <a:rPr lang="en-US" sz="2400" dirty="0">
                <a:latin typeface="Times New Roman" panose="02020603050405020304" pitchFamily="18" charset="0"/>
                <a:cs typeface="Times New Roman" panose="02020603050405020304" pitchFamily="18" charset="0"/>
              </a:rPr>
              <a:t>solution of charges at vertices of right triangle</a:t>
            </a:r>
            <a:endParaRPr lang="en-NG"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6095900-EF7F-F289-7E5A-C3A52125E6A4}"/>
              </a:ext>
            </a:extLst>
          </p:cNvPr>
          <p:cNvPicPr>
            <a:picLocks noChangeAspect="1"/>
          </p:cNvPicPr>
          <p:nvPr/>
        </p:nvPicPr>
        <p:blipFill rotWithShape="1">
          <a:blip r:embed="rId2"/>
          <a:srcRect t="7386" r="4137"/>
          <a:stretch/>
        </p:blipFill>
        <p:spPr>
          <a:xfrm>
            <a:off x="7437988" y="5035826"/>
            <a:ext cx="4101696" cy="1822173"/>
          </a:xfrm>
          <a:prstGeom prst="rect">
            <a:avLst/>
          </a:prstGeom>
        </p:spPr>
      </p:pic>
    </p:spTree>
    <p:extLst>
      <p:ext uri="{BB962C8B-B14F-4D97-AF65-F5344CB8AC3E}">
        <p14:creationId xmlns:p14="http://schemas.microsoft.com/office/powerpoint/2010/main" val="13570291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E9188-1CE9-49A7-78C1-C75C0475D0F0}"/>
              </a:ext>
            </a:extLst>
          </p:cNvPr>
          <p:cNvSpPr>
            <a:spLocks noGrp="1"/>
          </p:cNvSpPr>
          <p:nvPr>
            <p:ph type="title"/>
          </p:nvPr>
        </p:nvSpPr>
        <p:spPr>
          <a:xfrm>
            <a:off x="3624943" y="49216"/>
            <a:ext cx="4183743" cy="761310"/>
          </a:xfrm>
        </p:spPr>
        <p:txBody>
          <a:bodyPr>
            <a:noAutofit/>
          </a:bodyPr>
          <a:lstStyle/>
          <a:p>
            <a:r>
              <a:rPr lang="en-US" sz="5400" dirty="0">
                <a:latin typeface="Algerian" panose="04020705040A02060702" pitchFamily="82" charset="0"/>
              </a:rPr>
              <a:t>Example 5</a:t>
            </a:r>
            <a:endParaRPr lang="en-NG" sz="5400" dirty="0">
              <a:latin typeface="Algerian" panose="04020705040A02060702" pitchFamily="82" charset="0"/>
            </a:endParaRPr>
          </a:p>
        </p:txBody>
      </p:sp>
      <p:sp>
        <p:nvSpPr>
          <p:cNvPr id="3" name="Content Placeholder 2">
            <a:extLst>
              <a:ext uri="{FF2B5EF4-FFF2-40B4-BE49-F238E27FC236}">
                <a16:creationId xmlns:a16="http://schemas.microsoft.com/office/drawing/2014/main" id="{393F7629-1E18-7B22-E70A-8F3555438ACB}"/>
              </a:ext>
            </a:extLst>
          </p:cNvPr>
          <p:cNvSpPr>
            <a:spLocks noGrp="1"/>
          </p:cNvSpPr>
          <p:nvPr>
            <p:ph idx="1"/>
          </p:nvPr>
        </p:nvSpPr>
        <p:spPr>
          <a:xfrm>
            <a:off x="304801" y="810526"/>
            <a:ext cx="11640456" cy="5366438"/>
          </a:xfrm>
        </p:spPr>
        <p:txBody>
          <a:bodyPr/>
          <a:lstStyle/>
          <a:p>
            <a:pPr marL="0" indent="0" algn="just">
              <a:buNone/>
            </a:pPr>
            <a:r>
              <a:rPr lang="en-US" dirty="0">
                <a:latin typeface="Times New Roman" panose="02020603050405020304" pitchFamily="18" charset="0"/>
                <a:cs typeface="Times New Roman" panose="02020603050405020304" pitchFamily="18" charset="0"/>
              </a:rPr>
              <a:t>Four charges are arranged in a square with sides of length 2.5 cm. The two charges in the top right and bottom left corners are +3.0 x 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C. The charges in the other two corners are -3.0 x 10</a:t>
            </a:r>
            <a:r>
              <a:rPr lang="en-US" baseline="30000" dirty="0">
                <a:latin typeface="Times New Roman" panose="02020603050405020304" pitchFamily="18" charset="0"/>
                <a:cs typeface="Times New Roman" panose="02020603050405020304" pitchFamily="18" charset="0"/>
              </a:rPr>
              <a:t>-6 </a:t>
            </a:r>
            <a:r>
              <a:rPr lang="en-US" dirty="0">
                <a:latin typeface="Times New Roman" panose="02020603050405020304" pitchFamily="18" charset="0"/>
                <a:cs typeface="Times New Roman" panose="02020603050405020304" pitchFamily="18" charset="0"/>
              </a:rPr>
              <a:t>C. What is the net force exerted on the charge in the top right corner by the other three charges? </a:t>
            </a:r>
            <a:endParaRPr lang="en-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A0616E-BCA4-5D6C-8E38-179C50C3341E}"/>
              </a:ext>
            </a:extLst>
          </p:cNvPr>
          <p:cNvPicPr>
            <a:picLocks noChangeAspect="1"/>
          </p:cNvPicPr>
          <p:nvPr/>
        </p:nvPicPr>
        <p:blipFill>
          <a:blip r:embed="rId2"/>
          <a:stretch>
            <a:fillRect/>
          </a:stretch>
        </p:blipFill>
        <p:spPr>
          <a:xfrm>
            <a:off x="246743" y="2596532"/>
            <a:ext cx="6119099" cy="4094554"/>
          </a:xfrm>
          <a:prstGeom prst="rect">
            <a:avLst/>
          </a:prstGeom>
        </p:spPr>
      </p:pic>
      <p:pic>
        <p:nvPicPr>
          <p:cNvPr id="5" name="Picture 4">
            <a:extLst>
              <a:ext uri="{FF2B5EF4-FFF2-40B4-BE49-F238E27FC236}">
                <a16:creationId xmlns:a16="http://schemas.microsoft.com/office/drawing/2014/main" id="{249F61CB-618F-101F-B3B1-B7DD44C46522}"/>
              </a:ext>
            </a:extLst>
          </p:cNvPr>
          <p:cNvPicPr>
            <a:picLocks noChangeAspect="1"/>
          </p:cNvPicPr>
          <p:nvPr/>
        </p:nvPicPr>
        <p:blipFill>
          <a:blip r:embed="rId3"/>
          <a:stretch>
            <a:fillRect/>
          </a:stretch>
        </p:blipFill>
        <p:spPr>
          <a:xfrm>
            <a:off x="7808686" y="2596532"/>
            <a:ext cx="3299791" cy="3195950"/>
          </a:xfrm>
          <a:prstGeom prst="rect">
            <a:avLst/>
          </a:prstGeom>
        </p:spPr>
      </p:pic>
    </p:spTree>
    <p:extLst>
      <p:ext uri="{BB962C8B-B14F-4D97-AF65-F5344CB8AC3E}">
        <p14:creationId xmlns:p14="http://schemas.microsoft.com/office/powerpoint/2010/main" val="176590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0C3B6-39A4-2DC1-338B-84578F29157D}"/>
              </a:ext>
            </a:extLst>
          </p:cNvPr>
          <p:cNvSpPr>
            <a:spLocks noGrp="1"/>
          </p:cNvSpPr>
          <p:nvPr>
            <p:ph type="title"/>
          </p:nvPr>
        </p:nvSpPr>
        <p:spPr>
          <a:xfrm>
            <a:off x="679174" y="139838"/>
            <a:ext cx="10515600" cy="668545"/>
          </a:xfrm>
        </p:spPr>
        <p:txBody>
          <a:bodyPr>
            <a:normAutofit fontScale="90000"/>
          </a:bodyPr>
          <a:lstStyle/>
          <a:p>
            <a:r>
              <a:rPr lang="en-US" dirty="0"/>
              <a:t>Solution 5</a:t>
            </a:r>
            <a:endParaRPr lang="en-NG" dirty="0"/>
          </a:p>
        </p:txBody>
      </p:sp>
      <p:sp>
        <p:nvSpPr>
          <p:cNvPr id="3" name="Content Placeholder 2">
            <a:extLst>
              <a:ext uri="{FF2B5EF4-FFF2-40B4-BE49-F238E27FC236}">
                <a16:creationId xmlns:a16="http://schemas.microsoft.com/office/drawing/2014/main" id="{7D727995-81B9-6AA7-5D91-F02E5A7ECA16}"/>
              </a:ext>
            </a:extLst>
          </p:cNvPr>
          <p:cNvSpPr>
            <a:spLocks noGrp="1"/>
          </p:cNvSpPr>
          <p:nvPr>
            <p:ph idx="1"/>
          </p:nvPr>
        </p:nvSpPr>
        <p:spPr>
          <a:xfrm>
            <a:off x="119271" y="662609"/>
            <a:ext cx="11860694" cy="5514354"/>
          </a:xfrm>
        </p:spPr>
        <p:txBody>
          <a:bodyPr>
            <a:normAutofit/>
          </a:bodyPr>
          <a:lstStyle/>
          <a:p>
            <a:pPr marL="0" indent="0">
              <a:buNone/>
            </a:pPr>
            <a:r>
              <a:rPr lang="en-US" sz="2000" dirty="0"/>
              <a:t>To solve any problem like this, the simplest thing to do is to draw a good diagram showing the forces acting on the charge. You should also let your diagram handle your signs for you. Consider the forces exerted on the charge in the top right by the other three: </a:t>
            </a:r>
            <a:endParaRPr lang="en-NG" sz="2000" dirty="0"/>
          </a:p>
        </p:txBody>
      </p:sp>
      <p:pic>
        <p:nvPicPr>
          <p:cNvPr id="4" name="Picture 3">
            <a:extLst>
              <a:ext uri="{FF2B5EF4-FFF2-40B4-BE49-F238E27FC236}">
                <a16:creationId xmlns:a16="http://schemas.microsoft.com/office/drawing/2014/main" id="{17910C29-E72E-E5E3-14FB-B61EB5F8FEDD}"/>
              </a:ext>
            </a:extLst>
          </p:cNvPr>
          <p:cNvPicPr>
            <a:picLocks noChangeAspect="1"/>
          </p:cNvPicPr>
          <p:nvPr/>
        </p:nvPicPr>
        <p:blipFill>
          <a:blip r:embed="rId2"/>
          <a:stretch>
            <a:fillRect/>
          </a:stretch>
        </p:blipFill>
        <p:spPr>
          <a:xfrm>
            <a:off x="3776870" y="1926638"/>
            <a:ext cx="8203095" cy="4076597"/>
          </a:xfrm>
          <a:prstGeom prst="rect">
            <a:avLst/>
          </a:prstGeom>
        </p:spPr>
      </p:pic>
      <p:pic>
        <p:nvPicPr>
          <p:cNvPr id="5" name="Picture 4">
            <a:extLst>
              <a:ext uri="{FF2B5EF4-FFF2-40B4-BE49-F238E27FC236}">
                <a16:creationId xmlns:a16="http://schemas.microsoft.com/office/drawing/2014/main" id="{A3E5B490-7FD4-CEFF-5400-0A8075C790F2}"/>
              </a:ext>
            </a:extLst>
          </p:cNvPr>
          <p:cNvPicPr>
            <a:picLocks noChangeAspect="1"/>
          </p:cNvPicPr>
          <p:nvPr/>
        </p:nvPicPr>
        <p:blipFill>
          <a:blip r:embed="rId3"/>
          <a:stretch>
            <a:fillRect/>
          </a:stretch>
        </p:blipFill>
        <p:spPr>
          <a:xfrm>
            <a:off x="298174" y="2058433"/>
            <a:ext cx="3299791" cy="3195950"/>
          </a:xfrm>
          <a:prstGeom prst="rect">
            <a:avLst/>
          </a:prstGeom>
        </p:spPr>
      </p:pic>
    </p:spTree>
    <p:extLst>
      <p:ext uri="{BB962C8B-B14F-4D97-AF65-F5344CB8AC3E}">
        <p14:creationId xmlns:p14="http://schemas.microsoft.com/office/powerpoint/2010/main" val="3960169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EF39-191B-164F-539E-34D65B099C61}"/>
              </a:ext>
            </a:extLst>
          </p:cNvPr>
          <p:cNvSpPr>
            <a:spLocks noGrp="1"/>
          </p:cNvSpPr>
          <p:nvPr>
            <p:ph type="title"/>
          </p:nvPr>
        </p:nvSpPr>
        <p:spPr>
          <a:xfrm>
            <a:off x="3857171" y="103361"/>
            <a:ext cx="4343400" cy="575779"/>
          </a:xfrm>
        </p:spPr>
        <p:txBody>
          <a:bodyPr>
            <a:noAutofit/>
          </a:bodyPr>
          <a:lstStyle/>
          <a:p>
            <a:r>
              <a:rPr lang="en-US" sz="4800" dirty="0">
                <a:latin typeface="Algerian" panose="04020705040A02060702" pitchFamily="82" charset="0"/>
              </a:rPr>
              <a:t>Example 7</a:t>
            </a:r>
            <a:endParaRPr lang="en-NG" sz="4800" dirty="0">
              <a:latin typeface="Algerian" panose="04020705040A02060702" pitchFamily="82" charset="0"/>
            </a:endParaRPr>
          </a:p>
        </p:txBody>
      </p:sp>
      <p:sp>
        <p:nvSpPr>
          <p:cNvPr id="3" name="Content Placeholder 2">
            <a:extLst>
              <a:ext uri="{FF2B5EF4-FFF2-40B4-BE49-F238E27FC236}">
                <a16:creationId xmlns:a16="http://schemas.microsoft.com/office/drawing/2014/main" id="{3B749022-3E4E-93A5-FDCD-00717B785376}"/>
              </a:ext>
            </a:extLst>
          </p:cNvPr>
          <p:cNvSpPr>
            <a:spLocks noGrp="1"/>
          </p:cNvSpPr>
          <p:nvPr>
            <p:ph idx="1"/>
          </p:nvPr>
        </p:nvSpPr>
        <p:spPr>
          <a:xfrm>
            <a:off x="238538" y="821635"/>
            <a:ext cx="11529391" cy="5261597"/>
          </a:xfrm>
        </p:spPr>
        <p:txBody>
          <a:bodyPr/>
          <a:lstStyle/>
          <a:p>
            <a:pPr marL="0" indent="0">
              <a:buNone/>
            </a:pPr>
            <a:r>
              <a:rPr lang="en-US" dirty="0">
                <a:latin typeface="Times New Roman" panose="02020603050405020304" pitchFamily="18" charset="0"/>
                <a:cs typeface="Times New Roman" panose="02020603050405020304" pitchFamily="18" charset="0"/>
              </a:rPr>
              <a:t>Three equal point charges are placed at the vertices of an equilateral triangle of side a. What is the magnitude and direction of the Coulomb force on the charge q at the point AA? (q=10μC and </a:t>
            </a:r>
            <a:endParaRPr lang="en-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96CE5A2-D506-152D-56ED-B09DCC83B76C}"/>
              </a:ext>
            </a:extLst>
          </p:cNvPr>
          <p:cNvPicPr>
            <a:picLocks noChangeAspect="1"/>
          </p:cNvPicPr>
          <p:nvPr/>
        </p:nvPicPr>
        <p:blipFill>
          <a:blip r:embed="rId2"/>
          <a:stretch>
            <a:fillRect/>
          </a:stretch>
        </p:blipFill>
        <p:spPr>
          <a:xfrm>
            <a:off x="5045291" y="1566290"/>
            <a:ext cx="1524000" cy="583660"/>
          </a:xfrm>
          <a:prstGeom prst="rect">
            <a:avLst/>
          </a:prstGeom>
        </p:spPr>
      </p:pic>
      <p:pic>
        <p:nvPicPr>
          <p:cNvPr id="8" name="Picture 7">
            <a:extLst>
              <a:ext uri="{FF2B5EF4-FFF2-40B4-BE49-F238E27FC236}">
                <a16:creationId xmlns:a16="http://schemas.microsoft.com/office/drawing/2014/main" id="{9E615461-B33C-4354-D2E0-8456EDFE63D7}"/>
              </a:ext>
            </a:extLst>
          </p:cNvPr>
          <p:cNvPicPr>
            <a:picLocks noChangeAspect="1"/>
          </p:cNvPicPr>
          <p:nvPr/>
        </p:nvPicPr>
        <p:blipFill>
          <a:blip r:embed="rId3"/>
          <a:stretch>
            <a:fillRect/>
          </a:stretch>
        </p:blipFill>
        <p:spPr>
          <a:xfrm>
            <a:off x="669722" y="2149950"/>
            <a:ext cx="3944385" cy="3433935"/>
          </a:xfrm>
          <a:prstGeom prst="rect">
            <a:avLst/>
          </a:prstGeom>
        </p:spPr>
      </p:pic>
    </p:spTree>
    <p:extLst>
      <p:ext uri="{BB962C8B-B14F-4D97-AF65-F5344CB8AC3E}">
        <p14:creationId xmlns:p14="http://schemas.microsoft.com/office/powerpoint/2010/main" val="26715899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F44BF-6E68-E5DF-574A-31AC75D325AC}"/>
              </a:ext>
            </a:extLst>
          </p:cNvPr>
          <p:cNvSpPr>
            <a:spLocks noGrp="1"/>
          </p:cNvSpPr>
          <p:nvPr>
            <p:ph type="title"/>
          </p:nvPr>
        </p:nvSpPr>
        <p:spPr>
          <a:xfrm>
            <a:off x="3683000" y="156694"/>
            <a:ext cx="3443514" cy="681797"/>
          </a:xfrm>
        </p:spPr>
        <p:txBody>
          <a:bodyPr>
            <a:noAutofit/>
          </a:bodyPr>
          <a:lstStyle/>
          <a:p>
            <a:r>
              <a:rPr lang="en-US" sz="4800" dirty="0">
                <a:latin typeface="Algerian" panose="04020705040A02060702" pitchFamily="82" charset="0"/>
              </a:rPr>
              <a:t>Solution 7</a:t>
            </a:r>
            <a:endParaRPr lang="en-NG" sz="4800" dirty="0">
              <a:latin typeface="Algerian" panose="04020705040A02060702" pitchFamily="82" charset="0"/>
            </a:endParaRPr>
          </a:p>
        </p:txBody>
      </p:sp>
      <p:pic>
        <p:nvPicPr>
          <p:cNvPr id="5" name="Picture 4">
            <a:extLst>
              <a:ext uri="{FF2B5EF4-FFF2-40B4-BE49-F238E27FC236}">
                <a16:creationId xmlns:a16="http://schemas.microsoft.com/office/drawing/2014/main" id="{BDA685B3-DD9B-0104-A7BC-68C5A9E18ACB}"/>
              </a:ext>
            </a:extLst>
          </p:cNvPr>
          <p:cNvPicPr>
            <a:picLocks noChangeAspect="1"/>
          </p:cNvPicPr>
          <p:nvPr/>
        </p:nvPicPr>
        <p:blipFill>
          <a:blip r:embed="rId2"/>
          <a:stretch>
            <a:fillRect/>
          </a:stretch>
        </p:blipFill>
        <p:spPr>
          <a:xfrm>
            <a:off x="388455" y="1122500"/>
            <a:ext cx="5707546" cy="4144326"/>
          </a:xfrm>
          <a:prstGeom prst="rect">
            <a:avLst/>
          </a:prstGeom>
        </p:spPr>
      </p:pic>
      <p:sp>
        <p:nvSpPr>
          <p:cNvPr id="7" name="TextBox 6">
            <a:extLst>
              <a:ext uri="{FF2B5EF4-FFF2-40B4-BE49-F238E27FC236}">
                <a16:creationId xmlns:a16="http://schemas.microsoft.com/office/drawing/2014/main" id="{30FC7F1A-BB93-93BD-6849-67719ECA0481}"/>
              </a:ext>
            </a:extLst>
          </p:cNvPr>
          <p:cNvSpPr txBox="1"/>
          <p:nvPr/>
        </p:nvSpPr>
        <p:spPr>
          <a:xfrm>
            <a:off x="1630016" y="5550834"/>
            <a:ext cx="8454887" cy="369332"/>
          </a:xfrm>
          <a:prstGeom prst="rect">
            <a:avLst/>
          </a:prstGeom>
          <a:noFill/>
        </p:spPr>
        <p:txBody>
          <a:bodyPr wrap="square">
            <a:spAutoFit/>
          </a:bodyPr>
          <a:lstStyle/>
          <a:p>
            <a:r>
              <a:rPr lang="en-US" b="1" dirty="0"/>
              <a:t>Since the distance to </a:t>
            </a:r>
            <a:r>
              <a:rPr lang="en-US" b="1" dirty="0" err="1"/>
              <a:t>q</a:t>
            </a:r>
            <a:r>
              <a:rPr lang="en-US" b="1" baseline="-25000" dirty="0" err="1"/>
              <a:t>A</a:t>
            </a:r>
            <a:r>
              <a:rPr lang="en-US" b="1" dirty="0"/>
              <a:t>​ and the magnitudes of </a:t>
            </a:r>
            <a:r>
              <a:rPr lang="en-US" b="1" dirty="0" err="1"/>
              <a:t>q</a:t>
            </a:r>
            <a:r>
              <a:rPr lang="en-US" b="1" baseline="-25000" dirty="0" err="1"/>
              <a:t>B</a:t>
            </a:r>
            <a:r>
              <a:rPr lang="en-US" b="1" dirty="0"/>
              <a:t> and </a:t>
            </a:r>
            <a:r>
              <a:rPr lang="en-US" b="1" dirty="0" err="1"/>
              <a:t>q</a:t>
            </a:r>
            <a:r>
              <a:rPr lang="en-US" b="1" baseline="-25000" dirty="0" err="1"/>
              <a:t>C</a:t>
            </a:r>
            <a:r>
              <a:rPr lang="en-US" b="1" dirty="0"/>
              <a:t>​ are the same so F</a:t>
            </a:r>
            <a:r>
              <a:rPr lang="en-US" b="1" baseline="-25000" dirty="0"/>
              <a:t>BA</a:t>
            </a:r>
            <a:r>
              <a:rPr lang="en-US" b="1" dirty="0"/>
              <a:t>=F</a:t>
            </a:r>
            <a:r>
              <a:rPr lang="en-US" b="1" baseline="-25000" dirty="0"/>
              <a:t>CA</a:t>
            </a:r>
            <a:r>
              <a:rPr lang="en-US" b="1" dirty="0"/>
              <a:t>=F</a:t>
            </a:r>
            <a:endParaRPr lang="en-NG" b="1" dirty="0"/>
          </a:p>
        </p:txBody>
      </p:sp>
      <p:pic>
        <p:nvPicPr>
          <p:cNvPr id="8" name="Picture 7">
            <a:extLst>
              <a:ext uri="{FF2B5EF4-FFF2-40B4-BE49-F238E27FC236}">
                <a16:creationId xmlns:a16="http://schemas.microsoft.com/office/drawing/2014/main" id="{20291F8C-5DCC-3B59-17A0-25B67D303632}"/>
              </a:ext>
            </a:extLst>
          </p:cNvPr>
          <p:cNvPicPr>
            <a:picLocks noChangeAspect="1"/>
          </p:cNvPicPr>
          <p:nvPr/>
        </p:nvPicPr>
        <p:blipFill>
          <a:blip r:embed="rId3"/>
          <a:stretch>
            <a:fillRect/>
          </a:stretch>
        </p:blipFill>
        <p:spPr>
          <a:xfrm>
            <a:off x="6775307" y="1023642"/>
            <a:ext cx="4578493" cy="4243184"/>
          </a:xfrm>
          <a:prstGeom prst="rect">
            <a:avLst/>
          </a:prstGeom>
        </p:spPr>
      </p:pic>
    </p:spTree>
    <p:extLst>
      <p:ext uri="{BB962C8B-B14F-4D97-AF65-F5344CB8AC3E}">
        <p14:creationId xmlns:p14="http://schemas.microsoft.com/office/powerpoint/2010/main" val="12422603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41144F-99DD-2855-2F12-C47E437BADF5}"/>
              </a:ext>
            </a:extLst>
          </p:cNvPr>
          <p:cNvPicPr>
            <a:picLocks noChangeAspect="1"/>
          </p:cNvPicPr>
          <p:nvPr/>
        </p:nvPicPr>
        <p:blipFill rotWithShape="1">
          <a:blip r:embed="rId2"/>
          <a:srcRect l="1823" t="-50621" r="2280" b="51140"/>
          <a:stretch/>
        </p:blipFill>
        <p:spPr>
          <a:xfrm>
            <a:off x="198783" y="-3356678"/>
            <a:ext cx="11145079" cy="6908261"/>
          </a:xfrm>
          <a:prstGeom prst="rect">
            <a:avLst/>
          </a:prstGeom>
        </p:spPr>
      </p:pic>
      <p:pic>
        <p:nvPicPr>
          <p:cNvPr id="6" name="Picture 5">
            <a:extLst>
              <a:ext uri="{FF2B5EF4-FFF2-40B4-BE49-F238E27FC236}">
                <a16:creationId xmlns:a16="http://schemas.microsoft.com/office/drawing/2014/main" id="{3AC198E8-E5D7-72B5-2428-6CC95CC34F78}"/>
              </a:ext>
            </a:extLst>
          </p:cNvPr>
          <p:cNvPicPr>
            <a:picLocks noChangeAspect="1"/>
          </p:cNvPicPr>
          <p:nvPr/>
        </p:nvPicPr>
        <p:blipFill rotWithShape="1">
          <a:blip r:embed="rId3"/>
          <a:srcRect t="10770" b="10000"/>
          <a:stretch/>
        </p:blipFill>
        <p:spPr>
          <a:xfrm>
            <a:off x="4263888" y="5854624"/>
            <a:ext cx="7679635" cy="887896"/>
          </a:xfrm>
          <a:prstGeom prst="rect">
            <a:avLst/>
          </a:prstGeom>
        </p:spPr>
      </p:pic>
      <p:pic>
        <p:nvPicPr>
          <p:cNvPr id="8" name="Picture 7">
            <a:extLst>
              <a:ext uri="{FF2B5EF4-FFF2-40B4-BE49-F238E27FC236}">
                <a16:creationId xmlns:a16="http://schemas.microsoft.com/office/drawing/2014/main" id="{1BD4A17B-37DC-BDCA-C26A-9EBA9D5DB1C3}"/>
              </a:ext>
            </a:extLst>
          </p:cNvPr>
          <p:cNvPicPr>
            <a:picLocks noChangeAspect="1"/>
          </p:cNvPicPr>
          <p:nvPr/>
        </p:nvPicPr>
        <p:blipFill>
          <a:blip r:embed="rId4"/>
          <a:stretch>
            <a:fillRect/>
          </a:stretch>
        </p:blipFill>
        <p:spPr>
          <a:xfrm>
            <a:off x="848138" y="3429000"/>
            <a:ext cx="3240158" cy="3313520"/>
          </a:xfrm>
          <a:prstGeom prst="rect">
            <a:avLst/>
          </a:prstGeom>
        </p:spPr>
      </p:pic>
    </p:spTree>
    <p:extLst>
      <p:ext uri="{BB962C8B-B14F-4D97-AF65-F5344CB8AC3E}">
        <p14:creationId xmlns:p14="http://schemas.microsoft.com/office/powerpoint/2010/main" val="2794928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345DE-DFB1-4EC6-AB48-E1058B8C3290}"/>
              </a:ext>
            </a:extLst>
          </p:cNvPr>
          <p:cNvSpPr>
            <a:spLocks noGrp="1"/>
          </p:cNvSpPr>
          <p:nvPr>
            <p:ph type="title"/>
          </p:nvPr>
        </p:nvSpPr>
        <p:spPr>
          <a:xfrm>
            <a:off x="3733800" y="102888"/>
            <a:ext cx="4270829" cy="1325563"/>
          </a:xfrm>
        </p:spPr>
        <p:txBody>
          <a:bodyPr>
            <a:normAutofit/>
          </a:bodyPr>
          <a:lstStyle/>
          <a:p>
            <a:r>
              <a:rPr lang="en-US" sz="6000" dirty="0">
                <a:latin typeface="Algerian" panose="04020705040A02060702" pitchFamily="82" charset="0"/>
              </a:rPr>
              <a:t>Exercises</a:t>
            </a:r>
          </a:p>
        </p:txBody>
      </p:sp>
      <p:sp>
        <p:nvSpPr>
          <p:cNvPr id="3" name="Content Placeholder 2">
            <a:extLst>
              <a:ext uri="{FF2B5EF4-FFF2-40B4-BE49-F238E27FC236}">
                <a16:creationId xmlns:a16="http://schemas.microsoft.com/office/drawing/2014/main" id="{83F6D9F1-2D73-4E65-B97C-CF4064D37418}"/>
              </a:ext>
            </a:extLst>
          </p:cNvPr>
          <p:cNvSpPr>
            <a:spLocks noGrp="1"/>
          </p:cNvSpPr>
          <p:nvPr>
            <p:ph idx="1"/>
          </p:nvPr>
        </p:nvSpPr>
        <p:spPr>
          <a:xfrm>
            <a:off x="112485" y="1078211"/>
            <a:ext cx="11934371" cy="4351338"/>
          </a:xfrm>
        </p:spPr>
        <p:txBody>
          <a:bodyPr/>
          <a:lstStyle/>
          <a:p>
            <a:pPr marL="0" indent="0" algn="just">
              <a:buNone/>
            </a:pPr>
            <a:r>
              <a:rPr lang="en-US" dirty="0">
                <a:latin typeface="Times New Roman" panose="02020603050405020304" pitchFamily="18" charset="0"/>
                <a:cs typeface="Times New Roman" panose="02020603050405020304" pitchFamily="18" charset="0"/>
              </a:rPr>
              <a:t>1. Consider a positive 3 </a:t>
            </a:r>
            <a:r>
              <a:rPr lang="en-US" dirty="0" err="1">
                <a:latin typeface="Times New Roman" panose="02020603050405020304" pitchFamily="18" charset="0"/>
                <a:cs typeface="Times New Roman" panose="02020603050405020304" pitchFamily="18" charset="0"/>
              </a:rPr>
              <a:t>nC</a:t>
            </a:r>
            <a:r>
              <a:rPr lang="en-US" dirty="0">
                <a:latin typeface="Times New Roman" panose="02020603050405020304" pitchFamily="18" charset="0"/>
                <a:cs typeface="Times New Roman" panose="02020603050405020304" pitchFamily="18" charset="0"/>
              </a:rPr>
              <a:t> charge and a negative –2 µC charge sitting on the x axis as shown in the figure. Let's find the force on both charges, by allowing each one to be the target in turn. </a:t>
            </a:r>
          </a:p>
        </p:txBody>
      </p:sp>
      <p:pic>
        <p:nvPicPr>
          <p:cNvPr id="5" name="Picture 4">
            <a:extLst>
              <a:ext uri="{FF2B5EF4-FFF2-40B4-BE49-F238E27FC236}">
                <a16:creationId xmlns:a16="http://schemas.microsoft.com/office/drawing/2014/main" id="{461CB894-EFCB-430D-982C-168D33E3D255}"/>
              </a:ext>
            </a:extLst>
          </p:cNvPr>
          <p:cNvPicPr>
            <a:picLocks noChangeAspect="1"/>
          </p:cNvPicPr>
          <p:nvPr/>
        </p:nvPicPr>
        <p:blipFill>
          <a:blip r:embed="rId2"/>
          <a:stretch>
            <a:fillRect/>
          </a:stretch>
        </p:blipFill>
        <p:spPr>
          <a:xfrm>
            <a:off x="4967514" y="1926720"/>
            <a:ext cx="6600371" cy="954108"/>
          </a:xfrm>
          <a:prstGeom prst="rect">
            <a:avLst/>
          </a:prstGeom>
        </p:spPr>
      </p:pic>
      <p:sp>
        <p:nvSpPr>
          <p:cNvPr id="6" name="TextBox 5">
            <a:extLst>
              <a:ext uri="{FF2B5EF4-FFF2-40B4-BE49-F238E27FC236}">
                <a16:creationId xmlns:a16="http://schemas.microsoft.com/office/drawing/2014/main" id="{EA410E02-7601-96DD-40FE-2CACE37908B5}"/>
              </a:ext>
            </a:extLst>
          </p:cNvPr>
          <p:cNvSpPr txBox="1"/>
          <p:nvPr/>
        </p:nvSpPr>
        <p:spPr>
          <a:xfrm>
            <a:off x="177801" y="3023066"/>
            <a:ext cx="11934370" cy="954107"/>
          </a:xfrm>
          <a:prstGeom prst="rect">
            <a:avLst/>
          </a:prstGeom>
          <a:noFill/>
        </p:spPr>
        <p:txBody>
          <a:bodyPr wrap="square">
            <a:spAutoFit/>
          </a:bodyPr>
          <a:lstStyle/>
          <a:p>
            <a:pPr marL="0" indent="0" algn="just">
              <a:buNone/>
            </a:pPr>
            <a:r>
              <a:rPr lang="en-US" sz="2800" dirty="0">
                <a:latin typeface="Times New Roman" panose="02020603050405020304" pitchFamily="18" charset="0"/>
                <a:cs typeface="Times New Roman" panose="02020603050405020304" pitchFamily="18" charset="0"/>
              </a:rPr>
              <a:t>2. Two charges 1 C and – 3 C are kept at a distance of 3 m. Find the force of attraction between them.</a:t>
            </a:r>
          </a:p>
        </p:txBody>
      </p:sp>
      <p:sp>
        <p:nvSpPr>
          <p:cNvPr id="8" name="TextBox 7">
            <a:extLst>
              <a:ext uri="{FF2B5EF4-FFF2-40B4-BE49-F238E27FC236}">
                <a16:creationId xmlns:a16="http://schemas.microsoft.com/office/drawing/2014/main" id="{E4E1BB6F-9CD5-0623-9A55-D3D2314083EE}"/>
              </a:ext>
            </a:extLst>
          </p:cNvPr>
          <p:cNvSpPr txBox="1"/>
          <p:nvPr/>
        </p:nvSpPr>
        <p:spPr>
          <a:xfrm>
            <a:off x="177801" y="4119411"/>
            <a:ext cx="11934370" cy="954107"/>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3. Determine the electrical force of attraction between two balloons with separate charges of +3.5 x 10</a:t>
            </a:r>
            <a:r>
              <a:rPr lang="en-US" sz="2800" baseline="30000" dirty="0">
                <a:latin typeface="Times New Roman" panose="02020603050405020304" pitchFamily="18" charset="0"/>
                <a:cs typeface="Times New Roman" panose="02020603050405020304" pitchFamily="18" charset="0"/>
              </a:rPr>
              <a:t>-8</a:t>
            </a:r>
            <a:r>
              <a:rPr lang="en-US" sz="2800" dirty="0">
                <a:latin typeface="Times New Roman" panose="02020603050405020304" pitchFamily="18" charset="0"/>
                <a:cs typeface="Times New Roman" panose="02020603050405020304" pitchFamily="18" charset="0"/>
              </a:rPr>
              <a:t> C and -2.9 x 10</a:t>
            </a:r>
            <a:r>
              <a:rPr lang="en-US" sz="2800" baseline="30000" dirty="0">
                <a:latin typeface="Times New Roman" panose="02020603050405020304" pitchFamily="18" charset="0"/>
                <a:cs typeface="Times New Roman" panose="02020603050405020304" pitchFamily="18" charset="0"/>
              </a:rPr>
              <a:t>-8</a:t>
            </a:r>
            <a:r>
              <a:rPr lang="en-US" sz="2800" dirty="0">
                <a:latin typeface="Times New Roman" panose="02020603050405020304" pitchFamily="18" charset="0"/>
                <a:cs typeface="Times New Roman" panose="02020603050405020304" pitchFamily="18" charset="0"/>
              </a:rPr>
              <a:t> C when separated a distance of 0.65 m.</a:t>
            </a:r>
          </a:p>
        </p:txBody>
      </p:sp>
      <p:sp>
        <p:nvSpPr>
          <p:cNvPr id="10" name="TextBox 9">
            <a:extLst>
              <a:ext uri="{FF2B5EF4-FFF2-40B4-BE49-F238E27FC236}">
                <a16:creationId xmlns:a16="http://schemas.microsoft.com/office/drawing/2014/main" id="{E7597AFA-18C8-CD13-4C0B-45ED9BF38021}"/>
              </a:ext>
            </a:extLst>
          </p:cNvPr>
          <p:cNvSpPr txBox="1"/>
          <p:nvPr/>
        </p:nvSpPr>
        <p:spPr>
          <a:xfrm>
            <a:off x="39915" y="5073518"/>
            <a:ext cx="12112170" cy="1815882"/>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4. Calculate the electrostatic force and gravitational force between the proton and the electron in a hydrogen atom. They are separated by a distance of 5.3 × 10</a:t>
            </a:r>
            <a:r>
              <a:rPr lang="en-US" sz="2800" baseline="30000" dirty="0">
                <a:latin typeface="Times New Roman" panose="02020603050405020304" pitchFamily="18" charset="0"/>
                <a:cs typeface="Times New Roman" panose="02020603050405020304" pitchFamily="18" charset="0"/>
              </a:rPr>
              <a:t>-11</a:t>
            </a:r>
            <a:r>
              <a:rPr lang="en-US" sz="2800" dirty="0">
                <a:latin typeface="Times New Roman" panose="02020603050405020304" pitchFamily="18" charset="0"/>
                <a:cs typeface="Times New Roman" panose="02020603050405020304" pitchFamily="18" charset="0"/>
              </a:rPr>
              <a:t> m. The magnitude of charges on the electron and proton are 1.6 × 10</a:t>
            </a:r>
            <a:r>
              <a:rPr lang="en-US" sz="2800" baseline="30000" dirty="0">
                <a:latin typeface="Times New Roman" panose="02020603050405020304" pitchFamily="18" charset="0"/>
                <a:cs typeface="Times New Roman" panose="02020603050405020304" pitchFamily="18" charset="0"/>
              </a:rPr>
              <a:t>-19</a:t>
            </a:r>
            <a:r>
              <a:rPr lang="en-US" sz="2800" dirty="0">
                <a:latin typeface="Times New Roman" panose="02020603050405020304" pitchFamily="18" charset="0"/>
                <a:cs typeface="Times New Roman" panose="02020603050405020304" pitchFamily="18" charset="0"/>
              </a:rPr>
              <a:t> C. Mass of the electron is m</a:t>
            </a:r>
            <a:r>
              <a:rPr lang="en-US" sz="2800" baseline="-25000" dirty="0">
                <a:latin typeface="Times New Roman" panose="02020603050405020304" pitchFamily="18" charset="0"/>
                <a:cs typeface="Times New Roman" panose="02020603050405020304" pitchFamily="18" charset="0"/>
              </a:rPr>
              <a:t>e</a:t>
            </a:r>
            <a:r>
              <a:rPr lang="en-US" sz="2800" dirty="0">
                <a:latin typeface="Times New Roman" panose="02020603050405020304" pitchFamily="18" charset="0"/>
                <a:cs typeface="Times New Roman" panose="02020603050405020304" pitchFamily="18" charset="0"/>
              </a:rPr>
              <a:t> = 9.1 × 10</a:t>
            </a:r>
            <a:r>
              <a:rPr lang="en-US" sz="2800" baseline="30000" dirty="0">
                <a:latin typeface="Times New Roman" panose="02020603050405020304" pitchFamily="18" charset="0"/>
                <a:cs typeface="Times New Roman" panose="02020603050405020304" pitchFamily="18" charset="0"/>
              </a:rPr>
              <a:t>-31</a:t>
            </a:r>
            <a:r>
              <a:rPr lang="en-US" sz="2800" dirty="0">
                <a:latin typeface="Times New Roman" panose="02020603050405020304" pitchFamily="18" charset="0"/>
                <a:cs typeface="Times New Roman" panose="02020603050405020304" pitchFamily="18" charset="0"/>
              </a:rPr>
              <a:t> kg and mass of proton is </a:t>
            </a:r>
            <a:r>
              <a:rPr lang="en-US" sz="2800" dirty="0" err="1">
                <a:latin typeface="Times New Roman" panose="02020603050405020304" pitchFamily="18" charset="0"/>
                <a:cs typeface="Times New Roman" panose="02020603050405020304" pitchFamily="18" charset="0"/>
              </a:rPr>
              <a:t>m</a:t>
            </a:r>
            <a:r>
              <a:rPr lang="en-US" sz="2800" baseline="-25000" dirty="0" err="1">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 = 1.6 × 10</a:t>
            </a:r>
            <a:r>
              <a:rPr lang="en-US" sz="2800" baseline="30000" dirty="0">
                <a:latin typeface="Times New Roman" panose="02020603050405020304" pitchFamily="18" charset="0"/>
                <a:cs typeface="Times New Roman" panose="02020603050405020304" pitchFamily="18" charset="0"/>
              </a:rPr>
              <a:t>-27</a:t>
            </a:r>
            <a:r>
              <a:rPr lang="en-US" sz="2800" dirty="0">
                <a:latin typeface="Times New Roman" panose="02020603050405020304" pitchFamily="18" charset="0"/>
                <a:cs typeface="Times New Roman" panose="02020603050405020304" pitchFamily="18" charset="0"/>
              </a:rPr>
              <a:t> kg.</a:t>
            </a:r>
          </a:p>
        </p:txBody>
      </p:sp>
    </p:spTree>
    <p:extLst>
      <p:ext uri="{BB962C8B-B14F-4D97-AF65-F5344CB8AC3E}">
        <p14:creationId xmlns:p14="http://schemas.microsoft.com/office/powerpoint/2010/main" val="5669346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DAF0A5-7B65-4E52-A26E-5DF6C6CF5ACE}"/>
              </a:ext>
            </a:extLst>
          </p:cNvPr>
          <p:cNvSpPr>
            <a:spLocks noGrp="1"/>
          </p:cNvSpPr>
          <p:nvPr>
            <p:ph idx="1"/>
          </p:nvPr>
        </p:nvSpPr>
        <p:spPr/>
        <p:txBody>
          <a:bodyPr/>
          <a:lstStyle/>
          <a:p>
            <a:r>
              <a:rPr lang="en-US" dirty="0"/>
              <a:t> +Q1 = 10 </a:t>
            </a:r>
            <a:r>
              <a:rPr lang="en-US" dirty="0" err="1"/>
              <a:t>μC</a:t>
            </a:r>
            <a:r>
              <a:rPr lang="en-US" dirty="0"/>
              <a:t>, +Q2 = 50 </a:t>
            </a:r>
            <a:r>
              <a:rPr lang="en-US" dirty="0" err="1"/>
              <a:t>μC</a:t>
            </a:r>
            <a:r>
              <a:rPr lang="en-US" dirty="0"/>
              <a:t> and Q3 are separated as shown in the figure below. What is the electrostatic charge on particle 3 if the net electrostatic force on particle 2 is zero.</a:t>
            </a:r>
          </a:p>
        </p:txBody>
      </p:sp>
      <p:sp>
        <p:nvSpPr>
          <p:cNvPr id="4" name="Title 1">
            <a:extLst>
              <a:ext uri="{FF2B5EF4-FFF2-40B4-BE49-F238E27FC236}">
                <a16:creationId xmlns:a16="http://schemas.microsoft.com/office/drawing/2014/main" id="{496C23C8-B565-4C8C-8A9F-201DF655AC08}"/>
              </a:ext>
            </a:extLst>
          </p:cNvPr>
          <p:cNvSpPr>
            <a:spLocks noGrp="1"/>
          </p:cNvSpPr>
          <p:nvPr>
            <p:ph type="title"/>
          </p:nvPr>
        </p:nvSpPr>
        <p:spPr>
          <a:xfrm>
            <a:off x="1981200" y="274638"/>
            <a:ext cx="8229600" cy="1143000"/>
          </a:xfrm>
        </p:spPr>
        <p:txBody>
          <a:bodyPr/>
          <a:lstStyle/>
          <a:p>
            <a:r>
              <a:rPr lang="en-US" dirty="0"/>
              <a:t>Exercise 9</a:t>
            </a:r>
          </a:p>
        </p:txBody>
      </p:sp>
      <p:pic>
        <p:nvPicPr>
          <p:cNvPr id="5" name="Picture 4">
            <a:extLst>
              <a:ext uri="{FF2B5EF4-FFF2-40B4-BE49-F238E27FC236}">
                <a16:creationId xmlns:a16="http://schemas.microsoft.com/office/drawing/2014/main" id="{E26AF8FB-FEDC-4308-A22D-B1BC66C0369C}"/>
              </a:ext>
            </a:extLst>
          </p:cNvPr>
          <p:cNvPicPr>
            <a:picLocks noChangeAspect="1"/>
          </p:cNvPicPr>
          <p:nvPr/>
        </p:nvPicPr>
        <p:blipFill>
          <a:blip r:embed="rId2"/>
          <a:stretch>
            <a:fillRect/>
          </a:stretch>
        </p:blipFill>
        <p:spPr>
          <a:xfrm>
            <a:off x="2782957" y="3702456"/>
            <a:ext cx="5777947" cy="1965449"/>
          </a:xfrm>
          <a:prstGeom prst="rect">
            <a:avLst/>
          </a:prstGeom>
        </p:spPr>
      </p:pic>
    </p:spTree>
    <p:extLst>
      <p:ext uri="{BB962C8B-B14F-4D97-AF65-F5344CB8AC3E}">
        <p14:creationId xmlns:p14="http://schemas.microsoft.com/office/powerpoint/2010/main" val="1239723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3826</Words>
  <Application>Microsoft Office PowerPoint</Application>
  <PresentationFormat>Widescreen</PresentationFormat>
  <Paragraphs>286</Paragraphs>
  <Slides>56</Slides>
  <Notes>1</Notes>
  <HiddenSlides>0</HiddenSlides>
  <MMClips>0</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2</vt:i4>
      </vt:variant>
      <vt:variant>
        <vt:lpstr>Slide Titles</vt:lpstr>
      </vt:variant>
      <vt:variant>
        <vt:i4>56</vt:i4>
      </vt:variant>
    </vt:vector>
  </HeadingPairs>
  <TitlesOfParts>
    <vt:vector size="76" baseType="lpstr">
      <vt:lpstr>MS PGothic</vt:lpstr>
      <vt:lpstr>MS PGothic</vt:lpstr>
      <vt:lpstr>Algerian</vt:lpstr>
      <vt:lpstr>Arial</vt:lpstr>
      <vt:lpstr>Calibri</vt:lpstr>
      <vt:lpstr>Calibri Light</vt:lpstr>
      <vt:lpstr>CoreTTI2k</vt:lpstr>
      <vt:lpstr>DejaVu Sans</vt:lpstr>
      <vt:lpstr>Symbol</vt:lpstr>
      <vt:lpstr>Times New Roman</vt:lpstr>
      <vt:lpstr>TimesTen-Bold</vt:lpstr>
      <vt:lpstr>TimesTen-Italic</vt:lpstr>
      <vt:lpstr>TimesTen-Roman</vt:lpstr>
      <vt:lpstr>Wingdings</vt:lpstr>
      <vt:lpstr>Office Theme</vt:lpstr>
      <vt:lpstr>1_Office Theme</vt:lpstr>
      <vt:lpstr>2_Office Theme</vt:lpstr>
      <vt:lpstr>3_Office Theme</vt:lpstr>
      <vt:lpstr>Equation</vt:lpstr>
      <vt:lpstr>Bitmap Image</vt:lpstr>
      <vt:lpstr>PowerPoint Presentation</vt:lpstr>
      <vt:lpstr>Lecture Overview</vt:lpstr>
      <vt:lpstr>PowerPoint Presentation</vt:lpstr>
      <vt:lpstr>PowerPoint Presentation</vt:lpstr>
      <vt:lpstr>Electric Charge</vt:lpstr>
      <vt:lpstr>PowerPoint Presentation</vt:lpstr>
      <vt:lpstr>PowerPoint Presentation</vt:lpstr>
      <vt:lpstr>PowerPoint Presentation</vt:lpstr>
      <vt:lpstr>PowerPoint Presentation</vt:lpstr>
      <vt:lpstr>Conductors and Insulators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Properties of Electric Charges</vt:lpstr>
      <vt:lpstr> Conservation of Charges </vt:lpstr>
      <vt:lpstr>PowerPoint Presentation</vt:lpstr>
      <vt:lpstr>Quantization of charge</vt:lpstr>
      <vt:lpstr>GROUND.</vt:lpstr>
      <vt:lpstr>The gold leaf electroscope</vt:lpstr>
      <vt:lpstr>The gold leaf electroscope</vt:lpstr>
      <vt:lpstr>The gold leaf electroscope</vt:lpstr>
      <vt:lpstr>Photocopy Machines and Computer Printers Use Electrostatics</vt:lpstr>
      <vt:lpstr>Photocopy Machines and Computer Printers Use Electrostatics</vt:lpstr>
      <vt:lpstr>PowerPoint Presentation</vt:lpstr>
      <vt:lpstr>Electric force/coulomb’s law </vt:lpstr>
      <vt:lpstr>Electric Force</vt:lpstr>
      <vt:lpstr>Electric Force</vt:lpstr>
      <vt:lpstr>Coulomb’s law.</vt:lpstr>
      <vt:lpstr>PowerPoint Presentation</vt:lpstr>
      <vt:lpstr>Coulomb’s law.</vt:lpstr>
      <vt:lpstr>Vector form of Coulomb’s law</vt:lpstr>
      <vt:lpstr>PowerPoint Presentation</vt:lpstr>
      <vt:lpstr>Limitations of Coulomb’s law </vt:lpstr>
      <vt:lpstr>Conclusion from Coulomb’s law</vt:lpstr>
      <vt:lpstr>Principle of superposition of charges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3 </vt:lpstr>
      <vt:lpstr>Example 4 </vt:lpstr>
      <vt:lpstr>Solution 4</vt:lpstr>
      <vt:lpstr>Example 5</vt:lpstr>
      <vt:lpstr>Solution 5</vt:lpstr>
      <vt:lpstr>Example 7</vt:lpstr>
      <vt:lpstr>Solution 7</vt:lpstr>
      <vt:lpstr>PowerPoint Presentation</vt:lpstr>
      <vt:lpstr>Exercises</vt:lpstr>
      <vt:lpstr>Exercise 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Rilwan Balogun</cp:lastModifiedBy>
  <cp:revision>54</cp:revision>
  <dcterms:created xsi:type="dcterms:W3CDTF">2024-03-11T11:31:00Z</dcterms:created>
  <dcterms:modified xsi:type="dcterms:W3CDTF">2025-03-11T10:52:09Z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872CAC0650E54EDC86F3BD6D9EA46887_11</vt:lpwstr>
  </property>
  <property fmtid="{D5CDD505-2E9C-101B-9397-08002B2CF9AE}" pid="3" name="KSOProductBuildVer">
    <vt:lpwstr>1033-12.2.0.19805</vt:lpwstr>
  </property>
</Properties>
</file>